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media/map_1.svg" ContentType="image/svg+xml"/>
  <Override PartName="/ppt/media/map_2.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300" b="1">
                <a:latin typeface="Calibri"/>
              </a:rPr>
              <a:t>Beschädigte Gebäude im Gazastreifen (gesamt 192.812, ca. 78 %)</a:t>
            </a:r>
          </a:p>
        </c:rich>
      </c:tx>
      <c:layout/>
      <c:overlay val="0"/>
    </c:title>
    <c:autoTitleDeleted val="0"/>
    <c:plotArea>
      <c:barChart>
        <c:barDir val="bar"/>
        <c:grouping val="clustered"/>
        <c:ser>
          <c:idx val="0"/>
          <c:order val="0"/>
          <c:tx>
            <c:strRef>
              <c:f>Sheet1!$B$1</c:f>
              <c:strCache>
                <c:ptCount val="1"/>
                <c:pt idx="0">
                  <c:v>Gebäude</c:v>
                </c:pt>
              </c:strCache>
            </c:strRef>
          </c:tx>
          <c:spPr>
            <a:solidFill>
              <a:srgbClr val="2E75B6"/>
            </a:solidFill>
          </c:spPr>
          <c:cat>
            <c:strRef>
              <c:f>Sheet1!$A$2:$A$5</c:f>
              <c:strCache>
                <c:ptCount val="4"/>
                <c:pt idx="0">
                  <c:v>Zerstört</c:v>
                </c:pt>
                <c:pt idx="1">
                  <c:v>Schwer beschädigt</c:v>
                </c:pt>
                <c:pt idx="2">
                  <c:v>Mäßig beschädigt</c:v>
                </c:pt>
                <c:pt idx="3">
                  <c:v>Mögliche Schäden</c:v>
                </c:pt>
              </c:strCache>
            </c:strRef>
          </c:cat>
          <c:val>
            <c:numRef>
              <c:f>Sheet1!$B$2:$B$5</c:f>
              <c:numCache>
                <c:formatCode>General</c:formatCode>
                <c:ptCount val="4"/>
                <c:pt idx="0">
                  <c:v>102067</c:v>
                </c:pt>
                <c:pt idx="1">
                  <c:v>17421</c:v>
                </c:pt>
                <c:pt idx="2">
                  <c:v>41895</c:v>
                </c:pt>
                <c:pt idx="3">
                  <c:v>31429</c:v>
                </c:pt>
              </c:numCache>
            </c:numRef>
          </c:val>
        </c:ser>
        <c:dLbls>
          <c:numFmt formatCode="#,##0" sourceLinked="0"/>
          <c:txPr>
            <a:bodyPr/>
            <a:lstStyle/>
            <a:p>
              <a:pPr>
                <a:defRPr sz="12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axMin"/>
        </c:scaling>
        <c:delete val="0"/>
        <c:axPos val="l"/>
        <c:majorTickMark val="out"/>
        <c:minorTickMark val="none"/>
        <c:tickLblPos val="nextTo"/>
        <c:spPr>
          <a:ln>
            <a:solidFill>
              <a:srgbClr val="BFBFBF"/>
            </a:solidFill>
          </a:ln>
        </c:spPr>
        <c:txPr>
          <a:bodyPr/>
          <a:lstStyle/>
          <a:p>
            <a:pPr>
              <a:defRPr sz="1200"/>
            </a:pPr>
          </a:p>
        </c:txPr>
        <c:crossAx val="-2113994440"/>
        <c:crosses val="autoZero"/>
        <c:auto val="1"/>
        <c:lblAlgn val="ctr"/>
        <c:lblOffset val="100"/>
        <c:noMultiLvlLbl val="0"/>
      </c:catAx>
      <c:valAx>
        <c:axId val="-2113994440"/>
        <c:scaling>
          <c:max val="125000.0"/>
        </c:scaling>
        <c:delete/>
        <c:axPos val="b"/>
        <c:majorTickMark val="out"/>
        <c:minorTickMark val="none"/>
        <c:tickLblPos val="nextTo"/>
        <c:crossAx val="-2068027336"/>
        <c:crosses val="autoZero"/>
      </c:valAx>
    </c:plotArea>
    <c:dispBlanksAs val="gap"/>
  </c:chart>
  <c:txPr>
    <a:bodyPr/>
    <a:lstStyle/>
    <a:p>
      <a:pPr>
        <a:defRPr sz="1200">
          <a:latin typeface="Calibr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Sprecher: [Name 1]</a:t>
            </a:r>
          </a:p>
          <a:p/>
          <a:p>
            <a:r>
              <a:t>Hallo zusammen. Wir stellen euch heute den Krieg im Gazastreifen vor und analysieren ihn mit dem AKUF-Schema. AKUF ist die Arbeitsgemeinschaft Kriegsursachenforschung an der Uni Hamburg. Das Schema fragt: Wie ist der Krieg entstanden, wer hat welche Interessen, welche Mittel haben die Parteien und wie könnte eine Lösung aussehen?</a:t>
            </a:r>
          </a:p>
          <a:p/>
          <a:p>
            <a:r>
              <a:t>Wir haben den Vortrag in drei Teile aufgeteilt. Ich fange mit der Lage, den wichtigsten Begriffen und der Geschichte an. [Name 2] erklärt danach die Interessen, die rechtliche Lage und das Ausmaß der Zerstörung und ordnet den Krieg nach AKUF ein. [Name 3] schaut sich zum Schluss den UN-Sicherheitsrat an und wir ziehen ein eigenes Fazit.</a:t>
            </a:r>
          </a:p>
          <a:p/>
          <a:p>
            <a:r>
              <a:t>Uns war wichtig, zwischen der Zivilbevölkerung, bewaffneten Gruppen und Regierungen zu unterscheiden. Unsere Leitfrage ist: Was braucht ein Frieden, der die Menschen auf beiden Seiten dauerhaft schützt?</a:t>
            </a:r>
          </a:p>
          <a:p/>
          <a:p>
            <a:r>
              <a:t>Quellen:</a:t>
            </a:r>
          </a:p>
          <a:p>
            <a:r>
              <a:t>AKUF, Kriegsdefinition und Kriegstypologie: https://www.wiso.uni-hamburg.de/fachbereich-sowi/ueber-den-fachbereich/fachgebiete/akuf/kriegsdefinition.html (abgerufen am 14.10.2026)</a:t>
            </a:r>
          </a:p>
          <a:p>
            <a:r>
              <a:t>SWP, Krieg in Nahost: https://www.swp-berlin.org/fokusthema/krieg-in-nahost (abgerufen am 14.10.2026)</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Sprecher: [Name 1]</a:t>
            </a:r>
          </a:p>
          <a:p/>
          <a:p>
            <a:r>
              <a:t>Zuerst kurz zur Lage. Der Gazastreifen liegt am Mittelmeer. Im Norden und Osten grenzt er an Israel, im Süden an Ägypten. Auf der Karte seht ihr die drei größten Städte: Gaza-Stadt im Norden, Khan Yunis und Rafah im Süden.</a:t>
            </a:r>
          </a:p>
          <a:p/>
          <a:p>
            <a:r>
              <a:t>Das Gebiet ist nur 365 Quadratkilometer groß, aber laut OCHA lebten dort im Juli 2024 ungefähr 2,1 Millionen Menschen. Wenn man das umrechnet, sind das rund 5.750 Menschen pro Quadratkilometer. In Wirklichkeit ist die Verteilung sehr ungleich, vor allem weil viele Menschen im Krieg mehrfach fliehen mussten.</a:t>
            </a:r>
          </a:p>
          <a:p/>
          <a:p>
            <a:r>
              <a:t>Die Karte haben wir selbst aus Geodaten erstellt. Sie zeigt nur die Grenzen und Städte, also keine aktuellen Frontlinien oder Kontrollzonen.</a:t>
            </a:r>
          </a:p>
          <a:p/>
          <a:p>
            <a:r>
              <a:t>Die wichtigsten bewaffneten Konfliktparteien sind auf der einen Seite Israel mit seiner Armee, den IDF, und auf der anderen Seite die Hamas und der Palästinensische Islamische Dschihad. Wichtig: Die palästinensische Bevölkerung ist nicht dasselbe wie die Hamas. Im Kern geht es um Sicherheit, um Land und um das Recht der Palästinenser auf einen eigenen Staat.</a:t>
            </a:r>
          </a:p>
          <a:p/>
          <a:p>
            <a:r>
              <a:t>Quellen:</a:t>
            </a:r>
          </a:p>
          <a:p>
            <a:r>
              <a:t>OCHA, Gaza Strip access and movement (Juli 2024): https://www.ochaopt.org/content/gaza-strip-access-and-movement-july-2024 (abgerufen am 14.10.2026)</a:t>
            </a:r>
          </a:p>
          <a:p>
            <a:r>
              <a:t>bpb, Der Gazastreifen im Nahostkonflikt (15.03.2024): https://www.bpb.de/shop/zeitschriften/apuz/naher-osten-2024/546377/der-gazastreifen-im-nahostkonflikt/ (abgerufen am 14.10.2026)</a:t>
            </a:r>
          </a:p>
          <a:p>
            <a:r>
              <a:t>Karte: eigene Darstellung. Grenzen: ArcGIS GAZA_E, Layer 34 (OCHA-Gouvernements). Orte: OpenStreetMap über ArcGIS GAZA_E, Layer 32. https://services3.arcgis.com/tuNLpt6Wfhd22qmO/ArcGIS/rest/services/GAZA_E/FeatureServer/34 und .../FeatureServer/32 (abgerufen am 15.10.2026)</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Sprecher: [Name 1]</a:t>
            </a:r>
          </a:p>
          <a:p/>
          <a:p>
            <a:r>
              <a:t>Bevor wir in die Geschichte einsteigen, ein paar Begriffe, die wir im Vortrag immer wieder brauchen.</a:t>
            </a:r>
          </a:p>
          <a:p/>
          <a:p>
            <a:r>
              <a:t>Ein asymmetrischer Konflikt heißt, dass die Gegner sehr unterschiedlich stark sind. Auf der einen Seite steht eine reguläre Armee, auf der anderen bewaffnete Gruppen. Das sagt aber noch nichts darüber aus, wer sich an Regeln hält.</a:t>
            </a:r>
          </a:p>
          <a:p/>
          <a:p>
            <a:r>
              <a:t>Das humanitäre Völkerrecht, also zum Beispiel die Genfer Konventionen, gilt für alle Seiten. Es schützt Menschen, die nicht kämpfen, und verbietet zum Beispiel Geiselnahmen.</a:t>
            </a:r>
          </a:p>
          <a:p/>
          <a:p>
            <a:r>
              <a:t>Der UN-Sicherheitsrat hat 15 Mitglieder, davon fünf ständige mit Vetorecht: USA, Russland, China, Frankreich und Großbritannien. Eine Resolution braucht neun Stimmen und darf von keiner Vetomacht abgelehnt werden. Eine Enthaltung zählt nicht als Veto. Das steht übrigens in Artikel 27 der UN-Charta, nicht in Kapitel VII. Kapitel VII regelt, was der Rat bei einer Bedrohung des Friedens machen darf.</a:t>
            </a:r>
          </a:p>
          <a:p/>
          <a:p>
            <a:r>
              <a:t>Die Zwei-Staaten-Lösung bedeutet: Israel und ein eigener palästinensischer Staat nebeneinander. Und mit Blockade meint man die starke Einschränkung davon, was und wer nach Gaza rein- und rauskommt.</a:t>
            </a:r>
          </a:p>
          <a:p/>
          <a:p>
            <a:r>
              <a:t>Quellen:</a:t>
            </a:r>
          </a:p>
          <a:p>
            <a:r>
              <a:t>UN-Charta, Artikel 27 und 51: https://www.un.org/en/about-us/un-charter/full-text (abgerufen am 14.10.2026)</a:t>
            </a:r>
          </a:p>
          <a:p>
            <a:r>
              <a:t>IKRK, Erklärung zu Gaza und Israel (09.03.2024): https://www.icrc.org/en/document/statement-gaza-and-israel-president-icrc (abgerufen am 14.10.2026)</a:t>
            </a:r>
          </a:p>
          <a:p>
            <a:r>
              <a:t>bpb, Der Gazastreifen im Nahostkonflikt: https://www.bpb.de/shop/zeitschriften/apuz/naher-osten-2024/546377/der-gazastreifen-im-nahostkonflikt/ (abgerufen am 14.10.2026)</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Sprecher: [Name 1]</a:t>
            </a:r>
          </a:p>
          <a:p/>
          <a:p>
            <a:r>
              <a:t>Jetzt zur Geschichte. Wir haben uns auf fünf Einschnitte beschränkt.</a:t>
            </a:r>
          </a:p>
          <a:p/>
          <a:p>
            <a:r>
              <a:t>1948 wurde Israel gegründet. Im Krieg direkt danach flohen Hunderttausende Palästinenser oder wurden vertrieben. Dafür steht das Wort Nakba, das heißt Katastrophe. Gaza kam danach erst mal unter ägyptische Verwaltung.</a:t>
            </a:r>
          </a:p>
          <a:p/>
          <a:p>
            <a:r>
              <a:t>1967, im Sechstagekrieg, besetzte Israel den Gazastreifen, das Westjordanland und weitere Gebiete.</a:t>
            </a:r>
          </a:p>
          <a:p/>
          <a:p>
            <a:r>
              <a:t>2005 zog Israel seine Soldaten aus Gaza ab und räumte die Siedlungen. Ein eigener Staat wurde daraus aber nicht.</a:t>
            </a:r>
          </a:p>
          <a:p/>
          <a:p>
            <a:r>
              <a:t>2007 übernahm die Hamas nach Kämpfen mit der Fatah die Kontrolle in Gaza. Israel verschärfte daraufhin die Blockade, und auch Ägypten machte seine Grenze weitgehend dicht.</a:t>
            </a:r>
          </a:p>
          <a:p/>
          <a:p>
            <a:r>
              <a:t>Am 7. Oktober 2023 griffen die Hamas und andere Gruppen Israel an, töteten über tausend Menschen und verschleppten Geiseln. Danach begann Israel den Krieg in Gaza, der bis heute andauert.</a:t>
            </a:r>
          </a:p>
          <a:p/>
          <a:p>
            <a:r>
              <a:t>Die Geschichte erklärt, woher die Angst und das Misstrauen auf beiden Seiten kommen. Sie rechtfertigt aber keine Gewalt gegen Zivilisten, egal von wem.</a:t>
            </a:r>
          </a:p>
          <a:p/>
          <a:p>
            <a:r>
              <a:t>Damit gebe ich an [Name 2] weiter.</a:t>
            </a:r>
          </a:p>
          <a:p/>
          <a:p>
            <a:r>
              <a:t>Quellen:</a:t>
            </a:r>
          </a:p>
          <a:p>
            <a:r>
              <a:t>bpb, Geschichte des Nahostkonflikts: https://www.bpb.de/themen/naher-mittlerer-osten/israel/45042/geschichte-des-nahostkonflikts/ (abgerufen am 14.10.2026)</a:t>
            </a:r>
          </a:p>
          <a:p>
            <a:r>
              <a:t>bpb, Der Gazastreifen im Nahostkonflikt: https://www.bpb.de/shop/zeitschriften/apuz/naher-osten-2024/546377/der-gazastreifen-im-nahostkonflikt/ (abgerufen am 14.10.2026)</a:t>
            </a:r>
          </a:p>
          <a:p>
            <a:r>
              <a:t>IGH, Zusammenfassung des Gutachtens vom 19.07.2024: https://www.icj-cij.org/node/204176 (abgerufen am 14.10.2026)</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Sprecher: [Name 2]</a:t>
            </a:r>
          </a:p>
          <a:p/>
          <a:p>
            <a:r>
              <a:t>Danke. Ich fange mit den Interessen an. Man kann den Konflikt nicht einfach in zwei Lager aufteilen, deshalb haben wir drei Gruppen unterschieden.</a:t>
            </a:r>
          </a:p>
          <a:p/>
          <a:p>
            <a:r>
              <a:t>Die israelische Regierung begründet den Krieg mit der Sicherheit Israels. Sie will die Hamas militärisch ausschalten, damit sich ein Angriff wie am 7. Oktober nicht wiederholt. Innerhalb Israels gibt es aber Streit darüber, wie der Krieg geführt wird und wie es danach weitergehen soll. Für die Regierung spielt auch der eigene Machterhalt eine Rolle.</a:t>
            </a:r>
          </a:p>
          <a:p/>
          <a:p>
            <a:r>
              <a:t>Die palästinensische Bevölkerung will vor allem Schutz, Bewegungsfreiheit und ein Leben ohne Besatzung. Viele wollen einen eigenen Staat. Die Palästinensische Autonomiebehörde, kurz PA, regiert im Westjordanland und ist nicht dasselbe wie die Hamas.</a:t>
            </a:r>
          </a:p>
          <a:p/>
          <a:p>
            <a:r>
              <a:t>Die Hamas-Führung verbindet den bewaffneten Kampf gegen Israel mit dem Ziel, ihre eigene Herrschaft zu sichern. Sie will eine islamistische Ordnung. Auch viele Palästinenser kritisieren die Hamas.</a:t>
            </a:r>
          </a:p>
          <a:p/>
          <a:p>
            <a:r>
              <a:t>Man merkt: Sicherheit für Israelis und Selbstbestimmung für Palästinenser müssen zusammen gelöst werden, sonst funktioniert keine Lösung.</a:t>
            </a:r>
          </a:p>
          <a:p/>
          <a:p>
            <a:r>
              <a:t>Quellen:</a:t>
            </a:r>
          </a:p>
          <a:p>
            <a:r>
              <a:t>bpb, Der Gazastreifen im Nahostkonflikt: https://www.bpb.de/shop/zeitschriften/apuz/naher-osten-2024/546377/der-gazastreifen-im-nahostkonflikt/ (abgerufen am 14.10.2026)</a:t>
            </a:r>
          </a:p>
          <a:p>
            <a:r>
              <a:t>SWP, Krieg in Nahost: https://www.swp-berlin.org/fokusthema/krieg-in-nahost (abgerufen am 14.10.2026)</a:t>
            </a:r>
          </a:p>
          <a:p>
            <a:r>
              <a:t>SWP, Katars Außenpolitik (Studie 2022/S 12): https://www.swp-berlin.org/10.18449/2022S12/ (abgerufen am 14.10.2026)</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Sprecher: [Name 2]</a:t>
            </a:r>
          </a:p>
          <a:p/>
          <a:p>
            <a:r>
              <a:t>Bei der rechtlichen Lage muss man zwei Fragen trennen: Darf ein Staat überhaupt Gewalt anwenden, und welche Regeln gelten dann im Krieg?</a:t>
            </a:r>
          </a:p>
          <a:p/>
          <a:p>
            <a:r>
              <a:t>Israel beruft sich auf das Recht auf Selbstverteidigung aus Artikel 51 der UN-Charta. Ob das in einem besetzten Gebiet so gilt, ist unter Juristen umstritten. Unabhängig davon gelten im Krieg für alle die Regeln des humanitären Völkerrechts: Zivilisten schützen, zwischen militärischen und zivilen Zielen unterscheiden, keine unverhältnismäßigen Angriffe. Geiselnahmen sind verboten.</a:t>
            </a:r>
          </a:p>
          <a:p/>
          <a:p>
            <a:r>
              <a:t>Dann gibt es zwei Gerichte, die oft verwechselt werden. Der Internationale Gerichtshof, IGH, kümmert sich um Staaten. Im Verfahren Südafrika gegen Israel hat er 2024 vorläufige Maßnahmen angeordnet. Das ist noch kein Urteil über den Völkermordvorwurf. Der Internationale Strafgerichtshof, IStGH, verfolgt einzelne Personen. Er hat 2024 Haftbefehle gegen Netanjahu, Gallant und den Hamas-Kommandeur Deif erlassen. Ein Haftbefehl ist aber keine Verurteilung.</a:t>
            </a:r>
          </a:p>
          <a:p/>
          <a:p>
            <a:r>
              <a:t>Zu den Machtmitteln: Israel ist militärisch klar überlegen und bekommt vor allem von den USA Waffen und Geld. Die Hamas und der Islamische Dschihad setzen auf Raketen, Tunnel und Guerilla-Taktik. Der Iran unterstützt diese Gruppen. Katar hat Kontakte zur Hamas, hat Hilfsgelder nach Gaza geschickt und vermittelt bei Verhandlungen. Diese Rollen sind also sehr unterschiedlich.</a:t>
            </a:r>
          </a:p>
          <a:p/>
          <a:p>
            <a:r>
              <a:t>Quellen:</a:t>
            </a:r>
          </a:p>
          <a:p>
            <a:r>
              <a:t>UN-Charta, Artikel 51: https://www.un.org/en/about-us/un-charter/full-text (abgerufen am 14.10.2026)</a:t>
            </a:r>
          </a:p>
          <a:p>
            <a:r>
              <a:t>IKRK, Fragen und Antworten zu Israel und den besetzten Gebieten: https://www.icrc.org/en/document/FAQ-icrc-work-Israel-and-occupied-territories (abgerufen am 14.10.2026)</a:t>
            </a:r>
          </a:p>
          <a:p>
            <a:r>
              <a:t>IGH, Südafrika gegen Israel (Verfahren Nr. 192): https://www.icj-cij.org/case/192 (abgerufen am 14.10.2026)</a:t>
            </a:r>
          </a:p>
          <a:p>
            <a:r>
              <a:t>IStGH, Haftbefehle vom 21.11.2024: https://www.icc-cpi.int/news/situation-state-palestine-icc-pre-trial-chamber-i-rejects-state-israels-challenges (abgerufen am 14.10.2026)</a:t>
            </a:r>
          </a:p>
          <a:p>
            <a:r>
              <a:t>Congressional Research Service, US-Unterstützung für Israel (R48289): https://www.congress.gov/crs-products/product/pdf/R/R48289 (abgerufen am 14.10.2026)</a:t>
            </a:r>
          </a:p>
          <a:p>
            <a:r>
              <a:t>Congressional Research Service, Iran's Foreign and Defense Policies (R44017): https://www.congress.gov/crs_external_products/R/PDF/R44017/R44017.66.pdf (abgerufen am 14.10.2026)</a:t>
            </a:r>
          </a:p>
          <a:p>
            <a:r>
              <a:t>SWP, Katars Außenpolitik: https://www.swp-berlin.org/10.18449/2022S12/ (abgerufen am 14.10.2026)</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Sprecher: [Name 2]</a:t>
            </a:r>
          </a:p>
          <a:p/>
          <a:p>
            <a:r>
              <a:t>Kurz zum Verlauf: Nach dem Angriff vom 7. Oktober 2023 begann Israel mit Luftangriffen und dann mit der Bodenoffensive. Der Krieg weitete sich auf die Region aus, mit der Hisbollah im Libanon, den Huthi im Jemen und direkten Angriffen zwischen Israel und dem Iran. Seit Oktober 2025 gibt es eine Waffenruhe, die aber immer wieder gebrochen wird.</a:t>
            </a:r>
          </a:p>
          <a:p/>
          <a:p>
            <a:r>
              <a:t>Um das Ausmaß der Zerstörung zu zeigen, haben wir Daten von UNOSAT genommen, das ist das Satellitenprogramm der UN. Wir haben bewusst einen festen Stand gewählt, den 8. Juli 2025. Damals zählte UNOSAT 192.812 beschädigte oder zerstörte Gebäude. Das sind rund 78 Prozent aller Gebäude im Gazastreifen. Über 100.000 davon gelten als komplett zerstört.</a:t>
            </a:r>
          </a:p>
          <a:p/>
          <a:p>
            <a:r>
              <a:t>Die Karte zeigt, wie viele betroffene Gebäude es in jedem der fünf Gouvernements gibt. Das sind absolute Zahlen, also keine Prozentangaben. Am meisten betroffen sind Khan Yunis und Gaza.</a:t>
            </a:r>
          </a:p>
          <a:p/>
          <a:p>
            <a:r>
              <a:t>Man muss dazusagen: Die Auswertung ist vorläufig und wurde nicht vor Ort überprüft. Aus Satellitenbildern kann man außerdem keine Opferzahlen ablesen und nicht, wer für einzelne Zerstörungen verantwortlich ist.</a:t>
            </a:r>
          </a:p>
          <a:p/>
          <a:p>
            <a:r>
              <a:t>Quellen:</a:t>
            </a:r>
          </a:p>
          <a:p>
            <a:r>
              <a:t>UNOSAT, Gaza Strip Comprehensive Damage Assessment (Stand 08.07.2025, Version 1): https://unosat.org/products/4165 (abgerufen am 14.10.2026)</a:t>
            </a:r>
          </a:p>
          <a:p>
            <a:r>
              <a:t>UNOSAT, Originalkarte (PDF): https://unosat.org/static/unosat_filesystem/4165/OCHA-OPT-027_UNOSAT_A3_Gaza_Strip_OPT_CDA_08072025.pdf (abgerufen am 14.10.2026)</a:t>
            </a:r>
          </a:p>
          <a:p>
            <a:r>
              <a:t>SWP, Krieg in Nahost: https://www.swp-berlin.org/fokusthema/krieg-in-nahost (abgerufen am 14.10.2026)</a:t>
            </a:r>
          </a:p>
          <a:p>
            <a:r>
              <a:t>Reuters, Bericht vom 12.10.2026: https://www.reuters.com/world/middle-east/israeli-fire-kills-two-people-gaza-medics-say-2026-10-12/ (abgerufen am 14.10.2026)</a:t>
            </a:r>
          </a:p>
          <a:p>
            <a:r>
              <a:t>Karte: eigene Darstellung, Grenzen aus ArcGIS GAZA_E, Layer 34 (abgerufen am 15.10.2026)</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Sprecher: [Name 2]</a:t>
            </a:r>
          </a:p>
          <a:p/>
          <a:p>
            <a:r>
              <a:t>Jetzt zur Einordnung nach AKUF. AKUF unterscheidet fünf Kriegstypen: A ist der Antiregimekrieg, also ein Kampf um die Regierung eines Landes. B sind Autonomie- und Sezessionskriege, bei denen es um Unabhängigkeit oder mehr Selbstbestimmung geht. C ist der klassische Krieg zwischen Staaten. D sind Dekolonisationskriege und E alles, was sonst nicht passt.</a:t>
            </a:r>
          </a:p>
          <a:p/>
          <a:p>
            <a:r>
              <a:t>Wir finden, dass der Gazakrieg nicht sauber in einen Typ passt, und haben uns deshalb für einen Mischtyp entschieden. Typ A passt, weil es auch um das Ende oder den Erhalt der Hamas-Herrschaft geht. Typ B passt teilweise, weil die Palästinenser einen eigenen Staat wollen, auch wenn Gaza kein normaler Sezessionsfall ist. Und Typ C kommt dazu, sobald Israel und der Iran sich direkt angreifen.</a:t>
            </a:r>
          </a:p>
          <a:p/>
          <a:p>
            <a:r>
              <a:t>Schwierig ist, dass die Hamas in Gaza wie eine Regierung handelt, aber kein Staat ist. Außerdem ist Besatzung bei AKUF kein eigener Typ, sondern eher der rechtliche Rahmen.</a:t>
            </a:r>
          </a:p>
          <a:p/>
          <a:p>
            <a:r>
              <a:t>Noch ein Hinweis: AKUF zählt eine Fremdbeteiligung nur, wenn ausländische Truppen direkt mitkämpfen. Waffenlieferungen oder Geld reichen dafür nicht. Das ist unsere eigene Einordnung, keine offizielle AKUF-Bewertung.</a:t>
            </a:r>
          </a:p>
          <a:p/>
          <a:p>
            <a:r>
              <a:t>Jetzt übernimmt [Name 3].</a:t>
            </a:r>
          </a:p>
          <a:p/>
          <a:p>
            <a:r>
              <a:t>Quellen:</a:t>
            </a:r>
          </a:p>
          <a:p>
            <a:r>
              <a:t>AKUF, Kriegsdefinition und Kriegstypologie: https://www.wiso.uni-hamburg.de/fachbereich-sowi/ueber-den-fachbereich/fachgebiete/akuf/kriegsdefinition.html (abgerufen am 14.10.2026)</a:t>
            </a:r>
          </a:p>
          <a:p>
            <a:r>
              <a:t>IGH, Zusammenfassung des Gutachtens vom 19.07.2024: https://www.icj-cij.org/node/204176 (abgerufen am 14.10.2026)</a:t>
            </a:r>
          </a:p>
          <a:p>
            <a:r>
              <a:t>SWP, Krieg in Nahost: https://www.swp-berlin.org/fokusthema/krieg-in-nahost (abgerufen am 14.10.2026)</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Sprecher: [Name 3]</a:t>
            </a:r>
          </a:p>
          <a:p/>
          <a:p>
            <a:r>
              <a:t>Danke. Ich schaue mir an, was der UN-Sicherheitsrat gemacht hat. Der Rat kann eigentlich verbindliche Beschlüsse fassen, aber er hängt von den Interessen seiner Mitglieder ab. Das sieht man am Anfang des Krieges gut.</a:t>
            </a:r>
          </a:p>
          <a:p/>
          <a:p>
            <a:r>
              <a:t>Am 18. Oktober 2023 legten die USA ein Veto gegen einen Entwurf Brasiliens ein, der humanitäre Pausen forderte. Eine Woche später blockierten Russland und China einen Entwurf der USA. Beide Seiten stritten unter anderem darüber, ob Israels Selbstverteidigung erwähnt wird und ob man einen Waffenstillstand fordert.</a:t>
            </a:r>
          </a:p>
          <a:p/>
          <a:p>
            <a:r>
              <a:t>Erst am 25. März 2024 kam Resolution 2728 durch. Sie forderte eine sofortige Waffenruhe während des Ramadan und die Freilassung aller Geiseln. Die USA enthielten sich. Im Juni 2024 folgte Resolution 2735 mit einem Plan in drei Phasen: erst Waffenruhe und Austausch von Geiseln und Gefangenen, dann ein dauerhaftes Ende der Kämpfe, dann Wiederaufbau.</a:t>
            </a:r>
          </a:p>
          <a:p/>
          <a:p>
            <a:r>
              <a:t>Am 17. November 2025 beschloss der Rat Resolution 2803. Sie unterstützt den umfassenden Friedensplan, begrüßt den sogenannten Board of Peace als Übergangsverwaltung und erlaubt eine internationale Stabilisierungstruppe. Russland und China enthielten sich. Ein Beschluss heißt aber noch nicht, dass er auch umgesetzt wird.</a:t>
            </a:r>
          </a:p>
          <a:p/>
          <a:p>
            <a:r>
              <a:t>Vermittelt haben vor allem die USA, Ägypten und Katar. Vor Ort helfen UN-Organisationen wie UNRWA und OCHA, die aber keine Truppen des Sicherheitsrats sind.</a:t>
            </a:r>
          </a:p>
          <a:p/>
          <a:p>
            <a:r>
              <a:t>Quellen:</a:t>
            </a:r>
          </a:p>
          <a:p>
            <a:r>
              <a:t>UN, US-Veto vom 18.10.2023: https://www.un.org/unispal/document/security-council-fails-to-adopt-resolution-calling-for-humanitarian-pauses-in-israel-gaza-crisis-on-account-of-veto-by-united-states/ (abgerufen am 14.10.2026)</a:t>
            </a:r>
          </a:p>
          <a:p>
            <a:r>
              <a:t>UN, Vetos Russlands und Chinas vom 25.10.2023: https://www.un.org/unispal/document/security-council-fails-to-adopt-either-of-two-draft-resolutions-addressing-conflict-and-humanitarian-crisis-in-gaza-press-release/ (abgerufen am 14.10.2026)</a:t>
            </a:r>
          </a:p>
          <a:p>
            <a:r>
              <a:t>Resolution 2728 (2024): https://docs.un.org/S/RES/2728(2024) (abgerufen am 14.10.2026)</a:t>
            </a:r>
          </a:p>
          <a:p>
            <a:r>
              <a:t>Resolution 2735 (2024): https://docs.un.org/S/RES/2735(2024) (abgerufen am 14.10.2026)</a:t>
            </a:r>
          </a:p>
          <a:p>
            <a:r>
              <a:t>Resolution 2803 (2025): https://digitallibrary.un.org/record/4093207 (abgerufen am 14.10.2026)</a:t>
            </a:r>
          </a:p>
          <a:p>
            <a:r>
              <a:t>UN, Erläuterung zu Resolution 2803: https://palestine.un.org/en/305520-un-security-council-authorizes-temporary-international-force-gaza (abgerufen am 14.10.2026)</a:t>
            </a:r>
          </a:p>
          <a:p>
            <a:r>
              <a:t>UNRWA, What we do: https://www.unrwa.org/what-we-do (abgerufen am 14.10.2026)</a:t>
            </a:r>
          </a:p>
          <a:p>
            <a:r>
              <a:t>OCHA, Our work: https://www.ochaopt.org/about-us/our-work (abgerufen am 14.10.2026)</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Sprecher: [Name 3]</a:t>
            </a:r>
          </a:p>
          <a:p/>
          <a:p>
            <a:r>
              <a:t>Wie könnte es weitergehen? Wir haben vier Punkte zusammengestellt.</a:t>
            </a:r>
          </a:p>
          <a:p/>
          <a:p>
            <a:r>
              <a:t>Erstens: Verhandlungen kommen nur zustande, wenn beide Seiten etwas davon haben und die Kosten des Weiterkämpfens steigen. Der Austausch von Geiseln und Gefangenen war dafür der wichtigste Hebel. Laut dem Bericht des Board of Peace kam die letzte lebende Geisel im Oktober 2025 frei, die letzte tote Geisel wurde im Januar 2026 übergeben. Heute geht es vor allem um die Umsetzung der Vereinbarungen.</a:t>
            </a:r>
          </a:p>
          <a:p/>
          <a:p>
            <a:r>
              <a:t>Zweitens müssen Vereinbarungen überprüfbar sein: eine Waffenruhe, die eingehalten wird, Schutz für Zivilisten, humanitäre Hilfe ohne politische Bedingungen und Regeln dafür, was bei Verstößen passiert.</a:t>
            </a:r>
          </a:p>
          <a:p/>
          <a:p>
            <a:r>
              <a:t>Drittens braucht es eine politische Perspektive. Dazu gehören der Wiederaufbau, eine palästinensische Vertretung, die die Menschen auch akzeptieren, und Sicherheit für Israel. Langfristig läuft das auf zwei Staaten hinaus.</a:t>
            </a:r>
          </a:p>
          <a:p/>
          <a:p>
            <a:r>
              <a:t>Viertens sollte die Zivilgesellschaft einbezogen werden, also Opferverbände, Friedensinitiativen und lokale Hilfsorganisationen. Sie können Vertrauen aufbauen, auch wenn sie die Politik nicht ersetzen.</a:t>
            </a:r>
          </a:p>
          <a:p/>
          <a:p>
            <a:r>
              <a:t>Unser Punkt ist: Eine kurzfristige Waffenruhe reicht nicht, wenn die Ursachen des Konflikts bleiben.</a:t>
            </a:r>
          </a:p>
          <a:p/>
          <a:p>
            <a:r>
              <a:t>Quellen:</a:t>
            </a:r>
          </a:p>
          <a:p>
            <a:r>
              <a:t>Bericht des Board of Peace, S/2026/418 (22.05.2026): https://www.un.org/unispal/document/implementation-of-united-nations-security-council-resolution-2803-2025-report-of-the-board-of-peace-through-the-office-of-the-high-representative-for-gaza-s-2026-418/ (abgerufen am 14.10.2026)</a:t>
            </a:r>
          </a:p>
          <a:p>
            <a:r>
              <a:t>Resolution 2735 (2024): https://press.un.org/en/2024/sc15723.doc.htm (abgerufen am 14.10.2026)</a:t>
            </a:r>
          </a:p>
          <a:p>
            <a:r>
              <a:t>IKRK, Erklärung zu Gaza und Israel (09.03.2024): https://www.icrc.org/en/document/statement-gaza-and-israel-president-icrc (abgerufen am 14.10.2026)</a:t>
            </a:r>
          </a:p>
          <a:p>
            <a:r>
              <a:t>SWP, Krieg in Nahost: https://www.swp-berlin.org/fokusthema/krieg-in-nahost (abgerufen am 14.10.2026)</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Sprecher: [Name 3]</a:t>
            </a:r>
          </a:p>
          <a:p/>
          <a:p>
            <a:r>
              <a:t>Zum Schluss unsere eigene Bewertung. Damit das nicht nur Meinung ist, haben wir zwei Modelle aus dem Unterricht genommen.</a:t>
            </a:r>
          </a:p>
          <a:p/>
          <a:p>
            <a:r>
              <a:t>Johan Galtung unterscheidet negativen und positiven Frieden. Negativer Frieden heißt: Es wird nicht mehr geschossen. Die Waffenruhe seit Oktober 2025 ist ein Schritt dahin, aber noch am 12. Oktober 2026 berichtete Reuters über tödliche Angriffe. Selbst dieser Mindeststandard ist also nicht erreicht. Positiver Frieden geht weiter: Es geht um Sicherheit, Rechte, Versorgung und darum, strukturelle Gewalt abzubauen.</a:t>
            </a:r>
          </a:p>
          <a:p/>
          <a:p>
            <a:r>
              <a:t>Dieter Senghaas nennt sechs Bausteine, die zusammen einen dauerhaften Frieden ausmachen: ein staatliches Gewaltmonopol, Rechtsstaatlichkeit, demokratische Beteiligung, soziale Gerechtigkeit, eine konstruktive Konfliktkultur und gegenseitige Abhängigkeit mit Affektkontrolle, also dass man sich gegenseitig braucht und nicht aus Wut handelt. Für Gaza fehlen aus unserer Sicht vor allem eine legitime Kontrolle der Gewalt, Rechtsschutz, Versorgung und politische Beteiligung.</a:t>
            </a:r>
          </a:p>
          <a:p/>
          <a:p>
            <a:r>
              <a:t>Unser Fazit: Resolution 2803 ist ein möglicher Rahmen für den Übergang, aber noch kein Frieden. Entscheidend ist, was davon bei den Menschen ankommt. Eine Lösung muss Israelis vor Angriffen schützen und Palästinensern gleiche Rechte und Selbstbestimmung geben. Menschenrechte gelten für alle, egal welcher Herkunft oder Religion.</a:t>
            </a:r>
          </a:p>
          <a:p/>
          <a:p>
            <a:r>
              <a:t>Quellen:</a:t>
            </a:r>
          </a:p>
          <a:p>
            <a:r>
              <a:t>bpb, Frieden (Galtung und Senghaas): https://www.bpb.de/lernen/politische-bildung/193093/frieden/?p=0 (abgerufen am 14.10.2026)</a:t>
            </a:r>
          </a:p>
          <a:p>
            <a:r>
              <a:t>bpb, Überlegungen zur Entspannung in einer pluralistischen Welt: https://www.bpb.de/shop/zeitschriften/apuz/archiv/531674/ueberlegungen-zur-entspannung-in-einer-pluralistischen-welt/ (abgerufen am 14.10.2026)</a:t>
            </a:r>
          </a:p>
          <a:p>
            <a:r>
              <a:t>Reuters, Bericht vom 12.10.2026: https://www.reuters.com/world/middle-east/israeli-fire-kills-two-people-gaza-medics-say-2026-10-12/ (abgerufen am 14.10.2026)</a:t>
            </a:r>
          </a:p>
          <a:p>
            <a:r>
              <a:t>UN, Erläuterung zu Resolution 2803: https://palestine.un.org/en/305520-un-security-council-authorizes-temporary-international-force-gaza (abgerufen am 14.10.2026)</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Sprecher: [Name 3]</a:t>
            </a:r>
          </a:p>
          <a:p/>
          <a:p>
            <a:r>
              <a:t>Hier sind unsere wichtigsten Quellen. Alle Internetseiten haben wir am 14. Oktober 2026 abgerufen, die Geodaten für die Karten am 15. Oktober 2026. Die restlichen Quellen, vor allem zu den Gerichtsverfahren, stehen in den Notizen zu den einzelnen Folien. Vielen Dank fürs Zuhören. Habt ihr Fragen?</a:t>
            </a:r>
          </a:p>
          <a:p/>
          <a:p>
            <a:r>
              <a:t>Weitere Quellen:</a:t>
            </a:r>
          </a:p>
          <a:p>
            <a:r>
              <a:t>UN-Charta: https://www.un.org/en/about-us/un-charter/full-text (abgerufen am 14.10.2026)</a:t>
            </a:r>
          </a:p>
          <a:p>
            <a:r>
              <a:t>IGH, Südafrika gegen Israel: https://www.icj-cij.org/case/192 (abgerufen am 14.10.2026)</a:t>
            </a:r>
          </a:p>
          <a:p>
            <a:r>
              <a:t>IGH, Gutachten vom 19.07.2024: https://www.icj-cij.org/node/204176 (abgerufen am 14.10.2026)</a:t>
            </a:r>
          </a:p>
          <a:p>
            <a:r>
              <a:t>IStGH, Haftbefehle vom 21.11.2024: https://www.icc-cpi.int/news/situation-state-palestine-icc-pre-trial-chamber-i-rejects-state-israels-challenges (abgerufen am 14.10.2026)</a:t>
            </a:r>
          </a:p>
          <a:p>
            <a:r>
              <a:t>IStGH, Situation in Palästina: https://bridge.www.icc-cpi.int/palestine (abgerufen am 14.10.2026)</a:t>
            </a:r>
          </a:p>
          <a:p>
            <a:r>
              <a:t>IKRK, Erklärung vom 09.03.2024: https://www.icrc.org/en/document/statement-gaza-and-israel-president-icrc (abgerufen am 14.10.2026)</a:t>
            </a:r>
          </a:p>
          <a:p>
            <a:r>
              <a:t>IKRK, Fragen und Antworten: https://www.icrc.org/en/document/FAQ-icrc-work-Israel-and-occupied-territories (abgerufen am 14.10.2026)</a:t>
            </a:r>
          </a:p>
          <a:p>
            <a:r>
              <a:t>Congressional Research Service, R48289: https://www.congress.gov/crs-products/product/pdf/R/R48289 (abgerufen am 14.10.2026)</a:t>
            </a:r>
          </a:p>
          <a:p>
            <a:r>
              <a:t>Congressional Research Service, R44017: https://www.congress.gov/crs_external_products/R/PDF/R44017/R44017.66.pdf (abgerufen am 14.10.2026)</a:t>
            </a:r>
          </a:p>
          <a:p>
            <a:r>
              <a:t>SWP, Katars Außenpolitik: https://www.swp-berlin.org/10.18449/2022S12/ (abgerufen am 14.10.2026)</a:t>
            </a:r>
          </a:p>
          <a:p>
            <a:r>
              <a:t>UN, US-Veto vom 18.10.2023: https://www.un.org/unispal/document/security-council-fails-to-adopt-resolution-calling-for-humanitarian-pauses-in-israel-gaza-crisis-on-account-of-veto-by-united-states/ (abgerufen am 14.10.2026)</a:t>
            </a:r>
          </a:p>
          <a:p>
            <a:r>
              <a:t>UN, Vetos vom 25.10.2023: https://www.un.org/unispal/document/security-council-fails-to-adopt-either-of-two-draft-resolutions-addressing-conflict-and-humanitarian-crisis-in-gaza-press-release/ (abgerufen am 14.10.2026)</a:t>
            </a:r>
          </a:p>
          <a:p>
            <a:r>
              <a:t>UN, Erläuterung zu Resolution 2803: https://palestine.un.org/en/305520-un-security-council-authorizes-temporary-international-force-gaza (abgerufen am 14.10.2026)</a:t>
            </a:r>
          </a:p>
          <a:p>
            <a:r>
              <a:t>Bericht des Board of Peace, S/2026/418: https://www.un.org/unispal/document/implementation-of-united-nations-security-council-resolution-2803-2025-report-of-the-board-of-peace-through-the-office-of-the-high-representative-for-gaza-s-2026-418/ (abgerufen am 14.10.2026)</a:t>
            </a:r>
          </a:p>
          <a:p>
            <a:r>
              <a:t>UNRWA: https://www.unrwa.org/what-we-do (abgerufen am 14.10.2026)</a:t>
            </a:r>
          </a:p>
          <a:p>
            <a:r>
              <a:t>OCHA: https://www.ochaopt.org/about-us/our-work (abgerufen am 14.10.2026)</a:t>
            </a:r>
          </a:p>
          <a:p>
            <a:r>
              <a:t>Reuters, 12.10.2026: https://www.reuters.com/world/middle-east/israeli-fire-kills-two-people-gaza-medics-say-2026-10-12/ (abgerufen am 14.10.2026)</a:t>
            </a:r>
          </a:p>
          <a:p>
            <a:r>
              <a:t>UNOSAT, Originalkarte (PDF): https://unosat.org/static/unosat_filesystem/4165/OCHA-OPT-027_UNOSAT_A3_Gaza_Strip_OPT_CDA_08072025.pdf (abgerufen am 14.10.2026)</a:t>
            </a:r>
          </a:p>
          <a:p>
            <a:r>
              <a:t>Geodaten für die Karten: ArcGIS GAZA_E, Layer 34 (Gouvernements) und Layer 32 (Orte, OpenStreetMap): https://services3.arcgis.com/tuNLpt6Wfhd22qmO/ArcGIS/rest/services/GAZA_E/FeatureServer (abgerufen am 15.10.2026)</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map_1.sv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image" Target="../media/image2.png"/><Relationship Id="rId4" Type="http://schemas.openxmlformats.org/officeDocument/2006/relationships/image" Target="../media/map_2.svg"/><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main.un.org/securitycouncil/en/content/resolutions-0" TargetMode="External"/><Relationship Id="rId3" Type="http://schemas.openxmlformats.org/officeDocument/2006/relationships/hyperlink" Target="https://docs.un.org/S/RES/2728(2024)" TargetMode="External"/><Relationship Id="rId4" Type="http://schemas.openxmlformats.org/officeDocument/2006/relationships/hyperlink" Target="https://docs.un.org/S/RES/2735(2024)" TargetMode="External"/><Relationship Id="rId5" Type="http://schemas.openxmlformats.org/officeDocument/2006/relationships/hyperlink" Target="https://digitallibrary.un.org/record/4093207" TargetMode="External"/><Relationship Id="rId6" Type="http://schemas.openxmlformats.org/officeDocument/2006/relationships/hyperlink" Target="https://unosat.org/products/4165" TargetMode="External"/><Relationship Id="rId7" Type="http://schemas.openxmlformats.org/officeDocument/2006/relationships/hyperlink" Target="https://www.wiso.uni-hamburg.de/fachbereich-sowi/ueber-den-fachbereich/fachgebiete/akuf/kriegsdefinition.html" TargetMode="External"/><Relationship Id="rId8" Type="http://schemas.openxmlformats.org/officeDocument/2006/relationships/hyperlink" Target="https://www.bpb.de/shop/zeitschriften/apuz/naher-osten-2024/546377/der-gazastreifen-im-nahostkonflikt/" TargetMode="External"/><Relationship Id="rId9" Type="http://schemas.openxmlformats.org/officeDocument/2006/relationships/hyperlink" Target="https://www.bpb.de/themen/naher-mittlerer-osten/israel/45042/geschichte-des-nahostkonflikts/" TargetMode="External"/><Relationship Id="rId10" Type="http://schemas.openxmlformats.org/officeDocument/2006/relationships/hyperlink" Target="https://www.bpb.de/lernen/politische-bildung/193093/frieden/?p=0" TargetMode="External"/><Relationship Id="rId11" Type="http://schemas.openxmlformats.org/officeDocument/2006/relationships/hyperlink" Target="https://www.swp-berlin.org/fokusthema/krieg-in-nahost" TargetMode="External"/><Relationship Id="rId12" Type="http://schemas.openxmlformats.org/officeDocument/2006/relationships/hyperlink" Target="https://www.ochaopt.org/content/gaza-strip-access-and-movement-july-2024" TargetMode="External"/><Relationship Id="rId13" Type="http://schemas.openxmlformats.org/officeDocument/2006/relationships/hyperlink" Target="https://services3.arcgis.com/tuNLpt6Wfhd22qmO/ArcGIS/rest/services/GAZA_E/FeatureServer" TargetMode="External"/><Relationship Id="rId14"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6400800"/>
            <a:ext cx="5486400" cy="274320"/>
          </a:xfrm>
          <a:prstGeom prst="rect">
            <a:avLst/>
          </a:prstGeom>
          <a:noFill/>
        </p:spPr>
        <p:txBody>
          <a:bodyPr wrap="square" anchor="t" lIns="45720" rIns="45720" tIns="27432" bIns="27432">
            <a:spAutoFit/>
          </a:bodyPr>
          <a:lstStyle/>
          <a:p>
            <a:pPr algn="l">
              <a:lnSpc>
                <a:spcPct val="100000"/>
              </a:lnSpc>
              <a:spcAft>
                <a:spcPts val="400"/>
              </a:spcAft>
            </a:pPr>
            <a:r>
              <a:rPr sz="1000" b="0" i="0" lang="de-DE">
                <a:solidFill>
                  <a:srgbClr val="595959"/>
                </a:solidFill>
                <a:latin typeface="Calibri"/>
              </a:rPr>
              <a:t>Der Krieg im Gazastreifen  |  Politik 10</a:t>
            </a:r>
          </a:p>
        </p:txBody>
      </p:sp>
      <p:sp>
        <p:nvSpPr>
          <p:cNvPr id="3" name="TextBox 2"/>
          <p:cNvSpPr txBox="1"/>
          <p:nvPr/>
        </p:nvSpPr>
        <p:spPr>
          <a:xfrm>
            <a:off x="10698480" y="6400800"/>
            <a:ext cx="914400" cy="274320"/>
          </a:xfrm>
          <a:prstGeom prst="rect">
            <a:avLst/>
          </a:prstGeom>
          <a:noFill/>
        </p:spPr>
        <p:txBody>
          <a:bodyPr wrap="square" anchor="t" lIns="45720" rIns="45720" tIns="27432" bIns="27432">
            <a:spAutoFit/>
          </a:bodyPr>
          <a:lstStyle/>
          <a:p>
            <a:pPr algn="r">
              <a:lnSpc>
                <a:spcPct val="100000"/>
              </a:lnSpc>
              <a:spcAft>
                <a:spcPts val="400"/>
              </a:spcAft>
            </a:pPr>
            <a:r>
              <a:rPr sz="1000" b="0" i="0" lang="de-DE">
                <a:solidFill>
                  <a:srgbClr val="595959"/>
                </a:solidFill>
                <a:latin typeface="Calibri"/>
              </a:rPr>
              <a:t>1 / 12</a:t>
            </a:r>
          </a:p>
        </p:txBody>
      </p:sp>
      <p:sp>
        <p:nvSpPr>
          <p:cNvPr id="4" name="TextBox 3"/>
          <p:cNvSpPr txBox="1"/>
          <p:nvPr/>
        </p:nvSpPr>
        <p:spPr>
          <a:xfrm>
            <a:off x="822960" y="1463040"/>
            <a:ext cx="10515600" cy="1463040"/>
          </a:xfrm>
          <a:prstGeom prst="rect">
            <a:avLst/>
          </a:prstGeom>
          <a:noFill/>
        </p:spPr>
        <p:txBody>
          <a:bodyPr wrap="square" anchor="b" lIns="45720" rIns="45720" tIns="27432" bIns="27432">
            <a:spAutoFit/>
          </a:bodyPr>
          <a:lstStyle/>
          <a:p>
            <a:pPr algn="l">
              <a:lnSpc>
                <a:spcPct val="100000"/>
              </a:lnSpc>
              <a:spcAft>
                <a:spcPts val="400"/>
              </a:spcAft>
            </a:pPr>
            <a:r>
              <a:rPr sz="4800" b="1" i="0" lang="de-DE">
                <a:solidFill>
                  <a:srgbClr val="1F3864"/>
                </a:solidFill>
                <a:latin typeface="Calibri"/>
              </a:rPr>
              <a:t>Der Krieg im Gazastreifen</a:t>
            </a:r>
          </a:p>
        </p:txBody>
      </p:sp>
      <p:sp>
        <p:nvSpPr>
          <p:cNvPr id="5" name="TextBox 4"/>
          <p:cNvSpPr txBox="1"/>
          <p:nvPr/>
        </p:nvSpPr>
        <p:spPr>
          <a:xfrm>
            <a:off x="822960" y="2971800"/>
            <a:ext cx="10515600" cy="548640"/>
          </a:xfrm>
          <a:prstGeom prst="rect">
            <a:avLst/>
          </a:prstGeom>
          <a:noFill/>
        </p:spPr>
        <p:txBody>
          <a:bodyPr wrap="square" anchor="t" lIns="45720" rIns="45720" tIns="27432" bIns="27432">
            <a:spAutoFit/>
          </a:bodyPr>
          <a:lstStyle/>
          <a:p>
            <a:pPr algn="l">
              <a:lnSpc>
                <a:spcPct val="100000"/>
              </a:lnSpc>
              <a:spcAft>
                <a:spcPts val="400"/>
              </a:spcAft>
            </a:pPr>
            <a:r>
              <a:rPr sz="2600" b="0" i="0" lang="de-DE">
                <a:solidFill>
                  <a:srgbClr val="595959"/>
                </a:solidFill>
                <a:latin typeface="Calibri"/>
              </a:rPr>
              <a:t>Eine Konfliktanalyse nach dem AKUF-Schema</a:t>
            </a:r>
          </a:p>
        </p:txBody>
      </p:sp>
      <p:cxnSp>
        <p:nvCxnSpPr>
          <p:cNvPr id="6" name="Connector 5"/>
          <p:cNvCxnSpPr/>
          <p:nvPr/>
        </p:nvCxnSpPr>
        <p:spPr>
          <a:xfrm>
            <a:off x="868680" y="3749039"/>
            <a:ext cx="3703320" cy="0"/>
          </a:xfrm>
          <a:prstGeom prst="line">
            <a:avLst/>
          </a:prstGeom>
          <a:ln w="25400">
            <a:solidFill>
              <a:srgbClr val="2E75B6"/>
            </a:solidFill>
          </a:ln>
        </p:spPr>
      </p:cxnSp>
      <p:sp>
        <p:nvSpPr>
          <p:cNvPr id="7" name="TextBox 6"/>
          <p:cNvSpPr txBox="1"/>
          <p:nvPr/>
        </p:nvSpPr>
        <p:spPr>
          <a:xfrm>
            <a:off x="822960" y="4023360"/>
            <a:ext cx="10515600" cy="457200"/>
          </a:xfrm>
          <a:prstGeom prst="rect">
            <a:avLst/>
          </a:prstGeom>
          <a:noFill/>
        </p:spPr>
        <p:txBody>
          <a:bodyPr wrap="square" anchor="t" lIns="45720" rIns="45720" tIns="27432" bIns="27432">
            <a:spAutoFit/>
          </a:bodyPr>
          <a:lstStyle/>
          <a:p>
            <a:pPr algn="l">
              <a:lnSpc>
                <a:spcPct val="100000"/>
              </a:lnSpc>
              <a:spcAft>
                <a:spcPts val="400"/>
              </a:spcAft>
            </a:pPr>
            <a:r>
              <a:rPr sz="2000" b="0" i="0" lang="de-DE">
                <a:solidFill>
                  <a:srgbClr val="262626"/>
                </a:solidFill>
                <a:latin typeface="Calibri"/>
              </a:rPr>
              <a:t>[Name 1], [Name 2], [Name 3]</a:t>
            </a:r>
          </a:p>
        </p:txBody>
      </p:sp>
      <p:sp>
        <p:nvSpPr>
          <p:cNvPr id="8" name="TextBox 7"/>
          <p:cNvSpPr txBox="1"/>
          <p:nvPr/>
        </p:nvSpPr>
        <p:spPr>
          <a:xfrm>
            <a:off x="822960" y="4526280"/>
            <a:ext cx="10515600" cy="457200"/>
          </a:xfrm>
          <a:prstGeom prst="rect">
            <a:avLst/>
          </a:prstGeom>
          <a:noFill/>
        </p:spPr>
        <p:txBody>
          <a:bodyPr wrap="square" anchor="t" lIns="45720" rIns="45720" tIns="27432" bIns="27432">
            <a:spAutoFit/>
          </a:bodyPr>
          <a:lstStyle/>
          <a:p>
            <a:pPr algn="l">
              <a:lnSpc>
                <a:spcPct val="100000"/>
              </a:lnSpc>
              <a:spcAft>
                <a:spcPts val="400"/>
              </a:spcAft>
            </a:pPr>
            <a:r>
              <a:rPr sz="1600" b="0" i="0" lang="de-DE">
                <a:solidFill>
                  <a:srgbClr val="595959"/>
                </a:solidFill>
                <a:latin typeface="Calibri"/>
              </a:rPr>
              <a:t>Politik, Klasse 10  |  Projekt Konfliktforschung  |  Oktober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731520"/>
          </a:xfrm>
          <a:prstGeom prst="rect">
            <a:avLst/>
          </a:prstGeom>
          <a:noFill/>
        </p:spPr>
        <p:txBody>
          <a:bodyPr wrap="square" anchor="b" lIns="45720" rIns="45720" tIns="27432" bIns="27432">
            <a:spAutoFit/>
          </a:bodyPr>
          <a:lstStyle/>
          <a:p>
            <a:pPr algn="l">
              <a:lnSpc>
                <a:spcPct val="100000"/>
              </a:lnSpc>
              <a:spcAft>
                <a:spcPts val="400"/>
              </a:spcAft>
            </a:pPr>
            <a:r>
              <a:rPr sz="3000" b="1" i="0" lang="de-DE">
                <a:solidFill>
                  <a:srgbClr val="1F3864"/>
                </a:solidFill>
                <a:latin typeface="Calibri"/>
              </a:rPr>
              <a:t>Wo liegt der Gazastreifen?</a:t>
            </a:r>
          </a:p>
        </p:txBody>
      </p:sp>
      <p:cxnSp>
        <p:nvCxnSpPr>
          <p:cNvPr id="3" name="Connector 2"/>
          <p:cNvCxnSpPr/>
          <p:nvPr/>
        </p:nvCxnSpPr>
        <p:spPr>
          <a:xfrm>
            <a:off x="594360" y="1115568"/>
            <a:ext cx="11018520" cy="0"/>
          </a:xfrm>
          <a:prstGeom prst="line">
            <a:avLst/>
          </a:prstGeom>
          <a:ln w="19050">
            <a:solidFill>
              <a:srgbClr val="2E75B6"/>
            </a:solidFill>
          </a:ln>
        </p:spPr>
      </p:cxnSp>
      <p:sp>
        <p:nvSpPr>
          <p:cNvPr id="4" name="TextBox 3"/>
          <p:cNvSpPr txBox="1"/>
          <p:nvPr/>
        </p:nvSpPr>
        <p:spPr>
          <a:xfrm>
            <a:off x="548640" y="6400800"/>
            <a:ext cx="5486400" cy="274320"/>
          </a:xfrm>
          <a:prstGeom prst="rect">
            <a:avLst/>
          </a:prstGeom>
          <a:noFill/>
        </p:spPr>
        <p:txBody>
          <a:bodyPr wrap="square" anchor="t" lIns="45720" rIns="45720" tIns="27432" bIns="27432">
            <a:spAutoFit/>
          </a:bodyPr>
          <a:lstStyle/>
          <a:p>
            <a:pPr algn="l">
              <a:lnSpc>
                <a:spcPct val="100000"/>
              </a:lnSpc>
              <a:spcAft>
                <a:spcPts val="400"/>
              </a:spcAft>
            </a:pPr>
            <a:r>
              <a:rPr sz="1000" b="0" i="0" lang="de-DE">
                <a:solidFill>
                  <a:srgbClr val="595959"/>
                </a:solidFill>
                <a:latin typeface="Calibri"/>
              </a:rPr>
              <a:t>Der Krieg im Gazastreifen  |  Politik 10</a:t>
            </a:r>
          </a:p>
        </p:txBody>
      </p:sp>
      <p:sp>
        <p:nvSpPr>
          <p:cNvPr id="5" name="TextBox 4"/>
          <p:cNvSpPr txBox="1"/>
          <p:nvPr/>
        </p:nvSpPr>
        <p:spPr>
          <a:xfrm>
            <a:off x="10698480" y="6400800"/>
            <a:ext cx="914400" cy="274320"/>
          </a:xfrm>
          <a:prstGeom prst="rect">
            <a:avLst/>
          </a:prstGeom>
          <a:noFill/>
        </p:spPr>
        <p:txBody>
          <a:bodyPr wrap="square" anchor="t" lIns="45720" rIns="45720" tIns="27432" bIns="27432">
            <a:spAutoFit/>
          </a:bodyPr>
          <a:lstStyle/>
          <a:p>
            <a:pPr algn="r">
              <a:lnSpc>
                <a:spcPct val="100000"/>
              </a:lnSpc>
              <a:spcAft>
                <a:spcPts val="400"/>
              </a:spcAft>
            </a:pPr>
            <a:r>
              <a:rPr sz="1000" b="0" i="0" lang="de-DE">
                <a:solidFill>
                  <a:srgbClr val="595959"/>
                </a:solidFill>
                <a:latin typeface="Calibri"/>
              </a:rPr>
              <a:t>2 / 12</a:t>
            </a:r>
          </a:p>
        </p:txBody>
      </p:sp>
      <p:pic>
        <p:nvPicPr>
          <p:cNvPr id="6" name="Picture 5" descr="gaza_overview.png"/>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48640" y="1380743"/>
            <a:ext cx="5760720" cy="4416552"/>
          </a:xfrm>
          <a:prstGeom prst="rect">
            <a:avLst/>
          </a:prstGeom>
        </p:spPr>
      </p:pic>
      <p:sp>
        <p:nvSpPr>
          <p:cNvPr id="7" name="TextBox 6"/>
          <p:cNvSpPr txBox="1"/>
          <p:nvPr/>
        </p:nvSpPr>
        <p:spPr>
          <a:xfrm>
            <a:off x="548640" y="5852160"/>
            <a:ext cx="5760720" cy="274320"/>
          </a:xfrm>
          <a:prstGeom prst="rect">
            <a:avLst/>
          </a:prstGeom>
          <a:noFill/>
        </p:spPr>
        <p:txBody>
          <a:bodyPr wrap="square" anchor="t" lIns="45720" rIns="45720" tIns="27432" bIns="27432">
            <a:spAutoFit/>
          </a:bodyPr>
          <a:lstStyle/>
          <a:p>
            <a:pPr algn="l">
              <a:lnSpc>
                <a:spcPct val="100000"/>
              </a:lnSpc>
              <a:spcAft>
                <a:spcPts val="400"/>
              </a:spcAft>
            </a:pPr>
            <a:r>
              <a:rPr sz="1000" b="0" i="1" lang="de-DE">
                <a:solidFill>
                  <a:srgbClr val="595959"/>
                </a:solidFill>
                <a:latin typeface="Calibri"/>
              </a:rPr>
              <a:t>Eigene Karte. Grenzen: OCHA / ArcGIS, Orte: OpenStreetMap</a:t>
            </a:r>
          </a:p>
        </p:txBody>
      </p:sp>
      <p:sp>
        <p:nvSpPr>
          <p:cNvPr id="8" name="TextBox 7"/>
          <p:cNvSpPr txBox="1"/>
          <p:nvPr/>
        </p:nvSpPr>
        <p:spPr>
          <a:xfrm>
            <a:off x="6583680" y="1417320"/>
            <a:ext cx="5120640" cy="4754880"/>
          </a:xfrm>
          <a:prstGeom prst="rect">
            <a:avLst/>
          </a:prstGeom>
          <a:noFill/>
        </p:spPr>
        <p:txBody>
          <a:bodyPr wrap="square" lIns="45720" rIns="45720" tIns="27432" bIns="27432">
            <a:spAutoFit/>
          </a:bodyPr>
          <a:lstStyle/>
          <a:p>
            <a:pPr marL="274320" indent="-274320">
              <a:lnSpc>
                <a:spcPct val="100000"/>
              </a:lnSpc>
              <a:spcAft>
                <a:spcPts val="1200"/>
              </a:spcAft>
              <a:buFont typeface="Arial"/>
              <a:buChar char="•"/>
            </a:pPr>
            <a:r>
              <a:rPr sz="1800" b="1" i="0" lang="de-DE">
                <a:solidFill>
                  <a:srgbClr val="262626"/>
                </a:solidFill>
                <a:latin typeface="Calibri"/>
              </a:rPr>
              <a:t>Lage: </a:t>
            </a:r>
            <a:r>
              <a:rPr sz="1800" b="0" i="0" lang="de-DE">
                <a:solidFill>
                  <a:srgbClr val="262626"/>
                </a:solidFill>
                <a:latin typeface="Calibri"/>
              </a:rPr>
              <a:t>schmaler Küstenstreifen am Mittelmeer, Grenzen zu Israel und Ägypten</a:t>
            </a:r>
          </a:p>
          <a:p>
            <a:pPr marL="274320" indent="-274320">
              <a:lnSpc>
                <a:spcPct val="100000"/>
              </a:lnSpc>
              <a:spcAft>
                <a:spcPts val="1200"/>
              </a:spcAft>
              <a:buFont typeface="Arial"/>
              <a:buChar char="•"/>
            </a:pPr>
            <a:r>
              <a:rPr sz="1800" b="1" i="0" lang="de-DE">
                <a:solidFill>
                  <a:srgbClr val="262626"/>
                </a:solidFill>
                <a:latin typeface="Calibri"/>
              </a:rPr>
              <a:t>Fläche: </a:t>
            </a:r>
            <a:r>
              <a:rPr sz="1800" b="0" i="0" lang="de-DE">
                <a:solidFill>
                  <a:srgbClr val="262626"/>
                </a:solidFill>
                <a:latin typeface="Calibri"/>
              </a:rPr>
              <a:t>365 km²</a:t>
            </a:r>
          </a:p>
          <a:p>
            <a:pPr marL="274320" indent="-274320">
              <a:lnSpc>
                <a:spcPct val="100000"/>
              </a:lnSpc>
              <a:spcAft>
                <a:spcPts val="1200"/>
              </a:spcAft>
              <a:buFont typeface="Arial"/>
              <a:buChar char="•"/>
            </a:pPr>
            <a:r>
              <a:rPr sz="1800" b="1" i="0" lang="de-DE">
                <a:solidFill>
                  <a:srgbClr val="262626"/>
                </a:solidFill>
                <a:latin typeface="Calibri"/>
              </a:rPr>
              <a:t>Einwohner: </a:t>
            </a:r>
            <a:r>
              <a:rPr sz="1800" b="0" i="0" lang="de-DE">
                <a:solidFill>
                  <a:srgbClr val="262626"/>
                </a:solidFill>
                <a:latin typeface="Calibri"/>
              </a:rPr>
              <a:t>ca. 2,1 Millionen (OCHA, Juli 2024), also rund 5.750 Menschen pro km²</a:t>
            </a:r>
          </a:p>
          <a:p>
            <a:pPr marL="274320" indent="-274320">
              <a:lnSpc>
                <a:spcPct val="100000"/>
              </a:lnSpc>
              <a:spcAft>
                <a:spcPts val="1200"/>
              </a:spcAft>
              <a:buFont typeface="Arial"/>
              <a:buChar char="•"/>
            </a:pPr>
            <a:r>
              <a:rPr sz="1800" b="1" i="0" lang="de-DE">
                <a:solidFill>
                  <a:srgbClr val="262626"/>
                </a:solidFill>
                <a:latin typeface="Calibri"/>
              </a:rPr>
              <a:t>Größte Städte: </a:t>
            </a:r>
            <a:r>
              <a:rPr sz="1800" b="0" i="0" lang="de-DE">
                <a:solidFill>
                  <a:srgbClr val="262626"/>
                </a:solidFill>
                <a:latin typeface="Calibri"/>
              </a:rPr>
              <a:t>Gaza-Stadt, Khan Yunis, Rafah</a:t>
            </a:r>
          </a:p>
          <a:p>
            <a:pPr marL="274320" indent="-274320">
              <a:lnSpc>
                <a:spcPct val="100000"/>
              </a:lnSpc>
              <a:spcAft>
                <a:spcPts val="1200"/>
              </a:spcAft>
              <a:buFont typeface="Arial"/>
              <a:buChar char="•"/>
            </a:pPr>
            <a:r>
              <a:rPr sz="1800" b="1" i="0" lang="de-DE">
                <a:solidFill>
                  <a:srgbClr val="262626"/>
                </a:solidFill>
                <a:latin typeface="Calibri"/>
              </a:rPr>
              <a:t>Konfliktparteien: </a:t>
            </a:r>
            <a:r>
              <a:rPr sz="1800" b="0" i="0" lang="de-DE">
                <a:solidFill>
                  <a:srgbClr val="262626"/>
                </a:solidFill>
                <a:latin typeface="Calibri"/>
              </a:rPr>
              <a:t>Israel (Armee: IDF) gegen Hamas und Palästinensischer Islamischer Dschihad</a:t>
            </a:r>
          </a:p>
          <a:p>
            <a:pPr marL="274320" indent="-274320">
              <a:lnSpc>
                <a:spcPct val="100000"/>
              </a:lnSpc>
              <a:spcAft>
                <a:spcPts val="1200"/>
              </a:spcAft>
              <a:buFont typeface="Arial"/>
              <a:buChar char="•"/>
            </a:pPr>
            <a:r>
              <a:rPr sz="1800" b="1" i="0" lang="de-DE">
                <a:solidFill>
                  <a:srgbClr val="262626"/>
                </a:solidFill>
                <a:latin typeface="Calibri"/>
              </a:rPr>
              <a:t>Worum es geht: </a:t>
            </a:r>
            <a:r>
              <a:rPr sz="1800" b="0" i="0" lang="de-DE">
                <a:solidFill>
                  <a:srgbClr val="262626"/>
                </a:solidFill>
                <a:latin typeface="Calibri"/>
              </a:rPr>
              <a:t>Sicherheit, Land und das Recht auf einen eigenen palästinensischen Staat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731520"/>
          </a:xfrm>
          <a:prstGeom prst="rect">
            <a:avLst/>
          </a:prstGeom>
          <a:noFill/>
        </p:spPr>
        <p:txBody>
          <a:bodyPr wrap="square" anchor="b" lIns="45720" rIns="45720" tIns="27432" bIns="27432">
            <a:spAutoFit/>
          </a:bodyPr>
          <a:lstStyle/>
          <a:p>
            <a:pPr algn="l">
              <a:lnSpc>
                <a:spcPct val="100000"/>
              </a:lnSpc>
              <a:spcAft>
                <a:spcPts val="400"/>
              </a:spcAft>
            </a:pPr>
            <a:r>
              <a:rPr sz="3000" b="1" i="0" lang="de-DE">
                <a:solidFill>
                  <a:srgbClr val="1F3864"/>
                </a:solidFill>
                <a:latin typeface="Calibri"/>
              </a:rPr>
              <a:t>Wichtige Begriffe</a:t>
            </a:r>
          </a:p>
        </p:txBody>
      </p:sp>
      <p:cxnSp>
        <p:nvCxnSpPr>
          <p:cNvPr id="3" name="Connector 2"/>
          <p:cNvCxnSpPr/>
          <p:nvPr/>
        </p:nvCxnSpPr>
        <p:spPr>
          <a:xfrm>
            <a:off x="594360" y="1115568"/>
            <a:ext cx="11018520" cy="0"/>
          </a:xfrm>
          <a:prstGeom prst="line">
            <a:avLst/>
          </a:prstGeom>
          <a:ln w="19050">
            <a:solidFill>
              <a:srgbClr val="2E75B6"/>
            </a:solidFill>
          </a:ln>
        </p:spPr>
      </p:cxnSp>
      <p:sp>
        <p:nvSpPr>
          <p:cNvPr id="4" name="TextBox 3"/>
          <p:cNvSpPr txBox="1"/>
          <p:nvPr/>
        </p:nvSpPr>
        <p:spPr>
          <a:xfrm>
            <a:off x="548640" y="6400800"/>
            <a:ext cx="5486400" cy="274320"/>
          </a:xfrm>
          <a:prstGeom prst="rect">
            <a:avLst/>
          </a:prstGeom>
          <a:noFill/>
        </p:spPr>
        <p:txBody>
          <a:bodyPr wrap="square" anchor="t" lIns="45720" rIns="45720" tIns="27432" bIns="27432">
            <a:spAutoFit/>
          </a:bodyPr>
          <a:lstStyle/>
          <a:p>
            <a:pPr algn="l">
              <a:lnSpc>
                <a:spcPct val="100000"/>
              </a:lnSpc>
              <a:spcAft>
                <a:spcPts val="400"/>
              </a:spcAft>
            </a:pPr>
            <a:r>
              <a:rPr sz="1000" b="0" i="0" lang="de-DE">
                <a:solidFill>
                  <a:srgbClr val="595959"/>
                </a:solidFill>
                <a:latin typeface="Calibri"/>
              </a:rPr>
              <a:t>Der Krieg im Gazastreifen  |  Politik 10</a:t>
            </a:r>
          </a:p>
        </p:txBody>
      </p:sp>
      <p:sp>
        <p:nvSpPr>
          <p:cNvPr id="5" name="TextBox 4"/>
          <p:cNvSpPr txBox="1"/>
          <p:nvPr/>
        </p:nvSpPr>
        <p:spPr>
          <a:xfrm>
            <a:off x="10698480" y="6400800"/>
            <a:ext cx="914400" cy="274320"/>
          </a:xfrm>
          <a:prstGeom prst="rect">
            <a:avLst/>
          </a:prstGeom>
          <a:noFill/>
        </p:spPr>
        <p:txBody>
          <a:bodyPr wrap="square" anchor="t" lIns="45720" rIns="45720" tIns="27432" bIns="27432">
            <a:spAutoFit/>
          </a:bodyPr>
          <a:lstStyle/>
          <a:p>
            <a:pPr algn="r">
              <a:lnSpc>
                <a:spcPct val="100000"/>
              </a:lnSpc>
              <a:spcAft>
                <a:spcPts val="400"/>
              </a:spcAft>
            </a:pPr>
            <a:r>
              <a:rPr sz="1000" b="0" i="0" lang="de-DE">
                <a:solidFill>
                  <a:srgbClr val="595959"/>
                </a:solidFill>
                <a:latin typeface="Calibri"/>
              </a:rPr>
              <a:t>3 / 12</a:t>
            </a:r>
          </a:p>
        </p:txBody>
      </p:sp>
      <p:sp>
        <p:nvSpPr>
          <p:cNvPr id="6" name="TextBox 5"/>
          <p:cNvSpPr txBox="1"/>
          <p:nvPr/>
        </p:nvSpPr>
        <p:spPr>
          <a:xfrm>
            <a:off x="640080" y="1417320"/>
            <a:ext cx="10881360" cy="4754880"/>
          </a:xfrm>
          <a:prstGeom prst="rect">
            <a:avLst/>
          </a:prstGeom>
          <a:noFill/>
        </p:spPr>
        <p:txBody>
          <a:bodyPr wrap="square" lIns="45720" rIns="45720" tIns="27432" bIns="27432">
            <a:spAutoFit/>
          </a:bodyPr>
          <a:lstStyle/>
          <a:p>
            <a:pPr marL="274320" indent="-274320">
              <a:lnSpc>
                <a:spcPct val="105000"/>
              </a:lnSpc>
              <a:spcAft>
                <a:spcPts val="2000"/>
              </a:spcAft>
              <a:buFont typeface="Arial"/>
              <a:buChar char="•"/>
            </a:pPr>
            <a:r>
              <a:rPr sz="2000" b="1" i="0" lang="de-DE">
                <a:solidFill>
                  <a:srgbClr val="262626"/>
                </a:solidFill>
                <a:latin typeface="Calibri"/>
              </a:rPr>
              <a:t>Asymmetrischer Konflikt: </a:t>
            </a:r>
            <a:r>
              <a:rPr sz="2000" b="0" i="0" lang="de-DE">
                <a:solidFill>
                  <a:srgbClr val="262626"/>
                </a:solidFill>
                <a:latin typeface="Calibri"/>
              </a:rPr>
              <a:t>Die Gegner sind sehr unterschiedlich stark, z. B. eine reguläre Armee gegen bewaffnete Gruppen. Beide kämpfen mit unterschiedlichen Methoden.</a:t>
            </a:r>
          </a:p>
          <a:p>
            <a:pPr marL="274320" indent="-274320">
              <a:lnSpc>
                <a:spcPct val="105000"/>
              </a:lnSpc>
              <a:spcAft>
                <a:spcPts val="2000"/>
              </a:spcAft>
              <a:buFont typeface="Arial"/>
              <a:buChar char="•"/>
            </a:pPr>
            <a:r>
              <a:rPr sz="2000" b="1" i="0" lang="de-DE">
                <a:solidFill>
                  <a:srgbClr val="262626"/>
                </a:solidFill>
                <a:latin typeface="Calibri"/>
              </a:rPr>
              <a:t>Humanitäres Völkerrecht: </a:t>
            </a:r>
            <a:r>
              <a:rPr sz="2000" b="0" i="0" lang="de-DE">
                <a:solidFill>
                  <a:srgbClr val="262626"/>
                </a:solidFill>
                <a:latin typeface="Calibri"/>
              </a:rPr>
              <a:t>Regeln für den Krieg (z. B. Genfer Konventionen). Es schützt Zivilisten und gilt für alle Seiten, egal wer angefangen hat.</a:t>
            </a:r>
          </a:p>
          <a:p>
            <a:pPr marL="274320" indent="-274320">
              <a:lnSpc>
                <a:spcPct val="105000"/>
              </a:lnSpc>
              <a:spcAft>
                <a:spcPts val="2000"/>
              </a:spcAft>
              <a:buFont typeface="Arial"/>
              <a:buChar char="•"/>
            </a:pPr>
            <a:r>
              <a:rPr sz="2000" b="1" i="0" lang="de-DE">
                <a:solidFill>
                  <a:srgbClr val="262626"/>
                </a:solidFill>
                <a:latin typeface="Calibri"/>
              </a:rPr>
              <a:t>UN-Sicherheitsrat und Veto: </a:t>
            </a:r>
            <a:r>
              <a:rPr sz="2000" b="0" i="0" lang="de-DE">
                <a:solidFill>
                  <a:srgbClr val="262626"/>
                </a:solidFill>
                <a:latin typeface="Calibri"/>
              </a:rPr>
              <a:t>15 Mitglieder, davon 5 ständige mit Vetorecht (USA, Russland, China, Frankreich, Großbritannien). Eine Resolution braucht 9 Stimmen und kein Veto (Art. 27 UN-Charta).</a:t>
            </a:r>
          </a:p>
          <a:p>
            <a:pPr marL="274320" indent="-274320">
              <a:lnSpc>
                <a:spcPct val="105000"/>
              </a:lnSpc>
              <a:spcAft>
                <a:spcPts val="2000"/>
              </a:spcAft>
              <a:buFont typeface="Arial"/>
              <a:buChar char="•"/>
            </a:pPr>
            <a:r>
              <a:rPr sz="2000" b="1" i="0" lang="de-DE">
                <a:solidFill>
                  <a:srgbClr val="262626"/>
                </a:solidFill>
                <a:latin typeface="Calibri"/>
              </a:rPr>
              <a:t>Zwei-Staaten-Lösung: </a:t>
            </a:r>
            <a:r>
              <a:rPr sz="2000" b="0" i="0" lang="de-DE">
                <a:solidFill>
                  <a:srgbClr val="262626"/>
                </a:solidFill>
                <a:latin typeface="Calibri"/>
              </a:rPr>
              <a:t>Israel und ein unabhängiger palästinensischer Staat existieren nebeneinander.</a:t>
            </a:r>
          </a:p>
          <a:p>
            <a:pPr marL="274320" indent="-274320">
              <a:lnSpc>
                <a:spcPct val="105000"/>
              </a:lnSpc>
              <a:spcAft>
                <a:spcPts val="2000"/>
              </a:spcAft>
              <a:buFont typeface="Arial"/>
              <a:buChar char="•"/>
            </a:pPr>
            <a:r>
              <a:rPr sz="2000" b="1" i="0" lang="de-DE">
                <a:solidFill>
                  <a:srgbClr val="262626"/>
                </a:solidFill>
                <a:latin typeface="Calibri"/>
              </a:rPr>
              <a:t>Blockade: </a:t>
            </a:r>
            <a:r>
              <a:rPr sz="2000" b="0" i="0" lang="de-DE">
                <a:solidFill>
                  <a:srgbClr val="262626"/>
                </a:solidFill>
                <a:latin typeface="Calibri"/>
              </a:rPr>
              <a:t>Israel und Ägypten kontrollieren seit 2007 streng, welche Waren und Personen nach Gaza hinein- und herauskommen.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731520"/>
          </a:xfrm>
          <a:prstGeom prst="rect">
            <a:avLst/>
          </a:prstGeom>
          <a:noFill/>
        </p:spPr>
        <p:txBody>
          <a:bodyPr wrap="square" anchor="b" lIns="45720" rIns="45720" tIns="27432" bIns="27432">
            <a:spAutoFit/>
          </a:bodyPr>
          <a:lstStyle/>
          <a:p>
            <a:pPr algn="l">
              <a:lnSpc>
                <a:spcPct val="100000"/>
              </a:lnSpc>
              <a:spcAft>
                <a:spcPts val="400"/>
              </a:spcAft>
            </a:pPr>
            <a:r>
              <a:rPr sz="3000" b="1" i="0" lang="de-DE">
                <a:solidFill>
                  <a:srgbClr val="1F3864"/>
                </a:solidFill>
                <a:latin typeface="Calibri"/>
              </a:rPr>
              <a:t>Wie ist der Konflikt entstanden?</a:t>
            </a:r>
          </a:p>
        </p:txBody>
      </p:sp>
      <p:cxnSp>
        <p:nvCxnSpPr>
          <p:cNvPr id="3" name="Connector 2"/>
          <p:cNvCxnSpPr/>
          <p:nvPr/>
        </p:nvCxnSpPr>
        <p:spPr>
          <a:xfrm>
            <a:off x="594360" y="1115568"/>
            <a:ext cx="11018520" cy="0"/>
          </a:xfrm>
          <a:prstGeom prst="line">
            <a:avLst/>
          </a:prstGeom>
          <a:ln w="19050">
            <a:solidFill>
              <a:srgbClr val="2E75B6"/>
            </a:solidFill>
          </a:ln>
        </p:spPr>
      </p:cxnSp>
      <p:sp>
        <p:nvSpPr>
          <p:cNvPr id="4" name="TextBox 3"/>
          <p:cNvSpPr txBox="1"/>
          <p:nvPr/>
        </p:nvSpPr>
        <p:spPr>
          <a:xfrm>
            <a:off x="548640" y="6400800"/>
            <a:ext cx="5486400" cy="274320"/>
          </a:xfrm>
          <a:prstGeom prst="rect">
            <a:avLst/>
          </a:prstGeom>
          <a:noFill/>
        </p:spPr>
        <p:txBody>
          <a:bodyPr wrap="square" anchor="t" lIns="45720" rIns="45720" tIns="27432" bIns="27432">
            <a:spAutoFit/>
          </a:bodyPr>
          <a:lstStyle/>
          <a:p>
            <a:pPr algn="l">
              <a:lnSpc>
                <a:spcPct val="100000"/>
              </a:lnSpc>
              <a:spcAft>
                <a:spcPts val="400"/>
              </a:spcAft>
            </a:pPr>
            <a:r>
              <a:rPr sz="1000" b="0" i="0" lang="de-DE">
                <a:solidFill>
                  <a:srgbClr val="595959"/>
                </a:solidFill>
                <a:latin typeface="Calibri"/>
              </a:rPr>
              <a:t>Der Krieg im Gazastreifen  |  Politik 10</a:t>
            </a:r>
          </a:p>
        </p:txBody>
      </p:sp>
      <p:sp>
        <p:nvSpPr>
          <p:cNvPr id="5" name="TextBox 4"/>
          <p:cNvSpPr txBox="1"/>
          <p:nvPr/>
        </p:nvSpPr>
        <p:spPr>
          <a:xfrm>
            <a:off x="10698480" y="6400800"/>
            <a:ext cx="914400" cy="274320"/>
          </a:xfrm>
          <a:prstGeom prst="rect">
            <a:avLst/>
          </a:prstGeom>
          <a:noFill/>
        </p:spPr>
        <p:txBody>
          <a:bodyPr wrap="square" anchor="t" lIns="45720" rIns="45720" tIns="27432" bIns="27432">
            <a:spAutoFit/>
          </a:bodyPr>
          <a:lstStyle/>
          <a:p>
            <a:pPr algn="r">
              <a:lnSpc>
                <a:spcPct val="100000"/>
              </a:lnSpc>
              <a:spcAft>
                <a:spcPts val="400"/>
              </a:spcAft>
            </a:pPr>
            <a:r>
              <a:rPr sz="1000" b="0" i="0" lang="de-DE">
                <a:solidFill>
                  <a:srgbClr val="595959"/>
                </a:solidFill>
                <a:latin typeface="Calibri"/>
              </a:rPr>
              <a:t>4 / 12</a:t>
            </a:r>
          </a:p>
        </p:txBody>
      </p:sp>
      <p:sp>
        <p:nvSpPr>
          <p:cNvPr id="6" name="TextBox 5"/>
          <p:cNvSpPr txBox="1"/>
          <p:nvPr/>
        </p:nvSpPr>
        <p:spPr>
          <a:xfrm>
            <a:off x="640080" y="1371600"/>
            <a:ext cx="2377440" cy="457200"/>
          </a:xfrm>
          <a:prstGeom prst="rect">
            <a:avLst/>
          </a:prstGeom>
          <a:noFill/>
        </p:spPr>
        <p:txBody>
          <a:bodyPr wrap="square" anchor="t" lIns="45720" rIns="45720" tIns="27432" bIns="27432">
            <a:spAutoFit/>
          </a:bodyPr>
          <a:lstStyle/>
          <a:p>
            <a:pPr algn="l">
              <a:lnSpc>
                <a:spcPct val="100000"/>
              </a:lnSpc>
              <a:spcAft>
                <a:spcPts val="400"/>
              </a:spcAft>
            </a:pPr>
            <a:r>
              <a:rPr sz="2000" b="1" i="0" lang="de-DE">
                <a:solidFill>
                  <a:srgbClr val="2E75B6"/>
                </a:solidFill>
                <a:latin typeface="Calibri"/>
              </a:rPr>
              <a:t>1948</a:t>
            </a:r>
          </a:p>
        </p:txBody>
      </p:sp>
      <p:sp>
        <p:nvSpPr>
          <p:cNvPr id="7" name="TextBox 6"/>
          <p:cNvSpPr txBox="1"/>
          <p:nvPr/>
        </p:nvSpPr>
        <p:spPr>
          <a:xfrm>
            <a:off x="3108960" y="1371600"/>
            <a:ext cx="8412480" cy="384048"/>
          </a:xfrm>
          <a:prstGeom prst="rect">
            <a:avLst/>
          </a:prstGeom>
          <a:noFill/>
        </p:spPr>
        <p:txBody>
          <a:bodyPr wrap="square" anchor="t" lIns="45720" rIns="45720" tIns="27432" bIns="27432">
            <a:spAutoFit/>
          </a:bodyPr>
          <a:lstStyle/>
          <a:p>
            <a:pPr algn="l">
              <a:lnSpc>
                <a:spcPct val="100000"/>
              </a:lnSpc>
              <a:spcAft>
                <a:spcPts val="400"/>
              </a:spcAft>
            </a:pPr>
            <a:r>
              <a:rPr sz="1900" b="1" i="0" lang="de-DE">
                <a:solidFill>
                  <a:srgbClr val="262626"/>
                </a:solidFill>
                <a:latin typeface="Calibri"/>
              </a:rPr>
              <a:t>Gründung Israels und Nakba</a:t>
            </a:r>
          </a:p>
        </p:txBody>
      </p:sp>
      <p:sp>
        <p:nvSpPr>
          <p:cNvPr id="8" name="TextBox 7"/>
          <p:cNvSpPr txBox="1"/>
          <p:nvPr/>
        </p:nvSpPr>
        <p:spPr>
          <a:xfrm>
            <a:off x="3108960" y="1755648"/>
            <a:ext cx="8412480" cy="457200"/>
          </a:xfrm>
          <a:prstGeom prst="rect">
            <a:avLst/>
          </a:prstGeom>
          <a:noFill/>
        </p:spPr>
        <p:txBody>
          <a:bodyPr wrap="square" anchor="t" lIns="45720" rIns="45720" tIns="27432" bIns="27432">
            <a:spAutoFit/>
          </a:bodyPr>
          <a:lstStyle/>
          <a:p>
            <a:pPr algn="l">
              <a:lnSpc>
                <a:spcPct val="100000"/>
              </a:lnSpc>
              <a:spcAft>
                <a:spcPts val="400"/>
              </a:spcAft>
            </a:pPr>
            <a:r>
              <a:rPr sz="1600" b="0" i="0" lang="de-DE">
                <a:solidFill>
                  <a:srgbClr val="595959"/>
                </a:solidFill>
                <a:latin typeface="Calibri"/>
              </a:rPr>
              <a:t>Krieg, Flucht und Vertreibung von Hunderttausenden Palästinensern</a:t>
            </a:r>
          </a:p>
        </p:txBody>
      </p:sp>
      <p:cxnSp>
        <p:nvCxnSpPr>
          <p:cNvPr id="9" name="Connector 8"/>
          <p:cNvCxnSpPr/>
          <p:nvPr/>
        </p:nvCxnSpPr>
        <p:spPr>
          <a:xfrm>
            <a:off x="640080" y="2221992"/>
            <a:ext cx="10881360" cy="0"/>
          </a:xfrm>
          <a:prstGeom prst="line">
            <a:avLst/>
          </a:prstGeom>
          <a:ln w="6350">
            <a:solidFill>
              <a:srgbClr val="BFBFBF"/>
            </a:solidFill>
          </a:ln>
        </p:spPr>
      </p:cxnSp>
      <p:sp>
        <p:nvSpPr>
          <p:cNvPr id="10" name="TextBox 9"/>
          <p:cNvSpPr txBox="1"/>
          <p:nvPr/>
        </p:nvSpPr>
        <p:spPr>
          <a:xfrm>
            <a:off x="640080" y="2267712"/>
            <a:ext cx="2377440" cy="457200"/>
          </a:xfrm>
          <a:prstGeom prst="rect">
            <a:avLst/>
          </a:prstGeom>
          <a:noFill/>
        </p:spPr>
        <p:txBody>
          <a:bodyPr wrap="square" anchor="t" lIns="45720" rIns="45720" tIns="27432" bIns="27432">
            <a:spAutoFit/>
          </a:bodyPr>
          <a:lstStyle/>
          <a:p>
            <a:pPr algn="l">
              <a:lnSpc>
                <a:spcPct val="100000"/>
              </a:lnSpc>
              <a:spcAft>
                <a:spcPts val="400"/>
              </a:spcAft>
            </a:pPr>
            <a:r>
              <a:rPr sz="2000" b="1" i="0" lang="de-DE">
                <a:solidFill>
                  <a:srgbClr val="2E75B6"/>
                </a:solidFill>
                <a:latin typeface="Calibri"/>
              </a:rPr>
              <a:t>1967</a:t>
            </a:r>
          </a:p>
        </p:txBody>
      </p:sp>
      <p:sp>
        <p:nvSpPr>
          <p:cNvPr id="11" name="TextBox 10"/>
          <p:cNvSpPr txBox="1"/>
          <p:nvPr/>
        </p:nvSpPr>
        <p:spPr>
          <a:xfrm>
            <a:off x="3108960" y="2267712"/>
            <a:ext cx="8412480" cy="384048"/>
          </a:xfrm>
          <a:prstGeom prst="rect">
            <a:avLst/>
          </a:prstGeom>
          <a:noFill/>
        </p:spPr>
        <p:txBody>
          <a:bodyPr wrap="square" anchor="t" lIns="45720" rIns="45720" tIns="27432" bIns="27432">
            <a:spAutoFit/>
          </a:bodyPr>
          <a:lstStyle/>
          <a:p>
            <a:pPr algn="l">
              <a:lnSpc>
                <a:spcPct val="100000"/>
              </a:lnSpc>
              <a:spcAft>
                <a:spcPts val="400"/>
              </a:spcAft>
            </a:pPr>
            <a:r>
              <a:rPr sz="1900" b="1" i="0" lang="de-DE">
                <a:solidFill>
                  <a:srgbClr val="262626"/>
                </a:solidFill>
                <a:latin typeface="Calibri"/>
              </a:rPr>
              <a:t>Sechstagekrieg</a:t>
            </a:r>
          </a:p>
        </p:txBody>
      </p:sp>
      <p:sp>
        <p:nvSpPr>
          <p:cNvPr id="12" name="TextBox 11"/>
          <p:cNvSpPr txBox="1"/>
          <p:nvPr/>
        </p:nvSpPr>
        <p:spPr>
          <a:xfrm>
            <a:off x="3108960" y="2651760"/>
            <a:ext cx="8412480" cy="457200"/>
          </a:xfrm>
          <a:prstGeom prst="rect">
            <a:avLst/>
          </a:prstGeom>
          <a:noFill/>
        </p:spPr>
        <p:txBody>
          <a:bodyPr wrap="square" anchor="t" lIns="45720" rIns="45720" tIns="27432" bIns="27432">
            <a:spAutoFit/>
          </a:bodyPr>
          <a:lstStyle/>
          <a:p>
            <a:pPr algn="l">
              <a:lnSpc>
                <a:spcPct val="100000"/>
              </a:lnSpc>
              <a:spcAft>
                <a:spcPts val="400"/>
              </a:spcAft>
            </a:pPr>
            <a:r>
              <a:rPr sz="1600" b="0" i="0" lang="de-DE">
                <a:solidFill>
                  <a:srgbClr val="595959"/>
                </a:solidFill>
                <a:latin typeface="Calibri"/>
              </a:rPr>
              <a:t>Israel besetzt den Gazastreifen, das Westjordanland und weitere Gebiete</a:t>
            </a:r>
          </a:p>
        </p:txBody>
      </p:sp>
      <p:cxnSp>
        <p:nvCxnSpPr>
          <p:cNvPr id="13" name="Connector 12"/>
          <p:cNvCxnSpPr/>
          <p:nvPr/>
        </p:nvCxnSpPr>
        <p:spPr>
          <a:xfrm>
            <a:off x="640080" y="3118104"/>
            <a:ext cx="10881360" cy="0"/>
          </a:xfrm>
          <a:prstGeom prst="line">
            <a:avLst/>
          </a:prstGeom>
          <a:ln w="6350">
            <a:solidFill>
              <a:srgbClr val="BFBFBF"/>
            </a:solidFill>
          </a:ln>
        </p:spPr>
      </p:cxnSp>
      <p:sp>
        <p:nvSpPr>
          <p:cNvPr id="14" name="TextBox 13"/>
          <p:cNvSpPr txBox="1"/>
          <p:nvPr/>
        </p:nvSpPr>
        <p:spPr>
          <a:xfrm>
            <a:off x="640080" y="3163824"/>
            <a:ext cx="2377440" cy="457200"/>
          </a:xfrm>
          <a:prstGeom prst="rect">
            <a:avLst/>
          </a:prstGeom>
          <a:noFill/>
        </p:spPr>
        <p:txBody>
          <a:bodyPr wrap="square" anchor="t" lIns="45720" rIns="45720" tIns="27432" bIns="27432">
            <a:spAutoFit/>
          </a:bodyPr>
          <a:lstStyle/>
          <a:p>
            <a:pPr algn="l">
              <a:lnSpc>
                <a:spcPct val="100000"/>
              </a:lnSpc>
              <a:spcAft>
                <a:spcPts val="400"/>
              </a:spcAft>
            </a:pPr>
            <a:r>
              <a:rPr sz="2000" b="1" i="0" lang="de-DE">
                <a:solidFill>
                  <a:srgbClr val="2E75B6"/>
                </a:solidFill>
                <a:latin typeface="Calibri"/>
              </a:rPr>
              <a:t>2005</a:t>
            </a:r>
          </a:p>
        </p:txBody>
      </p:sp>
      <p:sp>
        <p:nvSpPr>
          <p:cNvPr id="15" name="TextBox 14"/>
          <p:cNvSpPr txBox="1"/>
          <p:nvPr/>
        </p:nvSpPr>
        <p:spPr>
          <a:xfrm>
            <a:off x="3108960" y="3163824"/>
            <a:ext cx="8412480" cy="384048"/>
          </a:xfrm>
          <a:prstGeom prst="rect">
            <a:avLst/>
          </a:prstGeom>
          <a:noFill/>
        </p:spPr>
        <p:txBody>
          <a:bodyPr wrap="square" anchor="t" lIns="45720" rIns="45720" tIns="27432" bIns="27432">
            <a:spAutoFit/>
          </a:bodyPr>
          <a:lstStyle/>
          <a:p>
            <a:pPr algn="l">
              <a:lnSpc>
                <a:spcPct val="100000"/>
              </a:lnSpc>
              <a:spcAft>
                <a:spcPts val="400"/>
              </a:spcAft>
            </a:pPr>
            <a:r>
              <a:rPr sz="1900" b="1" i="0" lang="de-DE">
                <a:solidFill>
                  <a:srgbClr val="262626"/>
                </a:solidFill>
                <a:latin typeface="Calibri"/>
              </a:rPr>
              <a:t>Abzug aus Gaza</a:t>
            </a:r>
          </a:p>
        </p:txBody>
      </p:sp>
      <p:sp>
        <p:nvSpPr>
          <p:cNvPr id="16" name="TextBox 15"/>
          <p:cNvSpPr txBox="1"/>
          <p:nvPr/>
        </p:nvSpPr>
        <p:spPr>
          <a:xfrm>
            <a:off x="3108960" y="3547872"/>
            <a:ext cx="8412480" cy="457200"/>
          </a:xfrm>
          <a:prstGeom prst="rect">
            <a:avLst/>
          </a:prstGeom>
          <a:noFill/>
        </p:spPr>
        <p:txBody>
          <a:bodyPr wrap="square" anchor="t" lIns="45720" rIns="45720" tIns="27432" bIns="27432">
            <a:spAutoFit/>
          </a:bodyPr>
          <a:lstStyle/>
          <a:p>
            <a:pPr algn="l">
              <a:lnSpc>
                <a:spcPct val="100000"/>
              </a:lnSpc>
              <a:spcAft>
                <a:spcPts val="400"/>
              </a:spcAft>
            </a:pPr>
            <a:r>
              <a:rPr sz="1600" b="0" i="0" lang="de-DE">
                <a:solidFill>
                  <a:srgbClr val="595959"/>
                </a:solidFill>
                <a:latin typeface="Calibri"/>
              </a:rPr>
              <a:t>Israel zieht seine Soldaten ab und räumt die Siedlungen</a:t>
            </a:r>
          </a:p>
        </p:txBody>
      </p:sp>
      <p:cxnSp>
        <p:nvCxnSpPr>
          <p:cNvPr id="17" name="Connector 16"/>
          <p:cNvCxnSpPr/>
          <p:nvPr/>
        </p:nvCxnSpPr>
        <p:spPr>
          <a:xfrm>
            <a:off x="640080" y="4014215"/>
            <a:ext cx="10881360" cy="0"/>
          </a:xfrm>
          <a:prstGeom prst="line">
            <a:avLst/>
          </a:prstGeom>
          <a:ln w="6350">
            <a:solidFill>
              <a:srgbClr val="BFBFBF"/>
            </a:solidFill>
          </a:ln>
        </p:spPr>
      </p:cxnSp>
      <p:sp>
        <p:nvSpPr>
          <p:cNvPr id="18" name="TextBox 17"/>
          <p:cNvSpPr txBox="1"/>
          <p:nvPr/>
        </p:nvSpPr>
        <p:spPr>
          <a:xfrm>
            <a:off x="640080" y="4059935"/>
            <a:ext cx="2377440" cy="457200"/>
          </a:xfrm>
          <a:prstGeom prst="rect">
            <a:avLst/>
          </a:prstGeom>
          <a:noFill/>
        </p:spPr>
        <p:txBody>
          <a:bodyPr wrap="square" anchor="t" lIns="45720" rIns="45720" tIns="27432" bIns="27432">
            <a:spAutoFit/>
          </a:bodyPr>
          <a:lstStyle/>
          <a:p>
            <a:pPr algn="l">
              <a:lnSpc>
                <a:spcPct val="100000"/>
              </a:lnSpc>
              <a:spcAft>
                <a:spcPts val="400"/>
              </a:spcAft>
            </a:pPr>
            <a:r>
              <a:rPr sz="2000" b="1" i="0" lang="de-DE">
                <a:solidFill>
                  <a:srgbClr val="2E75B6"/>
                </a:solidFill>
                <a:latin typeface="Calibri"/>
              </a:rPr>
              <a:t>2007</a:t>
            </a:r>
          </a:p>
        </p:txBody>
      </p:sp>
      <p:sp>
        <p:nvSpPr>
          <p:cNvPr id="19" name="TextBox 18"/>
          <p:cNvSpPr txBox="1"/>
          <p:nvPr/>
        </p:nvSpPr>
        <p:spPr>
          <a:xfrm>
            <a:off x="3108960" y="4059935"/>
            <a:ext cx="8412480" cy="384048"/>
          </a:xfrm>
          <a:prstGeom prst="rect">
            <a:avLst/>
          </a:prstGeom>
          <a:noFill/>
        </p:spPr>
        <p:txBody>
          <a:bodyPr wrap="square" anchor="t" lIns="45720" rIns="45720" tIns="27432" bIns="27432">
            <a:spAutoFit/>
          </a:bodyPr>
          <a:lstStyle/>
          <a:p>
            <a:pPr algn="l">
              <a:lnSpc>
                <a:spcPct val="100000"/>
              </a:lnSpc>
              <a:spcAft>
                <a:spcPts val="400"/>
              </a:spcAft>
            </a:pPr>
            <a:r>
              <a:rPr sz="1900" b="1" i="0" lang="de-DE">
                <a:solidFill>
                  <a:srgbClr val="262626"/>
                </a:solidFill>
                <a:latin typeface="Calibri"/>
              </a:rPr>
              <a:t>Machtübernahme der Hamas</a:t>
            </a:r>
          </a:p>
        </p:txBody>
      </p:sp>
      <p:sp>
        <p:nvSpPr>
          <p:cNvPr id="20" name="TextBox 19"/>
          <p:cNvSpPr txBox="1"/>
          <p:nvPr/>
        </p:nvSpPr>
        <p:spPr>
          <a:xfrm>
            <a:off x="3108960" y="4443983"/>
            <a:ext cx="8412480" cy="457200"/>
          </a:xfrm>
          <a:prstGeom prst="rect">
            <a:avLst/>
          </a:prstGeom>
          <a:noFill/>
        </p:spPr>
        <p:txBody>
          <a:bodyPr wrap="square" anchor="t" lIns="45720" rIns="45720" tIns="27432" bIns="27432">
            <a:spAutoFit/>
          </a:bodyPr>
          <a:lstStyle/>
          <a:p>
            <a:pPr algn="l">
              <a:lnSpc>
                <a:spcPct val="100000"/>
              </a:lnSpc>
              <a:spcAft>
                <a:spcPts val="400"/>
              </a:spcAft>
            </a:pPr>
            <a:r>
              <a:rPr sz="1600" b="0" i="0" lang="de-DE">
                <a:solidFill>
                  <a:srgbClr val="595959"/>
                </a:solidFill>
                <a:latin typeface="Calibri"/>
              </a:rPr>
              <a:t>Die Hamas kontrolliert Gaza, Israel und Ägypten verschärfen die Blockade</a:t>
            </a:r>
          </a:p>
        </p:txBody>
      </p:sp>
      <p:cxnSp>
        <p:nvCxnSpPr>
          <p:cNvPr id="21" name="Connector 20"/>
          <p:cNvCxnSpPr/>
          <p:nvPr/>
        </p:nvCxnSpPr>
        <p:spPr>
          <a:xfrm>
            <a:off x="640080" y="4910327"/>
            <a:ext cx="10881360" cy="0"/>
          </a:xfrm>
          <a:prstGeom prst="line">
            <a:avLst/>
          </a:prstGeom>
          <a:ln w="6350">
            <a:solidFill>
              <a:srgbClr val="BFBFBF"/>
            </a:solidFill>
          </a:ln>
        </p:spPr>
      </p:cxnSp>
      <p:sp>
        <p:nvSpPr>
          <p:cNvPr id="22" name="TextBox 21"/>
          <p:cNvSpPr txBox="1"/>
          <p:nvPr/>
        </p:nvSpPr>
        <p:spPr>
          <a:xfrm>
            <a:off x="640080" y="4956048"/>
            <a:ext cx="2377440" cy="457200"/>
          </a:xfrm>
          <a:prstGeom prst="rect">
            <a:avLst/>
          </a:prstGeom>
          <a:noFill/>
        </p:spPr>
        <p:txBody>
          <a:bodyPr wrap="square" anchor="t" lIns="45720" rIns="45720" tIns="27432" bIns="27432">
            <a:spAutoFit/>
          </a:bodyPr>
          <a:lstStyle/>
          <a:p>
            <a:pPr algn="l">
              <a:lnSpc>
                <a:spcPct val="100000"/>
              </a:lnSpc>
              <a:spcAft>
                <a:spcPts val="400"/>
              </a:spcAft>
            </a:pPr>
            <a:r>
              <a:rPr sz="2000" b="1" i="0" lang="de-DE">
                <a:solidFill>
                  <a:srgbClr val="2E75B6"/>
                </a:solidFill>
                <a:latin typeface="Calibri"/>
              </a:rPr>
              <a:t>7. Oktober 2023</a:t>
            </a:r>
          </a:p>
        </p:txBody>
      </p:sp>
      <p:sp>
        <p:nvSpPr>
          <p:cNvPr id="23" name="TextBox 22"/>
          <p:cNvSpPr txBox="1"/>
          <p:nvPr/>
        </p:nvSpPr>
        <p:spPr>
          <a:xfrm>
            <a:off x="3108960" y="4956048"/>
            <a:ext cx="8412480" cy="384048"/>
          </a:xfrm>
          <a:prstGeom prst="rect">
            <a:avLst/>
          </a:prstGeom>
          <a:noFill/>
        </p:spPr>
        <p:txBody>
          <a:bodyPr wrap="square" anchor="t" lIns="45720" rIns="45720" tIns="27432" bIns="27432">
            <a:spAutoFit/>
          </a:bodyPr>
          <a:lstStyle/>
          <a:p>
            <a:pPr algn="l">
              <a:lnSpc>
                <a:spcPct val="100000"/>
              </a:lnSpc>
              <a:spcAft>
                <a:spcPts val="400"/>
              </a:spcAft>
            </a:pPr>
            <a:r>
              <a:rPr sz="1900" b="1" i="0" lang="de-DE">
                <a:solidFill>
                  <a:srgbClr val="262626"/>
                </a:solidFill>
                <a:latin typeface="Calibri"/>
              </a:rPr>
              <a:t>Terrorangriff der Hamas</a:t>
            </a:r>
          </a:p>
        </p:txBody>
      </p:sp>
      <p:sp>
        <p:nvSpPr>
          <p:cNvPr id="24" name="TextBox 23"/>
          <p:cNvSpPr txBox="1"/>
          <p:nvPr/>
        </p:nvSpPr>
        <p:spPr>
          <a:xfrm>
            <a:off x="3108960" y="5340096"/>
            <a:ext cx="8412480" cy="457200"/>
          </a:xfrm>
          <a:prstGeom prst="rect">
            <a:avLst/>
          </a:prstGeom>
          <a:noFill/>
        </p:spPr>
        <p:txBody>
          <a:bodyPr wrap="square" anchor="t" lIns="45720" rIns="45720" tIns="27432" bIns="27432">
            <a:spAutoFit/>
          </a:bodyPr>
          <a:lstStyle/>
          <a:p>
            <a:pPr algn="l">
              <a:lnSpc>
                <a:spcPct val="100000"/>
              </a:lnSpc>
              <a:spcAft>
                <a:spcPts val="400"/>
              </a:spcAft>
            </a:pPr>
            <a:r>
              <a:rPr sz="1600" b="0" i="0" lang="de-DE">
                <a:solidFill>
                  <a:srgbClr val="595959"/>
                </a:solidFill>
                <a:latin typeface="Calibri"/>
              </a:rPr>
              <a:t>Über 1.000 Tote, Geiselnahmen; Israel beginnt den Krieg in Gaza</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731520"/>
          </a:xfrm>
          <a:prstGeom prst="rect">
            <a:avLst/>
          </a:prstGeom>
          <a:noFill/>
        </p:spPr>
        <p:txBody>
          <a:bodyPr wrap="square" anchor="b" lIns="45720" rIns="45720" tIns="27432" bIns="27432">
            <a:spAutoFit/>
          </a:bodyPr>
          <a:lstStyle/>
          <a:p>
            <a:pPr algn="l">
              <a:lnSpc>
                <a:spcPct val="100000"/>
              </a:lnSpc>
              <a:spcAft>
                <a:spcPts val="400"/>
              </a:spcAft>
            </a:pPr>
            <a:r>
              <a:rPr sz="3000" b="1" i="0" lang="de-DE">
                <a:solidFill>
                  <a:srgbClr val="1F3864"/>
                </a:solidFill>
                <a:latin typeface="Calibri"/>
              </a:rPr>
              <a:t>Wer will was? Die Interessen der Beteiligten</a:t>
            </a:r>
          </a:p>
        </p:txBody>
      </p:sp>
      <p:cxnSp>
        <p:nvCxnSpPr>
          <p:cNvPr id="3" name="Connector 2"/>
          <p:cNvCxnSpPr/>
          <p:nvPr/>
        </p:nvCxnSpPr>
        <p:spPr>
          <a:xfrm>
            <a:off x="594360" y="1115568"/>
            <a:ext cx="11018520" cy="0"/>
          </a:xfrm>
          <a:prstGeom prst="line">
            <a:avLst/>
          </a:prstGeom>
          <a:ln w="19050">
            <a:solidFill>
              <a:srgbClr val="2E75B6"/>
            </a:solidFill>
          </a:ln>
        </p:spPr>
      </p:cxnSp>
      <p:sp>
        <p:nvSpPr>
          <p:cNvPr id="4" name="TextBox 3"/>
          <p:cNvSpPr txBox="1"/>
          <p:nvPr/>
        </p:nvSpPr>
        <p:spPr>
          <a:xfrm>
            <a:off x="548640" y="6400800"/>
            <a:ext cx="5486400" cy="274320"/>
          </a:xfrm>
          <a:prstGeom prst="rect">
            <a:avLst/>
          </a:prstGeom>
          <a:noFill/>
        </p:spPr>
        <p:txBody>
          <a:bodyPr wrap="square" anchor="t" lIns="45720" rIns="45720" tIns="27432" bIns="27432">
            <a:spAutoFit/>
          </a:bodyPr>
          <a:lstStyle/>
          <a:p>
            <a:pPr algn="l">
              <a:lnSpc>
                <a:spcPct val="100000"/>
              </a:lnSpc>
              <a:spcAft>
                <a:spcPts val="400"/>
              </a:spcAft>
            </a:pPr>
            <a:r>
              <a:rPr sz="1000" b="0" i="0" lang="de-DE">
                <a:solidFill>
                  <a:srgbClr val="595959"/>
                </a:solidFill>
                <a:latin typeface="Calibri"/>
              </a:rPr>
              <a:t>Der Krieg im Gazastreifen  |  Politik 10</a:t>
            </a:r>
          </a:p>
        </p:txBody>
      </p:sp>
      <p:sp>
        <p:nvSpPr>
          <p:cNvPr id="5" name="TextBox 4"/>
          <p:cNvSpPr txBox="1"/>
          <p:nvPr/>
        </p:nvSpPr>
        <p:spPr>
          <a:xfrm>
            <a:off x="10698480" y="6400800"/>
            <a:ext cx="914400" cy="274320"/>
          </a:xfrm>
          <a:prstGeom prst="rect">
            <a:avLst/>
          </a:prstGeom>
          <a:noFill/>
        </p:spPr>
        <p:txBody>
          <a:bodyPr wrap="square" anchor="t" lIns="45720" rIns="45720" tIns="27432" bIns="27432">
            <a:spAutoFit/>
          </a:bodyPr>
          <a:lstStyle/>
          <a:p>
            <a:pPr algn="r">
              <a:lnSpc>
                <a:spcPct val="100000"/>
              </a:lnSpc>
              <a:spcAft>
                <a:spcPts val="400"/>
              </a:spcAft>
            </a:pPr>
            <a:r>
              <a:rPr sz="1000" b="0" i="0" lang="de-DE">
                <a:solidFill>
                  <a:srgbClr val="595959"/>
                </a:solidFill>
                <a:latin typeface="Calibri"/>
              </a:rPr>
              <a:t>5 / 12</a:t>
            </a:r>
          </a:p>
        </p:txBody>
      </p:sp>
      <p:sp>
        <p:nvSpPr>
          <p:cNvPr id="6" name="Rectangle 5"/>
          <p:cNvSpPr/>
          <p:nvPr/>
        </p:nvSpPr>
        <p:spPr>
          <a:xfrm>
            <a:off x="640080" y="1371600"/>
            <a:ext cx="3474720" cy="594360"/>
          </a:xfrm>
          <a:prstGeom prst="rect">
            <a:avLst/>
          </a:prstGeom>
          <a:solidFill>
            <a:srgbClr val="DEEBF7"/>
          </a:solidFill>
          <a:ln>
            <a:noFill/>
          </a:ln>
        </p:spPr>
        <p:txBody>
          <a:bodyPr rtlCol="0" anchor="ctr" wrap="square"/>
          <a:lstStyle/>
          <a:p>
            <a:pPr algn="ctr"/>
          </a:p>
        </p:txBody>
      </p:sp>
      <p:sp>
        <p:nvSpPr>
          <p:cNvPr id="7" name="TextBox 6"/>
          <p:cNvSpPr txBox="1"/>
          <p:nvPr/>
        </p:nvSpPr>
        <p:spPr>
          <a:xfrm>
            <a:off x="731519" y="1371600"/>
            <a:ext cx="3291840" cy="594360"/>
          </a:xfrm>
          <a:prstGeom prst="rect">
            <a:avLst/>
          </a:prstGeom>
          <a:noFill/>
        </p:spPr>
        <p:txBody>
          <a:bodyPr wrap="square" anchor="ctr" lIns="45720" rIns="45720" tIns="27432" bIns="27432">
            <a:spAutoFit/>
          </a:bodyPr>
          <a:lstStyle/>
          <a:p>
            <a:pPr algn="l">
              <a:lnSpc>
                <a:spcPct val="100000"/>
              </a:lnSpc>
              <a:spcAft>
                <a:spcPts val="400"/>
              </a:spcAft>
            </a:pPr>
            <a:r>
              <a:rPr sz="1900" b="1" i="0" lang="de-DE">
                <a:solidFill>
                  <a:srgbClr val="1F3864"/>
                </a:solidFill>
                <a:latin typeface="Calibri"/>
              </a:rPr>
              <a:t>Israelische Regierung</a:t>
            </a:r>
          </a:p>
        </p:txBody>
      </p:sp>
      <p:sp>
        <p:nvSpPr>
          <p:cNvPr id="8" name="TextBox 7"/>
          <p:cNvSpPr txBox="1"/>
          <p:nvPr/>
        </p:nvSpPr>
        <p:spPr>
          <a:xfrm>
            <a:off x="640080" y="2194560"/>
            <a:ext cx="3474720" cy="3200400"/>
          </a:xfrm>
          <a:prstGeom prst="rect">
            <a:avLst/>
          </a:prstGeom>
          <a:noFill/>
        </p:spPr>
        <p:txBody>
          <a:bodyPr wrap="square" lIns="45720" rIns="45720" tIns="27432" bIns="27432">
            <a:spAutoFit/>
          </a:bodyPr>
          <a:lstStyle/>
          <a:p>
            <a:pPr marL="274320" indent="-274320">
              <a:lnSpc>
                <a:spcPct val="100000"/>
              </a:lnSpc>
              <a:spcAft>
                <a:spcPts val="1400"/>
              </a:spcAft>
              <a:buFont typeface="Arial"/>
              <a:buChar char="•"/>
            </a:pPr>
            <a:r>
              <a:rPr sz="1800" b="0" i="0" lang="de-DE">
                <a:solidFill>
                  <a:srgbClr val="262626"/>
                </a:solidFill>
                <a:latin typeface="Calibri"/>
              </a:rPr>
              <a:t>Sicherheit für Israel und seine Bevölkerung</a:t>
            </a:r>
          </a:p>
          <a:p>
            <a:pPr marL="274320" indent="-274320">
              <a:lnSpc>
                <a:spcPct val="100000"/>
              </a:lnSpc>
              <a:spcAft>
                <a:spcPts val="1400"/>
              </a:spcAft>
              <a:buFont typeface="Arial"/>
              <a:buChar char="•"/>
            </a:pPr>
            <a:r>
              <a:rPr sz="1800" b="0" i="0" lang="de-DE">
                <a:solidFill>
                  <a:srgbClr val="262626"/>
                </a:solidFill>
                <a:latin typeface="Calibri"/>
              </a:rPr>
              <a:t>Hamas militärisch ausschalten</a:t>
            </a:r>
          </a:p>
          <a:p>
            <a:pPr marL="274320" indent="-274320">
              <a:lnSpc>
                <a:spcPct val="100000"/>
              </a:lnSpc>
              <a:spcAft>
                <a:spcPts val="1400"/>
              </a:spcAft>
              <a:buFont typeface="Arial"/>
              <a:buChar char="•"/>
            </a:pPr>
            <a:r>
              <a:rPr sz="1800" b="0" i="0" lang="de-DE">
                <a:solidFill>
                  <a:srgbClr val="262626"/>
                </a:solidFill>
                <a:latin typeface="Calibri"/>
              </a:rPr>
              <a:t>Rückkehr der Geiseln</a:t>
            </a:r>
          </a:p>
          <a:p>
            <a:pPr marL="274320" indent="-274320">
              <a:lnSpc>
                <a:spcPct val="100000"/>
              </a:lnSpc>
              <a:spcAft>
                <a:spcPts val="1400"/>
              </a:spcAft>
              <a:buFont typeface="Arial"/>
              <a:buChar char="•"/>
            </a:pPr>
            <a:r>
              <a:rPr sz="1800" b="0" i="0" lang="de-DE">
                <a:solidFill>
                  <a:srgbClr val="262626"/>
                </a:solidFill>
                <a:latin typeface="Calibri"/>
              </a:rPr>
              <a:t>Eigene Macht erhalten</a:t>
            </a:r>
          </a:p>
        </p:txBody>
      </p:sp>
      <p:sp>
        <p:nvSpPr>
          <p:cNvPr id="9" name="Rectangle 8"/>
          <p:cNvSpPr/>
          <p:nvPr/>
        </p:nvSpPr>
        <p:spPr>
          <a:xfrm>
            <a:off x="4389120" y="1371600"/>
            <a:ext cx="3474720" cy="594360"/>
          </a:xfrm>
          <a:prstGeom prst="rect">
            <a:avLst/>
          </a:prstGeom>
          <a:solidFill>
            <a:srgbClr val="DEEBF7"/>
          </a:solidFill>
          <a:ln>
            <a:noFill/>
          </a:ln>
        </p:spPr>
        <p:txBody>
          <a:bodyPr rtlCol="0" anchor="ctr" wrap="square"/>
          <a:lstStyle/>
          <a:p>
            <a:pPr algn="ctr"/>
          </a:p>
        </p:txBody>
      </p:sp>
      <p:sp>
        <p:nvSpPr>
          <p:cNvPr id="10" name="TextBox 9"/>
          <p:cNvSpPr txBox="1"/>
          <p:nvPr/>
        </p:nvSpPr>
        <p:spPr>
          <a:xfrm>
            <a:off x="4480559" y="1371600"/>
            <a:ext cx="3291840" cy="594360"/>
          </a:xfrm>
          <a:prstGeom prst="rect">
            <a:avLst/>
          </a:prstGeom>
          <a:noFill/>
        </p:spPr>
        <p:txBody>
          <a:bodyPr wrap="square" anchor="ctr" lIns="45720" rIns="45720" tIns="27432" bIns="27432">
            <a:spAutoFit/>
          </a:bodyPr>
          <a:lstStyle/>
          <a:p>
            <a:pPr algn="l">
              <a:lnSpc>
                <a:spcPct val="100000"/>
              </a:lnSpc>
              <a:spcAft>
                <a:spcPts val="400"/>
              </a:spcAft>
            </a:pPr>
            <a:r>
              <a:rPr sz="1900" b="1" i="0" lang="de-DE">
                <a:solidFill>
                  <a:srgbClr val="1F3864"/>
                </a:solidFill>
                <a:latin typeface="Calibri"/>
              </a:rPr>
              <a:t>Palästinensische Bevölkerung</a:t>
            </a:r>
          </a:p>
        </p:txBody>
      </p:sp>
      <p:sp>
        <p:nvSpPr>
          <p:cNvPr id="11" name="TextBox 10"/>
          <p:cNvSpPr txBox="1"/>
          <p:nvPr/>
        </p:nvSpPr>
        <p:spPr>
          <a:xfrm>
            <a:off x="4389120" y="2194560"/>
            <a:ext cx="3474720" cy="3200400"/>
          </a:xfrm>
          <a:prstGeom prst="rect">
            <a:avLst/>
          </a:prstGeom>
          <a:noFill/>
        </p:spPr>
        <p:txBody>
          <a:bodyPr wrap="square" lIns="45720" rIns="45720" tIns="27432" bIns="27432">
            <a:spAutoFit/>
          </a:bodyPr>
          <a:lstStyle/>
          <a:p>
            <a:pPr marL="274320" indent="-274320">
              <a:lnSpc>
                <a:spcPct val="100000"/>
              </a:lnSpc>
              <a:spcAft>
                <a:spcPts val="1400"/>
              </a:spcAft>
              <a:buFont typeface="Arial"/>
              <a:buChar char="•"/>
            </a:pPr>
            <a:r>
              <a:rPr sz="1800" b="0" i="0" lang="de-DE">
                <a:solidFill>
                  <a:srgbClr val="262626"/>
                </a:solidFill>
                <a:latin typeface="Calibri"/>
              </a:rPr>
              <a:t>Schutz vor Gewalt und Vertreibung</a:t>
            </a:r>
          </a:p>
          <a:p>
            <a:pPr marL="274320" indent="-274320">
              <a:lnSpc>
                <a:spcPct val="100000"/>
              </a:lnSpc>
              <a:spcAft>
                <a:spcPts val="1400"/>
              </a:spcAft>
              <a:buFont typeface="Arial"/>
              <a:buChar char="•"/>
            </a:pPr>
            <a:r>
              <a:rPr sz="1800" b="0" i="0" lang="de-DE">
                <a:solidFill>
                  <a:srgbClr val="262626"/>
                </a:solidFill>
                <a:latin typeface="Calibri"/>
              </a:rPr>
              <a:t>Ende von Besatzung und Blockade</a:t>
            </a:r>
          </a:p>
          <a:p>
            <a:pPr marL="274320" indent="-274320">
              <a:lnSpc>
                <a:spcPct val="100000"/>
              </a:lnSpc>
              <a:spcAft>
                <a:spcPts val="1400"/>
              </a:spcAft>
              <a:buFont typeface="Arial"/>
              <a:buChar char="•"/>
            </a:pPr>
            <a:r>
              <a:rPr sz="1800" b="0" i="0" lang="de-DE">
                <a:solidFill>
                  <a:srgbClr val="262626"/>
                </a:solidFill>
                <a:latin typeface="Calibri"/>
              </a:rPr>
              <a:t>Eigener Staat, Bewegungsfreiheit</a:t>
            </a:r>
          </a:p>
          <a:p>
            <a:pPr marL="274320" indent="-274320">
              <a:lnSpc>
                <a:spcPct val="100000"/>
              </a:lnSpc>
              <a:spcAft>
                <a:spcPts val="1400"/>
              </a:spcAft>
              <a:buFont typeface="Arial"/>
              <a:buChar char="•"/>
            </a:pPr>
            <a:r>
              <a:rPr sz="1800" b="0" i="0" lang="de-DE">
                <a:solidFill>
                  <a:srgbClr val="262626"/>
                </a:solidFill>
                <a:latin typeface="Calibri"/>
              </a:rPr>
              <a:t>Wiederaufbau und politische Mitsprache</a:t>
            </a:r>
          </a:p>
        </p:txBody>
      </p:sp>
      <p:sp>
        <p:nvSpPr>
          <p:cNvPr id="12" name="Rectangle 11"/>
          <p:cNvSpPr/>
          <p:nvPr/>
        </p:nvSpPr>
        <p:spPr>
          <a:xfrm>
            <a:off x="8138159" y="1371600"/>
            <a:ext cx="3474720" cy="594360"/>
          </a:xfrm>
          <a:prstGeom prst="rect">
            <a:avLst/>
          </a:prstGeom>
          <a:solidFill>
            <a:srgbClr val="DEEBF7"/>
          </a:solidFill>
          <a:ln>
            <a:noFill/>
          </a:ln>
        </p:spPr>
        <p:txBody>
          <a:bodyPr rtlCol="0" anchor="ctr" wrap="square"/>
          <a:lstStyle/>
          <a:p>
            <a:pPr algn="ctr"/>
          </a:p>
        </p:txBody>
      </p:sp>
      <p:sp>
        <p:nvSpPr>
          <p:cNvPr id="13" name="TextBox 12"/>
          <p:cNvSpPr txBox="1"/>
          <p:nvPr/>
        </p:nvSpPr>
        <p:spPr>
          <a:xfrm>
            <a:off x="8229599" y="1371600"/>
            <a:ext cx="3291840" cy="594360"/>
          </a:xfrm>
          <a:prstGeom prst="rect">
            <a:avLst/>
          </a:prstGeom>
          <a:noFill/>
        </p:spPr>
        <p:txBody>
          <a:bodyPr wrap="square" anchor="ctr" lIns="45720" rIns="45720" tIns="27432" bIns="27432">
            <a:spAutoFit/>
          </a:bodyPr>
          <a:lstStyle/>
          <a:p>
            <a:pPr algn="l">
              <a:lnSpc>
                <a:spcPct val="100000"/>
              </a:lnSpc>
              <a:spcAft>
                <a:spcPts val="400"/>
              </a:spcAft>
            </a:pPr>
            <a:r>
              <a:rPr sz="1900" b="1" i="0" lang="de-DE">
                <a:solidFill>
                  <a:srgbClr val="1F3864"/>
                </a:solidFill>
                <a:latin typeface="Calibri"/>
              </a:rPr>
              <a:t>Hamas-Führung</a:t>
            </a:r>
          </a:p>
        </p:txBody>
      </p:sp>
      <p:sp>
        <p:nvSpPr>
          <p:cNvPr id="14" name="TextBox 13"/>
          <p:cNvSpPr txBox="1"/>
          <p:nvPr/>
        </p:nvSpPr>
        <p:spPr>
          <a:xfrm>
            <a:off x="8138159" y="2194560"/>
            <a:ext cx="3474720" cy="3200400"/>
          </a:xfrm>
          <a:prstGeom prst="rect">
            <a:avLst/>
          </a:prstGeom>
          <a:noFill/>
        </p:spPr>
        <p:txBody>
          <a:bodyPr wrap="square" lIns="45720" rIns="45720" tIns="27432" bIns="27432">
            <a:spAutoFit/>
          </a:bodyPr>
          <a:lstStyle/>
          <a:p>
            <a:pPr marL="274320" indent="-274320">
              <a:lnSpc>
                <a:spcPct val="100000"/>
              </a:lnSpc>
              <a:spcAft>
                <a:spcPts val="1400"/>
              </a:spcAft>
              <a:buFont typeface="Arial"/>
              <a:buChar char="•"/>
            </a:pPr>
            <a:r>
              <a:rPr sz="1800" b="0" i="0" lang="de-DE">
                <a:solidFill>
                  <a:srgbClr val="262626"/>
                </a:solidFill>
                <a:latin typeface="Calibri"/>
              </a:rPr>
              <a:t>Eigene Herrschaft in Gaza sichern</a:t>
            </a:r>
          </a:p>
          <a:p>
            <a:pPr marL="274320" indent="-274320">
              <a:lnSpc>
                <a:spcPct val="100000"/>
              </a:lnSpc>
              <a:spcAft>
                <a:spcPts val="1400"/>
              </a:spcAft>
              <a:buFont typeface="Arial"/>
              <a:buChar char="•"/>
            </a:pPr>
            <a:r>
              <a:rPr sz="1800" b="0" i="0" lang="de-DE">
                <a:solidFill>
                  <a:srgbClr val="262626"/>
                </a:solidFill>
                <a:latin typeface="Calibri"/>
              </a:rPr>
              <a:t>Bewaffneter Kampf gegen Israel</a:t>
            </a:r>
          </a:p>
          <a:p>
            <a:pPr marL="274320" indent="-274320">
              <a:lnSpc>
                <a:spcPct val="100000"/>
              </a:lnSpc>
              <a:spcAft>
                <a:spcPts val="1400"/>
              </a:spcAft>
              <a:buFont typeface="Arial"/>
              <a:buChar char="•"/>
            </a:pPr>
            <a:r>
              <a:rPr sz="1800" b="0" i="0" lang="de-DE">
                <a:solidFill>
                  <a:srgbClr val="262626"/>
                </a:solidFill>
                <a:latin typeface="Calibri"/>
              </a:rPr>
              <a:t>Islamistische Ordnung durchsetzen</a:t>
            </a:r>
          </a:p>
          <a:p>
            <a:pPr marL="274320" indent="-274320">
              <a:lnSpc>
                <a:spcPct val="100000"/>
              </a:lnSpc>
              <a:spcAft>
                <a:spcPts val="1400"/>
              </a:spcAft>
              <a:buFont typeface="Arial"/>
              <a:buChar char="•"/>
            </a:pPr>
            <a:r>
              <a:rPr sz="1800" b="0" i="0" lang="de-DE">
                <a:solidFill>
                  <a:srgbClr val="262626"/>
                </a:solidFill>
                <a:latin typeface="Calibri"/>
              </a:rPr>
              <a:t>Einfluss in der Region behalten</a:t>
            </a:r>
          </a:p>
        </p:txBody>
      </p:sp>
      <p:sp>
        <p:nvSpPr>
          <p:cNvPr id="15" name="TextBox 14"/>
          <p:cNvSpPr txBox="1"/>
          <p:nvPr/>
        </p:nvSpPr>
        <p:spPr>
          <a:xfrm>
            <a:off x="640080" y="5577840"/>
            <a:ext cx="10881360" cy="640080"/>
          </a:xfrm>
          <a:prstGeom prst="rect">
            <a:avLst/>
          </a:prstGeom>
          <a:noFill/>
        </p:spPr>
        <p:txBody>
          <a:bodyPr wrap="square" anchor="t" lIns="45720" rIns="45720" tIns="27432" bIns="27432">
            <a:spAutoFit/>
          </a:bodyPr>
          <a:lstStyle/>
          <a:p>
            <a:pPr algn="l">
              <a:lnSpc>
                <a:spcPct val="100000"/>
              </a:lnSpc>
              <a:spcAft>
                <a:spcPts val="400"/>
              </a:spcAft>
            </a:pPr>
            <a:r>
              <a:rPr sz="1400" b="0" i="1" lang="de-DE">
                <a:solidFill>
                  <a:srgbClr val="595959"/>
                </a:solidFill>
                <a:latin typeface="Calibri"/>
              </a:rPr>
              <a:t>Die Palästinensische Autonomiebehörde (PA) regiert im Westjordanland und ist nicht die Hamas. Auch innerhalb Israels und unter den Palästinensern gibt es sehr unterschiedliche Meinungen.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731520"/>
          </a:xfrm>
          <a:prstGeom prst="rect">
            <a:avLst/>
          </a:prstGeom>
          <a:noFill/>
        </p:spPr>
        <p:txBody>
          <a:bodyPr wrap="square" anchor="b" lIns="45720" rIns="45720" tIns="27432" bIns="27432">
            <a:spAutoFit/>
          </a:bodyPr>
          <a:lstStyle/>
          <a:p>
            <a:pPr algn="l">
              <a:lnSpc>
                <a:spcPct val="100000"/>
              </a:lnSpc>
              <a:spcAft>
                <a:spcPts val="400"/>
              </a:spcAft>
            </a:pPr>
            <a:r>
              <a:rPr sz="3000" b="1" i="0" lang="de-DE">
                <a:solidFill>
                  <a:srgbClr val="1F3864"/>
                </a:solidFill>
                <a:latin typeface="Calibri"/>
              </a:rPr>
              <a:t>Rechtliche Lage und Machtmittel</a:t>
            </a:r>
          </a:p>
        </p:txBody>
      </p:sp>
      <p:cxnSp>
        <p:nvCxnSpPr>
          <p:cNvPr id="3" name="Connector 2"/>
          <p:cNvCxnSpPr/>
          <p:nvPr/>
        </p:nvCxnSpPr>
        <p:spPr>
          <a:xfrm>
            <a:off x="594360" y="1115568"/>
            <a:ext cx="11018520" cy="0"/>
          </a:xfrm>
          <a:prstGeom prst="line">
            <a:avLst/>
          </a:prstGeom>
          <a:ln w="19050">
            <a:solidFill>
              <a:srgbClr val="2E75B6"/>
            </a:solidFill>
          </a:ln>
        </p:spPr>
      </p:cxnSp>
      <p:sp>
        <p:nvSpPr>
          <p:cNvPr id="4" name="TextBox 3"/>
          <p:cNvSpPr txBox="1"/>
          <p:nvPr/>
        </p:nvSpPr>
        <p:spPr>
          <a:xfrm>
            <a:off x="548640" y="6400800"/>
            <a:ext cx="5486400" cy="274320"/>
          </a:xfrm>
          <a:prstGeom prst="rect">
            <a:avLst/>
          </a:prstGeom>
          <a:noFill/>
        </p:spPr>
        <p:txBody>
          <a:bodyPr wrap="square" anchor="t" lIns="45720" rIns="45720" tIns="27432" bIns="27432">
            <a:spAutoFit/>
          </a:bodyPr>
          <a:lstStyle/>
          <a:p>
            <a:pPr algn="l">
              <a:lnSpc>
                <a:spcPct val="100000"/>
              </a:lnSpc>
              <a:spcAft>
                <a:spcPts val="400"/>
              </a:spcAft>
            </a:pPr>
            <a:r>
              <a:rPr sz="1000" b="0" i="0" lang="de-DE">
                <a:solidFill>
                  <a:srgbClr val="595959"/>
                </a:solidFill>
                <a:latin typeface="Calibri"/>
              </a:rPr>
              <a:t>Der Krieg im Gazastreifen  |  Politik 10</a:t>
            </a:r>
          </a:p>
        </p:txBody>
      </p:sp>
      <p:sp>
        <p:nvSpPr>
          <p:cNvPr id="5" name="TextBox 4"/>
          <p:cNvSpPr txBox="1"/>
          <p:nvPr/>
        </p:nvSpPr>
        <p:spPr>
          <a:xfrm>
            <a:off x="10698480" y="6400800"/>
            <a:ext cx="914400" cy="274320"/>
          </a:xfrm>
          <a:prstGeom prst="rect">
            <a:avLst/>
          </a:prstGeom>
          <a:noFill/>
        </p:spPr>
        <p:txBody>
          <a:bodyPr wrap="square" anchor="t" lIns="45720" rIns="45720" tIns="27432" bIns="27432">
            <a:spAutoFit/>
          </a:bodyPr>
          <a:lstStyle/>
          <a:p>
            <a:pPr algn="r">
              <a:lnSpc>
                <a:spcPct val="100000"/>
              </a:lnSpc>
              <a:spcAft>
                <a:spcPts val="400"/>
              </a:spcAft>
            </a:pPr>
            <a:r>
              <a:rPr sz="1000" b="0" i="0" lang="de-DE">
                <a:solidFill>
                  <a:srgbClr val="595959"/>
                </a:solidFill>
                <a:latin typeface="Calibri"/>
              </a:rPr>
              <a:t>6 / 12</a:t>
            </a:r>
          </a:p>
        </p:txBody>
      </p:sp>
      <p:sp>
        <p:nvSpPr>
          <p:cNvPr id="6" name="TextBox 5"/>
          <p:cNvSpPr txBox="1"/>
          <p:nvPr/>
        </p:nvSpPr>
        <p:spPr>
          <a:xfrm>
            <a:off x="640080" y="1371600"/>
            <a:ext cx="5303520" cy="457200"/>
          </a:xfrm>
          <a:prstGeom prst="rect">
            <a:avLst/>
          </a:prstGeom>
          <a:noFill/>
        </p:spPr>
        <p:txBody>
          <a:bodyPr wrap="square" anchor="t" lIns="45720" rIns="45720" tIns="27432" bIns="27432">
            <a:spAutoFit/>
          </a:bodyPr>
          <a:lstStyle/>
          <a:p>
            <a:pPr algn="l">
              <a:lnSpc>
                <a:spcPct val="100000"/>
              </a:lnSpc>
              <a:spcAft>
                <a:spcPts val="400"/>
              </a:spcAft>
            </a:pPr>
            <a:r>
              <a:rPr sz="2000" b="1" i="0" lang="de-DE">
                <a:solidFill>
                  <a:srgbClr val="1F3864"/>
                </a:solidFill>
                <a:latin typeface="Calibri"/>
              </a:rPr>
              <a:t>Was sagt das Recht?</a:t>
            </a:r>
          </a:p>
        </p:txBody>
      </p:sp>
      <p:sp>
        <p:nvSpPr>
          <p:cNvPr id="7" name="TextBox 6"/>
          <p:cNvSpPr txBox="1"/>
          <p:nvPr/>
        </p:nvSpPr>
        <p:spPr>
          <a:xfrm>
            <a:off x="640080" y="1920240"/>
            <a:ext cx="5303520" cy="4114800"/>
          </a:xfrm>
          <a:prstGeom prst="rect">
            <a:avLst/>
          </a:prstGeom>
          <a:noFill/>
        </p:spPr>
        <p:txBody>
          <a:bodyPr wrap="square" lIns="45720" rIns="45720" tIns="27432" bIns="27432">
            <a:spAutoFit/>
          </a:bodyPr>
          <a:lstStyle/>
          <a:p>
            <a:pPr marL="274320" indent="-274320">
              <a:lnSpc>
                <a:spcPct val="100000"/>
              </a:lnSpc>
              <a:spcAft>
                <a:spcPts val="1200"/>
              </a:spcAft>
              <a:buFont typeface="Arial"/>
              <a:buChar char="•"/>
            </a:pPr>
            <a:r>
              <a:rPr sz="1700" b="1" i="0" lang="de-DE">
                <a:solidFill>
                  <a:srgbClr val="262626"/>
                </a:solidFill>
                <a:latin typeface="Calibri"/>
              </a:rPr>
              <a:t>Art. 51 UN-Charta: </a:t>
            </a:r>
            <a:r>
              <a:rPr sz="1700" b="0" i="0" lang="de-DE">
                <a:solidFill>
                  <a:srgbClr val="262626"/>
                </a:solidFill>
                <a:latin typeface="Calibri"/>
              </a:rPr>
              <a:t>Israel beruft sich auf Selbstverteidigung (im Besatzungskontext umstritten)</a:t>
            </a:r>
          </a:p>
          <a:p>
            <a:pPr marL="274320" indent="-274320">
              <a:lnSpc>
                <a:spcPct val="100000"/>
              </a:lnSpc>
              <a:spcAft>
                <a:spcPts val="1200"/>
              </a:spcAft>
              <a:buFont typeface="Arial"/>
              <a:buChar char="•"/>
            </a:pPr>
            <a:r>
              <a:rPr sz="1700" b="1" i="0" lang="de-DE">
                <a:solidFill>
                  <a:srgbClr val="262626"/>
                </a:solidFill>
                <a:latin typeface="Calibri"/>
              </a:rPr>
              <a:t>Humanitäres Völkerrecht: </a:t>
            </a:r>
            <a:r>
              <a:rPr sz="1700" b="0" i="0" lang="de-DE">
                <a:solidFill>
                  <a:srgbClr val="262626"/>
                </a:solidFill>
                <a:latin typeface="Calibri"/>
              </a:rPr>
              <a:t>gilt für alle; Zivilisten schützen, Geiselnahmen sind verboten</a:t>
            </a:r>
          </a:p>
          <a:p>
            <a:pPr marL="274320" indent="-274320">
              <a:lnSpc>
                <a:spcPct val="100000"/>
              </a:lnSpc>
              <a:spcAft>
                <a:spcPts val="1200"/>
              </a:spcAft>
              <a:buFont typeface="Arial"/>
              <a:buChar char="•"/>
            </a:pPr>
            <a:r>
              <a:rPr sz="1700" b="1" i="0" lang="de-DE">
                <a:solidFill>
                  <a:srgbClr val="262626"/>
                </a:solidFill>
                <a:latin typeface="Calibri"/>
              </a:rPr>
              <a:t>IGH (Staaten): </a:t>
            </a:r>
            <a:r>
              <a:rPr sz="1700" b="0" i="0" lang="de-DE">
                <a:solidFill>
                  <a:srgbClr val="262626"/>
                </a:solidFill>
                <a:latin typeface="Calibri"/>
              </a:rPr>
              <a:t>Verfahren Südafrika gegen Israel, vorläufige Maßnahmen 2024</a:t>
            </a:r>
          </a:p>
          <a:p>
            <a:pPr marL="274320" indent="-274320">
              <a:lnSpc>
                <a:spcPct val="100000"/>
              </a:lnSpc>
              <a:spcAft>
                <a:spcPts val="1200"/>
              </a:spcAft>
              <a:buFont typeface="Arial"/>
              <a:buChar char="•"/>
            </a:pPr>
            <a:r>
              <a:rPr sz="1700" b="1" i="0" lang="de-DE">
                <a:solidFill>
                  <a:srgbClr val="262626"/>
                </a:solidFill>
                <a:latin typeface="Calibri"/>
              </a:rPr>
              <a:t>IStGH (Personen): </a:t>
            </a:r>
            <a:r>
              <a:rPr sz="1700" b="0" i="0" lang="de-DE">
                <a:solidFill>
                  <a:srgbClr val="262626"/>
                </a:solidFill>
                <a:latin typeface="Calibri"/>
              </a:rPr>
              <a:t>Haftbefehle 2024 gegen Netanjahu, Gallant und Hamas-Kommandeur Deif</a:t>
            </a:r>
          </a:p>
          <a:p>
            <a:pPr marL="548640" indent="-274320">
              <a:lnSpc>
                <a:spcPct val="100000"/>
              </a:lnSpc>
              <a:spcAft>
                <a:spcPts val="719"/>
              </a:spcAft>
              <a:buFont typeface="Arial"/>
              <a:buChar char="–"/>
            </a:pPr>
            <a:r>
              <a:rPr sz="1500" b="0" i="0" lang="de-DE">
                <a:solidFill>
                  <a:srgbClr val="262626"/>
                </a:solidFill>
                <a:latin typeface="Calibri"/>
              </a:rPr>
              <a:t>Haftbefehle und Eilmaßnahmen sind noch keine Urteile</a:t>
            </a:r>
          </a:p>
        </p:txBody>
      </p:sp>
      <p:cxnSp>
        <p:nvCxnSpPr>
          <p:cNvPr id="8" name="Connector 7"/>
          <p:cNvCxnSpPr/>
          <p:nvPr/>
        </p:nvCxnSpPr>
        <p:spPr>
          <a:xfrm>
            <a:off x="6172200" y="1417320"/>
            <a:ext cx="0" cy="4434840"/>
          </a:xfrm>
          <a:prstGeom prst="line">
            <a:avLst/>
          </a:prstGeom>
          <a:ln w="9525">
            <a:solidFill>
              <a:srgbClr val="BFBFBF"/>
            </a:solidFill>
          </a:ln>
        </p:spPr>
      </p:cxnSp>
      <p:sp>
        <p:nvSpPr>
          <p:cNvPr id="9" name="TextBox 8"/>
          <p:cNvSpPr txBox="1"/>
          <p:nvPr/>
        </p:nvSpPr>
        <p:spPr>
          <a:xfrm>
            <a:off x="6400800" y="1371600"/>
            <a:ext cx="5303520" cy="457200"/>
          </a:xfrm>
          <a:prstGeom prst="rect">
            <a:avLst/>
          </a:prstGeom>
          <a:noFill/>
        </p:spPr>
        <p:txBody>
          <a:bodyPr wrap="square" anchor="t" lIns="45720" rIns="45720" tIns="27432" bIns="27432">
            <a:spAutoFit/>
          </a:bodyPr>
          <a:lstStyle/>
          <a:p>
            <a:pPr algn="l">
              <a:lnSpc>
                <a:spcPct val="100000"/>
              </a:lnSpc>
              <a:spcAft>
                <a:spcPts val="400"/>
              </a:spcAft>
            </a:pPr>
            <a:r>
              <a:rPr sz="2000" b="1" i="0" lang="de-DE">
                <a:solidFill>
                  <a:srgbClr val="1F3864"/>
                </a:solidFill>
                <a:latin typeface="Calibri"/>
              </a:rPr>
              <a:t>Welche Mittel haben die Parteien?</a:t>
            </a:r>
          </a:p>
        </p:txBody>
      </p:sp>
      <p:sp>
        <p:nvSpPr>
          <p:cNvPr id="10" name="TextBox 9"/>
          <p:cNvSpPr txBox="1"/>
          <p:nvPr/>
        </p:nvSpPr>
        <p:spPr>
          <a:xfrm>
            <a:off x="6400800" y="1920240"/>
            <a:ext cx="5303520" cy="4114800"/>
          </a:xfrm>
          <a:prstGeom prst="rect">
            <a:avLst/>
          </a:prstGeom>
          <a:noFill/>
        </p:spPr>
        <p:txBody>
          <a:bodyPr wrap="square" lIns="45720" rIns="45720" tIns="27432" bIns="27432">
            <a:spAutoFit/>
          </a:bodyPr>
          <a:lstStyle/>
          <a:p>
            <a:pPr marL="274320" indent="-274320">
              <a:lnSpc>
                <a:spcPct val="100000"/>
              </a:lnSpc>
              <a:spcAft>
                <a:spcPts val="1200"/>
              </a:spcAft>
              <a:buFont typeface="Arial"/>
              <a:buChar char="•"/>
            </a:pPr>
            <a:r>
              <a:rPr sz="1700" b="1" i="0" lang="de-DE">
                <a:solidFill>
                  <a:srgbClr val="262626"/>
                </a:solidFill>
                <a:latin typeface="Calibri"/>
              </a:rPr>
              <a:t>Israel: </a:t>
            </a:r>
            <a:r>
              <a:rPr sz="1700" b="0" i="0" lang="de-DE">
                <a:solidFill>
                  <a:srgbClr val="262626"/>
                </a:solidFill>
                <a:latin typeface="Calibri"/>
              </a:rPr>
              <a:t>moderne Armee, Luftwaffe, Raketenabwehr; Waffen und Geld vor allem aus den USA</a:t>
            </a:r>
          </a:p>
          <a:p>
            <a:pPr marL="274320" indent="-274320">
              <a:lnSpc>
                <a:spcPct val="100000"/>
              </a:lnSpc>
              <a:spcAft>
                <a:spcPts val="1200"/>
              </a:spcAft>
              <a:buFont typeface="Arial"/>
              <a:buChar char="•"/>
            </a:pPr>
            <a:r>
              <a:rPr sz="1700" b="1" i="0" lang="de-DE">
                <a:solidFill>
                  <a:srgbClr val="262626"/>
                </a:solidFill>
                <a:latin typeface="Calibri"/>
              </a:rPr>
              <a:t>Hamas / Islamischer Dschihad: </a:t>
            </a:r>
            <a:r>
              <a:rPr sz="1700" b="0" i="0" lang="de-DE">
                <a:solidFill>
                  <a:srgbClr val="262626"/>
                </a:solidFill>
                <a:latin typeface="Calibri"/>
              </a:rPr>
              <a:t>Raketen, Tunnelsystem, Guerilla-Taktik, Geiseln als Druckmittel</a:t>
            </a:r>
          </a:p>
          <a:p>
            <a:pPr marL="274320" indent="-274320">
              <a:lnSpc>
                <a:spcPct val="100000"/>
              </a:lnSpc>
              <a:spcAft>
                <a:spcPts val="1200"/>
              </a:spcAft>
              <a:buFont typeface="Arial"/>
              <a:buChar char="•"/>
            </a:pPr>
            <a:r>
              <a:rPr sz="1700" b="1" i="0" lang="de-DE">
                <a:solidFill>
                  <a:srgbClr val="262626"/>
                </a:solidFill>
                <a:latin typeface="Calibri"/>
              </a:rPr>
              <a:t>Iran: </a:t>
            </a:r>
            <a:r>
              <a:rPr sz="1700" b="0" i="0" lang="de-DE">
                <a:solidFill>
                  <a:srgbClr val="262626"/>
                </a:solidFill>
                <a:latin typeface="Calibri"/>
              </a:rPr>
              <a:t>Geld, Waffen und Ausbildung für Hamas, Hisbollah und Huthi</a:t>
            </a:r>
          </a:p>
          <a:p>
            <a:pPr marL="274320" indent="-274320">
              <a:lnSpc>
                <a:spcPct val="100000"/>
              </a:lnSpc>
              <a:spcAft>
                <a:spcPts val="1200"/>
              </a:spcAft>
              <a:buFont typeface="Arial"/>
              <a:buChar char="•"/>
            </a:pPr>
            <a:r>
              <a:rPr sz="1700" b="1" i="0" lang="de-DE">
                <a:solidFill>
                  <a:srgbClr val="262626"/>
                </a:solidFill>
                <a:latin typeface="Calibri"/>
              </a:rPr>
              <a:t>Katar: </a:t>
            </a:r>
            <a:r>
              <a:rPr sz="1700" b="0" i="0" lang="de-DE">
                <a:solidFill>
                  <a:srgbClr val="262626"/>
                </a:solidFill>
                <a:latin typeface="Calibri"/>
              </a:rPr>
              <a:t>Kontakte zur Hamas, Hilfsgelder, Vermittler bei Verhandlungen</a:t>
            </a:r>
          </a:p>
          <a:p>
            <a:pPr marL="274320" indent="-274320">
              <a:lnSpc>
                <a:spcPct val="100000"/>
              </a:lnSpc>
              <a:spcAft>
                <a:spcPts val="1200"/>
              </a:spcAft>
              <a:buFont typeface="Arial"/>
              <a:buChar char="•"/>
            </a:pPr>
            <a:r>
              <a:rPr sz="1700" b="1" i="0" lang="de-DE">
                <a:solidFill>
                  <a:srgbClr val="262626"/>
                </a:solidFill>
                <a:latin typeface="Calibri"/>
              </a:rPr>
              <a:t>Ägypten und USA: </a:t>
            </a:r>
            <a:r>
              <a:rPr sz="1700" b="0" i="0" lang="de-DE">
                <a:solidFill>
                  <a:srgbClr val="262626"/>
                </a:solidFill>
                <a:latin typeface="Calibri"/>
              </a:rPr>
              <a:t>Vermittler, kontrollieren Grenzen bzw. Waffenlieferungen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731520"/>
          </a:xfrm>
          <a:prstGeom prst="rect">
            <a:avLst/>
          </a:prstGeom>
          <a:noFill/>
        </p:spPr>
        <p:txBody>
          <a:bodyPr wrap="square" anchor="b" lIns="45720" rIns="45720" tIns="27432" bIns="27432">
            <a:spAutoFit/>
          </a:bodyPr>
          <a:lstStyle/>
          <a:p>
            <a:pPr algn="l">
              <a:lnSpc>
                <a:spcPct val="100000"/>
              </a:lnSpc>
              <a:spcAft>
                <a:spcPts val="400"/>
              </a:spcAft>
            </a:pPr>
            <a:r>
              <a:rPr sz="3000" b="1" i="0" lang="de-DE">
                <a:solidFill>
                  <a:srgbClr val="1F3864"/>
                </a:solidFill>
                <a:latin typeface="Calibri"/>
              </a:rPr>
              <a:t>Verlauf des Krieges und Ausmaß der Zerstörung</a:t>
            </a:r>
          </a:p>
        </p:txBody>
      </p:sp>
      <p:cxnSp>
        <p:nvCxnSpPr>
          <p:cNvPr id="3" name="Connector 2"/>
          <p:cNvCxnSpPr/>
          <p:nvPr/>
        </p:nvCxnSpPr>
        <p:spPr>
          <a:xfrm>
            <a:off x="594360" y="1115568"/>
            <a:ext cx="11018520" cy="0"/>
          </a:xfrm>
          <a:prstGeom prst="line">
            <a:avLst/>
          </a:prstGeom>
          <a:ln w="19050">
            <a:solidFill>
              <a:srgbClr val="2E75B6"/>
            </a:solidFill>
          </a:ln>
        </p:spPr>
      </p:cxnSp>
      <p:sp>
        <p:nvSpPr>
          <p:cNvPr id="4" name="TextBox 3"/>
          <p:cNvSpPr txBox="1"/>
          <p:nvPr/>
        </p:nvSpPr>
        <p:spPr>
          <a:xfrm>
            <a:off x="548640" y="6400800"/>
            <a:ext cx="5486400" cy="274320"/>
          </a:xfrm>
          <a:prstGeom prst="rect">
            <a:avLst/>
          </a:prstGeom>
          <a:noFill/>
        </p:spPr>
        <p:txBody>
          <a:bodyPr wrap="square" anchor="t" lIns="45720" rIns="45720" tIns="27432" bIns="27432">
            <a:spAutoFit/>
          </a:bodyPr>
          <a:lstStyle/>
          <a:p>
            <a:pPr algn="l">
              <a:lnSpc>
                <a:spcPct val="100000"/>
              </a:lnSpc>
              <a:spcAft>
                <a:spcPts val="400"/>
              </a:spcAft>
            </a:pPr>
            <a:r>
              <a:rPr sz="1000" b="0" i="0" lang="de-DE">
                <a:solidFill>
                  <a:srgbClr val="595959"/>
                </a:solidFill>
                <a:latin typeface="Calibri"/>
              </a:rPr>
              <a:t>Der Krieg im Gazastreifen  |  Politik 10</a:t>
            </a:r>
          </a:p>
        </p:txBody>
      </p:sp>
      <p:sp>
        <p:nvSpPr>
          <p:cNvPr id="5" name="TextBox 4"/>
          <p:cNvSpPr txBox="1"/>
          <p:nvPr/>
        </p:nvSpPr>
        <p:spPr>
          <a:xfrm>
            <a:off x="10698480" y="6400800"/>
            <a:ext cx="914400" cy="274320"/>
          </a:xfrm>
          <a:prstGeom prst="rect">
            <a:avLst/>
          </a:prstGeom>
          <a:noFill/>
        </p:spPr>
        <p:txBody>
          <a:bodyPr wrap="square" anchor="t" lIns="45720" rIns="45720" tIns="27432" bIns="27432">
            <a:spAutoFit/>
          </a:bodyPr>
          <a:lstStyle/>
          <a:p>
            <a:pPr algn="r">
              <a:lnSpc>
                <a:spcPct val="100000"/>
              </a:lnSpc>
              <a:spcAft>
                <a:spcPts val="400"/>
              </a:spcAft>
            </a:pPr>
            <a:r>
              <a:rPr sz="1000" b="0" i="0" lang="de-DE">
                <a:solidFill>
                  <a:srgbClr val="595959"/>
                </a:solidFill>
                <a:latin typeface="Calibri"/>
              </a:rPr>
              <a:t>7 / 12</a:t>
            </a:r>
          </a:p>
        </p:txBody>
      </p:sp>
      <p:sp>
        <p:nvSpPr>
          <p:cNvPr id="6" name="TextBox 5"/>
          <p:cNvSpPr txBox="1"/>
          <p:nvPr/>
        </p:nvSpPr>
        <p:spPr>
          <a:xfrm>
            <a:off x="640080" y="1325880"/>
            <a:ext cx="5760720" cy="2103120"/>
          </a:xfrm>
          <a:prstGeom prst="rect">
            <a:avLst/>
          </a:prstGeom>
          <a:noFill/>
        </p:spPr>
        <p:txBody>
          <a:bodyPr wrap="square" lIns="45720" rIns="45720" tIns="27432" bIns="27432">
            <a:spAutoFit/>
          </a:bodyPr>
          <a:lstStyle/>
          <a:p>
            <a:pPr marL="274320" indent="-274320">
              <a:lnSpc>
                <a:spcPct val="100000"/>
              </a:lnSpc>
              <a:spcAft>
                <a:spcPts val="600"/>
              </a:spcAft>
              <a:buFont typeface="Arial"/>
              <a:buChar char="•"/>
            </a:pPr>
            <a:r>
              <a:rPr sz="1500" b="1" i="0" lang="de-DE">
                <a:solidFill>
                  <a:srgbClr val="262626"/>
                </a:solidFill>
                <a:latin typeface="Calibri"/>
              </a:rPr>
              <a:t>7. Oktober 2023: </a:t>
            </a:r>
            <a:r>
              <a:rPr sz="1500" b="0" i="0" lang="de-DE">
                <a:solidFill>
                  <a:srgbClr val="262626"/>
                </a:solidFill>
                <a:latin typeface="Calibri"/>
              </a:rPr>
              <a:t>Angriff der Hamas, danach israelische Luftangriffe</a:t>
            </a:r>
          </a:p>
          <a:p>
            <a:pPr marL="274320" indent="-274320">
              <a:lnSpc>
                <a:spcPct val="100000"/>
              </a:lnSpc>
              <a:spcAft>
                <a:spcPts val="600"/>
              </a:spcAft>
              <a:buFont typeface="Arial"/>
              <a:buChar char="•"/>
            </a:pPr>
            <a:r>
              <a:rPr sz="1500" b="1" i="0" lang="de-DE">
                <a:solidFill>
                  <a:srgbClr val="262626"/>
                </a:solidFill>
                <a:latin typeface="Calibri"/>
              </a:rPr>
              <a:t>ab Ende Oktober 2023: </a:t>
            </a:r>
            <a:r>
              <a:rPr sz="1500" b="0" i="0" lang="de-DE">
                <a:solidFill>
                  <a:srgbClr val="262626"/>
                </a:solidFill>
                <a:latin typeface="Calibri"/>
              </a:rPr>
              <a:t>Bodenoffensive der israelischen Armee</a:t>
            </a:r>
          </a:p>
          <a:p>
            <a:pPr marL="274320" indent="-274320">
              <a:lnSpc>
                <a:spcPct val="100000"/>
              </a:lnSpc>
              <a:spcAft>
                <a:spcPts val="600"/>
              </a:spcAft>
              <a:buFont typeface="Arial"/>
              <a:buChar char="•"/>
            </a:pPr>
            <a:r>
              <a:rPr sz="1500" b="1" i="0" lang="de-DE">
                <a:solidFill>
                  <a:srgbClr val="262626"/>
                </a:solidFill>
                <a:latin typeface="Calibri"/>
              </a:rPr>
              <a:t>2024/2025: </a:t>
            </a:r>
            <a:r>
              <a:rPr sz="1500" b="0" i="0" lang="de-DE">
                <a:solidFill>
                  <a:srgbClr val="262626"/>
                </a:solidFill>
                <a:latin typeface="Calibri"/>
              </a:rPr>
              <a:t>Ausweitung auf Libanon (Hisbollah), Jemen (Huthi) und Iran</a:t>
            </a:r>
          </a:p>
          <a:p>
            <a:pPr marL="274320" indent="-274320">
              <a:lnSpc>
                <a:spcPct val="100000"/>
              </a:lnSpc>
              <a:spcAft>
                <a:spcPts val="600"/>
              </a:spcAft>
              <a:buFont typeface="Arial"/>
              <a:buChar char="•"/>
            </a:pPr>
            <a:r>
              <a:rPr sz="1500" b="1" i="0" lang="de-DE">
                <a:solidFill>
                  <a:srgbClr val="262626"/>
                </a:solidFill>
                <a:latin typeface="Calibri"/>
              </a:rPr>
              <a:t>seit Oktober 2025: </a:t>
            </a:r>
            <a:r>
              <a:rPr sz="1500" b="0" i="0" lang="de-DE">
                <a:solidFill>
                  <a:srgbClr val="262626"/>
                </a:solidFill>
                <a:latin typeface="Calibri"/>
              </a:rPr>
              <a:t>Waffenruhe, die immer wieder verletzt wird</a:t>
            </a:r>
          </a:p>
        </p:txBody>
      </p:sp>
      <p:graphicFrame>
        <p:nvGraphicFramePr>
          <p:cNvPr id="7" name="Chart 6"/>
          <p:cNvGraphicFramePr>
            <a:graphicFrameLocks noGrp="1"/>
          </p:cNvGraphicFramePr>
          <p:nvPr/>
        </p:nvGraphicFramePr>
        <p:xfrm>
          <a:off x="548640" y="3246120"/>
          <a:ext cx="5943600" cy="2651760"/>
        </p:xfrm>
        <a:graphic>
          <a:graphicData uri="http://schemas.openxmlformats.org/drawingml/2006/chart">
            <c:chart xmlns:c="http://schemas.openxmlformats.org/drawingml/2006/chart" r:id="rId2"/>
          </a:graphicData>
        </a:graphic>
      </p:graphicFrame>
      <p:sp>
        <p:nvSpPr>
          <p:cNvPr id="8" name="TextBox 7"/>
          <p:cNvSpPr txBox="1"/>
          <p:nvPr/>
        </p:nvSpPr>
        <p:spPr>
          <a:xfrm>
            <a:off x="640080" y="5897880"/>
            <a:ext cx="5852160" cy="274320"/>
          </a:xfrm>
          <a:prstGeom prst="rect">
            <a:avLst/>
          </a:prstGeom>
          <a:noFill/>
        </p:spPr>
        <p:txBody>
          <a:bodyPr wrap="square" anchor="t" lIns="45720" rIns="45720" tIns="27432" bIns="27432">
            <a:spAutoFit/>
          </a:bodyPr>
          <a:lstStyle/>
          <a:p>
            <a:pPr algn="l">
              <a:lnSpc>
                <a:spcPct val="100000"/>
              </a:lnSpc>
              <a:spcAft>
                <a:spcPts val="400"/>
              </a:spcAft>
            </a:pPr>
            <a:r>
              <a:rPr sz="1000" b="0" i="1" lang="de-DE">
                <a:solidFill>
                  <a:srgbClr val="595959"/>
                </a:solidFill>
                <a:latin typeface="Calibri"/>
              </a:rPr>
              <a:t>Quelle: UNOSAT, Satellitenauswertung vom 8. Juli 2025 (vorläufig, nicht vor Ort geprüft)</a:t>
            </a:r>
          </a:p>
        </p:txBody>
      </p:sp>
      <p:pic>
        <p:nvPicPr>
          <p:cNvPr id="9" name="Picture 8" descr="damage_governorates.png"/>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675120" y="1472184"/>
            <a:ext cx="5029200" cy="3822192"/>
          </a:xfrm>
          <a:prstGeom prst="rect">
            <a:avLst/>
          </a:prstGeom>
        </p:spPr>
      </p:pic>
      <p:sp>
        <p:nvSpPr>
          <p:cNvPr id="10" name="TextBox 9"/>
          <p:cNvSpPr txBox="1"/>
          <p:nvPr/>
        </p:nvSpPr>
        <p:spPr>
          <a:xfrm>
            <a:off x="6675120" y="5440680"/>
            <a:ext cx="5029200" cy="365760"/>
          </a:xfrm>
          <a:prstGeom prst="rect">
            <a:avLst/>
          </a:prstGeom>
          <a:noFill/>
        </p:spPr>
        <p:txBody>
          <a:bodyPr wrap="square" anchor="t" lIns="45720" rIns="45720" tIns="27432" bIns="27432">
            <a:spAutoFit/>
          </a:bodyPr>
          <a:lstStyle/>
          <a:p>
            <a:pPr algn="l">
              <a:lnSpc>
                <a:spcPct val="100000"/>
              </a:lnSpc>
              <a:spcAft>
                <a:spcPts val="400"/>
              </a:spcAft>
            </a:pPr>
            <a:r>
              <a:rPr sz="1300" b="1" i="0" lang="de-DE">
                <a:solidFill>
                  <a:srgbClr val="262626"/>
                </a:solidFill>
                <a:latin typeface="Calibri"/>
              </a:rPr>
              <a:t>Betroffene Gebäude je Gouvernement</a:t>
            </a:r>
          </a:p>
        </p:txBody>
      </p:sp>
      <p:sp>
        <p:nvSpPr>
          <p:cNvPr id="11" name="TextBox 10"/>
          <p:cNvSpPr txBox="1"/>
          <p:nvPr/>
        </p:nvSpPr>
        <p:spPr>
          <a:xfrm>
            <a:off x="6675120" y="5760720"/>
            <a:ext cx="5029200" cy="274320"/>
          </a:xfrm>
          <a:prstGeom prst="rect">
            <a:avLst/>
          </a:prstGeom>
          <a:noFill/>
        </p:spPr>
        <p:txBody>
          <a:bodyPr wrap="square" anchor="t" lIns="45720" rIns="45720" tIns="27432" bIns="27432">
            <a:spAutoFit/>
          </a:bodyPr>
          <a:lstStyle/>
          <a:p>
            <a:pPr algn="l">
              <a:lnSpc>
                <a:spcPct val="100000"/>
              </a:lnSpc>
              <a:spcAft>
                <a:spcPts val="400"/>
              </a:spcAft>
            </a:pPr>
            <a:r>
              <a:rPr sz="1000" b="0" i="1" lang="de-DE">
                <a:solidFill>
                  <a:srgbClr val="595959"/>
                </a:solidFill>
                <a:latin typeface="Calibri"/>
              </a:rPr>
              <a:t>Absolute Zahlen, keine Prozentangaben. Quelle: UNOSAT, Stand 8.7.2025; eigene Karte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731520"/>
          </a:xfrm>
          <a:prstGeom prst="rect">
            <a:avLst/>
          </a:prstGeom>
          <a:noFill/>
        </p:spPr>
        <p:txBody>
          <a:bodyPr wrap="square" anchor="b" lIns="45720" rIns="45720" tIns="27432" bIns="27432">
            <a:spAutoFit/>
          </a:bodyPr>
          <a:lstStyle/>
          <a:p>
            <a:pPr algn="l">
              <a:lnSpc>
                <a:spcPct val="100000"/>
              </a:lnSpc>
              <a:spcAft>
                <a:spcPts val="400"/>
              </a:spcAft>
            </a:pPr>
            <a:r>
              <a:rPr sz="3000" b="1" i="0" lang="de-DE">
                <a:solidFill>
                  <a:srgbClr val="1F3864"/>
                </a:solidFill>
                <a:latin typeface="Calibri"/>
              </a:rPr>
              <a:t>Welcher Kriegstyp ist das? Einordnung nach AKUF</a:t>
            </a:r>
          </a:p>
        </p:txBody>
      </p:sp>
      <p:cxnSp>
        <p:nvCxnSpPr>
          <p:cNvPr id="3" name="Connector 2"/>
          <p:cNvCxnSpPr/>
          <p:nvPr/>
        </p:nvCxnSpPr>
        <p:spPr>
          <a:xfrm>
            <a:off x="594360" y="1115568"/>
            <a:ext cx="11018520" cy="0"/>
          </a:xfrm>
          <a:prstGeom prst="line">
            <a:avLst/>
          </a:prstGeom>
          <a:ln w="19050">
            <a:solidFill>
              <a:srgbClr val="2E75B6"/>
            </a:solidFill>
          </a:ln>
        </p:spPr>
      </p:cxnSp>
      <p:sp>
        <p:nvSpPr>
          <p:cNvPr id="4" name="TextBox 3"/>
          <p:cNvSpPr txBox="1"/>
          <p:nvPr/>
        </p:nvSpPr>
        <p:spPr>
          <a:xfrm>
            <a:off x="548640" y="6400800"/>
            <a:ext cx="5486400" cy="274320"/>
          </a:xfrm>
          <a:prstGeom prst="rect">
            <a:avLst/>
          </a:prstGeom>
          <a:noFill/>
        </p:spPr>
        <p:txBody>
          <a:bodyPr wrap="square" anchor="t" lIns="45720" rIns="45720" tIns="27432" bIns="27432">
            <a:spAutoFit/>
          </a:bodyPr>
          <a:lstStyle/>
          <a:p>
            <a:pPr algn="l">
              <a:lnSpc>
                <a:spcPct val="100000"/>
              </a:lnSpc>
              <a:spcAft>
                <a:spcPts val="400"/>
              </a:spcAft>
            </a:pPr>
            <a:r>
              <a:rPr sz="1000" b="0" i="0" lang="de-DE">
                <a:solidFill>
                  <a:srgbClr val="595959"/>
                </a:solidFill>
                <a:latin typeface="Calibri"/>
              </a:rPr>
              <a:t>Der Krieg im Gazastreifen  |  Politik 10</a:t>
            </a:r>
          </a:p>
        </p:txBody>
      </p:sp>
      <p:sp>
        <p:nvSpPr>
          <p:cNvPr id="5" name="TextBox 4"/>
          <p:cNvSpPr txBox="1"/>
          <p:nvPr/>
        </p:nvSpPr>
        <p:spPr>
          <a:xfrm>
            <a:off x="10698480" y="6400800"/>
            <a:ext cx="914400" cy="274320"/>
          </a:xfrm>
          <a:prstGeom prst="rect">
            <a:avLst/>
          </a:prstGeom>
          <a:noFill/>
        </p:spPr>
        <p:txBody>
          <a:bodyPr wrap="square" anchor="t" lIns="45720" rIns="45720" tIns="27432" bIns="27432">
            <a:spAutoFit/>
          </a:bodyPr>
          <a:lstStyle/>
          <a:p>
            <a:pPr algn="r">
              <a:lnSpc>
                <a:spcPct val="100000"/>
              </a:lnSpc>
              <a:spcAft>
                <a:spcPts val="400"/>
              </a:spcAft>
            </a:pPr>
            <a:r>
              <a:rPr sz="1000" b="0" i="0" lang="de-DE">
                <a:solidFill>
                  <a:srgbClr val="595959"/>
                </a:solidFill>
                <a:latin typeface="Calibri"/>
              </a:rPr>
              <a:t>8 / 12</a:t>
            </a:r>
          </a:p>
        </p:txBody>
      </p:sp>
      <p:sp>
        <p:nvSpPr>
          <p:cNvPr id="6" name="TextBox 5"/>
          <p:cNvSpPr txBox="1"/>
          <p:nvPr/>
        </p:nvSpPr>
        <p:spPr>
          <a:xfrm>
            <a:off x="640080" y="1371600"/>
            <a:ext cx="5303520" cy="457200"/>
          </a:xfrm>
          <a:prstGeom prst="rect">
            <a:avLst/>
          </a:prstGeom>
          <a:noFill/>
        </p:spPr>
        <p:txBody>
          <a:bodyPr wrap="square" anchor="t" lIns="45720" rIns="45720" tIns="27432" bIns="27432">
            <a:spAutoFit/>
          </a:bodyPr>
          <a:lstStyle/>
          <a:p>
            <a:pPr algn="l">
              <a:lnSpc>
                <a:spcPct val="100000"/>
              </a:lnSpc>
              <a:spcAft>
                <a:spcPts val="400"/>
              </a:spcAft>
            </a:pPr>
            <a:r>
              <a:rPr sz="2000" b="1" i="0" lang="de-DE">
                <a:solidFill>
                  <a:srgbClr val="1F3864"/>
                </a:solidFill>
                <a:latin typeface="Calibri"/>
              </a:rPr>
              <a:t>Die fünf Kriegstypen nach AKUF</a:t>
            </a:r>
          </a:p>
        </p:txBody>
      </p:sp>
      <p:sp>
        <p:nvSpPr>
          <p:cNvPr id="7" name="TextBox 6"/>
          <p:cNvSpPr txBox="1"/>
          <p:nvPr/>
        </p:nvSpPr>
        <p:spPr>
          <a:xfrm>
            <a:off x="640080" y="1920240"/>
            <a:ext cx="5303520" cy="3840480"/>
          </a:xfrm>
          <a:prstGeom prst="rect">
            <a:avLst/>
          </a:prstGeom>
          <a:noFill/>
        </p:spPr>
        <p:txBody>
          <a:bodyPr wrap="square" lIns="45720" rIns="45720" tIns="27432" bIns="27432">
            <a:spAutoFit/>
          </a:bodyPr>
          <a:lstStyle/>
          <a:p>
            <a:pPr marL="274320" indent="-274320">
              <a:lnSpc>
                <a:spcPct val="100000"/>
              </a:lnSpc>
              <a:spcAft>
                <a:spcPts val="1200"/>
              </a:spcAft>
              <a:buFont typeface="Arial"/>
              <a:buChar char="•"/>
            </a:pPr>
            <a:r>
              <a:rPr sz="1600" b="1" i="0" lang="de-DE">
                <a:solidFill>
                  <a:srgbClr val="262626"/>
                </a:solidFill>
                <a:latin typeface="Calibri"/>
              </a:rPr>
              <a:t>A  Antiregimekrieg: </a:t>
            </a:r>
            <a:r>
              <a:rPr sz="1600" b="0" i="0" lang="de-DE">
                <a:solidFill>
                  <a:srgbClr val="262626"/>
                </a:solidFill>
                <a:latin typeface="Calibri"/>
              </a:rPr>
              <a:t>Kampf um die Regierung eines Landes</a:t>
            </a:r>
          </a:p>
          <a:p>
            <a:pPr marL="274320" indent="-274320">
              <a:lnSpc>
                <a:spcPct val="100000"/>
              </a:lnSpc>
              <a:spcAft>
                <a:spcPts val="1200"/>
              </a:spcAft>
              <a:buFont typeface="Arial"/>
              <a:buChar char="•"/>
            </a:pPr>
            <a:r>
              <a:rPr sz="1600" b="1" i="0" lang="de-DE">
                <a:solidFill>
                  <a:srgbClr val="262626"/>
                </a:solidFill>
                <a:latin typeface="Calibri"/>
              </a:rPr>
              <a:t>B  Autonomie- / Sezessionskrieg: </a:t>
            </a:r>
            <a:r>
              <a:rPr sz="1600" b="0" i="0" lang="de-DE">
                <a:solidFill>
                  <a:srgbClr val="262626"/>
                </a:solidFill>
                <a:latin typeface="Calibri"/>
              </a:rPr>
              <a:t>Kampf um Unabhängigkeit oder Selbstbestimmung</a:t>
            </a:r>
          </a:p>
          <a:p>
            <a:pPr marL="274320" indent="-274320">
              <a:lnSpc>
                <a:spcPct val="100000"/>
              </a:lnSpc>
              <a:spcAft>
                <a:spcPts val="1200"/>
              </a:spcAft>
              <a:buFont typeface="Arial"/>
              <a:buChar char="•"/>
            </a:pPr>
            <a:r>
              <a:rPr sz="1600" b="1" i="0" lang="de-DE">
                <a:solidFill>
                  <a:srgbClr val="262626"/>
                </a:solidFill>
                <a:latin typeface="Calibri"/>
              </a:rPr>
              <a:t>C  Zwischenstaatlicher Krieg: </a:t>
            </a:r>
            <a:r>
              <a:rPr sz="1600" b="0" i="0" lang="de-DE">
                <a:solidFill>
                  <a:srgbClr val="262626"/>
                </a:solidFill>
                <a:latin typeface="Calibri"/>
              </a:rPr>
              <a:t>Krieg zwischen zwei Staaten</a:t>
            </a:r>
          </a:p>
          <a:p>
            <a:pPr marL="274320" indent="-274320">
              <a:lnSpc>
                <a:spcPct val="100000"/>
              </a:lnSpc>
              <a:spcAft>
                <a:spcPts val="1200"/>
              </a:spcAft>
              <a:buFont typeface="Arial"/>
              <a:buChar char="•"/>
            </a:pPr>
            <a:r>
              <a:rPr sz="1600" b="1" i="0" lang="de-DE">
                <a:solidFill>
                  <a:srgbClr val="262626"/>
                </a:solidFill>
                <a:latin typeface="Calibri"/>
              </a:rPr>
              <a:t>D  Dekolonisationskrieg: </a:t>
            </a:r>
            <a:r>
              <a:rPr sz="1600" b="0" i="0" lang="de-DE">
                <a:solidFill>
                  <a:srgbClr val="262626"/>
                </a:solidFill>
                <a:latin typeface="Calibri"/>
              </a:rPr>
              <a:t>Befreiung von einer Kolonialmacht</a:t>
            </a:r>
          </a:p>
          <a:p>
            <a:pPr marL="274320" indent="-274320">
              <a:lnSpc>
                <a:spcPct val="100000"/>
              </a:lnSpc>
              <a:spcAft>
                <a:spcPts val="1200"/>
              </a:spcAft>
              <a:buFont typeface="Arial"/>
              <a:buChar char="•"/>
            </a:pPr>
            <a:r>
              <a:rPr sz="1600" b="1" i="0" lang="de-DE">
                <a:solidFill>
                  <a:srgbClr val="262626"/>
                </a:solidFill>
                <a:latin typeface="Calibri"/>
              </a:rPr>
              <a:t>E  Sonstige Kriege</a:t>
            </a:r>
            <a:r>
              <a:rPr sz="1600" b="0" i="0" lang="de-DE">
                <a:solidFill>
                  <a:srgbClr val="262626"/>
                </a:solidFill>
                <a:latin typeface="Calibri"/>
              </a:rPr>
              <a:t/>
            </a:r>
          </a:p>
        </p:txBody>
      </p:sp>
      <p:sp>
        <p:nvSpPr>
          <p:cNvPr id="8" name="Rectangle 7"/>
          <p:cNvSpPr/>
          <p:nvPr/>
        </p:nvSpPr>
        <p:spPr>
          <a:xfrm>
            <a:off x="6400800" y="1371600"/>
            <a:ext cx="5303520" cy="4480560"/>
          </a:xfrm>
          <a:prstGeom prst="rect">
            <a:avLst/>
          </a:prstGeom>
          <a:solidFill>
            <a:srgbClr val="DEEBF7"/>
          </a:solidFill>
          <a:ln>
            <a:noFill/>
          </a:ln>
        </p:spPr>
        <p:txBody>
          <a:bodyPr rtlCol="0" anchor="ctr" wrap="square"/>
          <a:lstStyle/>
          <a:p>
            <a:pPr algn="ctr"/>
          </a:p>
        </p:txBody>
      </p:sp>
      <p:sp>
        <p:nvSpPr>
          <p:cNvPr id="9" name="TextBox 8"/>
          <p:cNvSpPr txBox="1"/>
          <p:nvPr/>
        </p:nvSpPr>
        <p:spPr>
          <a:xfrm>
            <a:off x="6629400" y="1508760"/>
            <a:ext cx="4937760" cy="457200"/>
          </a:xfrm>
          <a:prstGeom prst="rect">
            <a:avLst/>
          </a:prstGeom>
          <a:noFill/>
        </p:spPr>
        <p:txBody>
          <a:bodyPr wrap="square" anchor="t" lIns="45720" rIns="45720" tIns="27432" bIns="27432">
            <a:spAutoFit/>
          </a:bodyPr>
          <a:lstStyle/>
          <a:p>
            <a:pPr algn="l">
              <a:lnSpc>
                <a:spcPct val="100000"/>
              </a:lnSpc>
              <a:spcAft>
                <a:spcPts val="400"/>
              </a:spcAft>
            </a:pPr>
            <a:r>
              <a:rPr sz="2000" b="1" i="0" lang="de-DE">
                <a:solidFill>
                  <a:srgbClr val="1F3864"/>
                </a:solidFill>
                <a:latin typeface="Calibri"/>
              </a:rPr>
              <a:t>Unsere Einordnung: ein Mischtyp</a:t>
            </a:r>
          </a:p>
        </p:txBody>
      </p:sp>
      <p:sp>
        <p:nvSpPr>
          <p:cNvPr id="10" name="TextBox 9"/>
          <p:cNvSpPr txBox="1"/>
          <p:nvPr/>
        </p:nvSpPr>
        <p:spPr>
          <a:xfrm>
            <a:off x="6629400" y="2103120"/>
            <a:ext cx="4937760" cy="3657600"/>
          </a:xfrm>
          <a:prstGeom prst="rect">
            <a:avLst/>
          </a:prstGeom>
          <a:noFill/>
        </p:spPr>
        <p:txBody>
          <a:bodyPr wrap="square" lIns="45720" rIns="45720" tIns="27432" bIns="27432">
            <a:spAutoFit/>
          </a:bodyPr>
          <a:lstStyle/>
          <a:p>
            <a:pPr marL="274320" indent="-274320">
              <a:lnSpc>
                <a:spcPct val="100000"/>
              </a:lnSpc>
              <a:spcAft>
                <a:spcPts val="1000"/>
              </a:spcAft>
              <a:buFont typeface="Arial"/>
              <a:buChar char="•"/>
            </a:pPr>
            <a:r>
              <a:rPr sz="1600" b="1" i="0" lang="de-DE">
                <a:solidFill>
                  <a:srgbClr val="262626"/>
                </a:solidFill>
                <a:latin typeface="Calibri"/>
              </a:rPr>
              <a:t>Typ A: </a:t>
            </a:r>
            <a:r>
              <a:rPr sz="1600" b="0" i="0" lang="de-DE">
                <a:solidFill>
                  <a:srgbClr val="262626"/>
                </a:solidFill>
                <a:latin typeface="Calibri"/>
              </a:rPr>
              <a:t>Es geht auch um das Ende oder den Erhalt der Hamas-Herrschaft in Gaza.</a:t>
            </a:r>
          </a:p>
          <a:p>
            <a:pPr marL="274320" indent="-274320">
              <a:lnSpc>
                <a:spcPct val="100000"/>
              </a:lnSpc>
              <a:spcAft>
                <a:spcPts val="1000"/>
              </a:spcAft>
              <a:buFont typeface="Arial"/>
              <a:buChar char="•"/>
            </a:pPr>
            <a:r>
              <a:rPr sz="1600" b="1" i="0" lang="de-DE">
                <a:solidFill>
                  <a:srgbClr val="262626"/>
                </a:solidFill>
                <a:latin typeface="Calibri"/>
              </a:rPr>
              <a:t>Typ B: </a:t>
            </a:r>
            <a:r>
              <a:rPr sz="1600" b="0" i="0" lang="de-DE">
                <a:solidFill>
                  <a:srgbClr val="262626"/>
                </a:solidFill>
                <a:latin typeface="Calibri"/>
              </a:rPr>
              <a:t>Die Palästinenser kämpfen um Selbstbestimmung und einen eigenen Staat.</a:t>
            </a:r>
          </a:p>
          <a:p>
            <a:pPr marL="274320" indent="-274320">
              <a:lnSpc>
                <a:spcPct val="100000"/>
              </a:lnSpc>
              <a:spcAft>
                <a:spcPts val="1000"/>
              </a:spcAft>
              <a:buFont typeface="Arial"/>
              <a:buChar char="•"/>
            </a:pPr>
            <a:r>
              <a:rPr sz="1600" b="1" i="0" lang="de-DE">
                <a:solidFill>
                  <a:srgbClr val="262626"/>
                </a:solidFill>
                <a:latin typeface="Calibri"/>
              </a:rPr>
              <a:t>Typ C: </a:t>
            </a:r>
            <a:r>
              <a:rPr sz="1600" b="0" i="0" lang="de-DE">
                <a:solidFill>
                  <a:srgbClr val="262626"/>
                </a:solidFill>
                <a:latin typeface="Calibri"/>
              </a:rPr>
              <a:t>Sobald Israel und der Iran sich direkt angreifen, wird es ein Krieg zwischen Staaten.</a:t>
            </a:r>
          </a:p>
          <a:p>
            <a:pPr marL="274320" indent="-274320">
              <a:lnSpc>
                <a:spcPct val="100000"/>
              </a:lnSpc>
              <a:spcAft>
                <a:spcPts val="1000"/>
              </a:spcAft>
              <a:buFont typeface="Arial"/>
              <a:buChar char="•"/>
            </a:pPr>
            <a:r>
              <a:rPr sz="1600" b="0" i="0" lang="de-DE">
                <a:solidFill>
                  <a:srgbClr val="262626"/>
                </a:solidFill>
                <a:latin typeface="Calibri"/>
              </a:rPr>
              <a:t>Die Hamas regiert in Gaza, ist aber kein Staat. Das macht die Einordnung schwierig.</a:t>
            </a:r>
          </a:p>
          <a:p>
            <a:pPr marL="274320" indent="-274320">
              <a:lnSpc>
                <a:spcPct val="100000"/>
              </a:lnSpc>
              <a:spcAft>
                <a:spcPts val="1000"/>
              </a:spcAft>
              <a:buFont typeface="Arial"/>
              <a:buChar char="•"/>
            </a:pPr>
            <a:r>
              <a:rPr sz="1600" b="0" i="0" lang="de-DE">
                <a:solidFill>
                  <a:srgbClr val="262626"/>
                </a:solidFill>
                <a:latin typeface="Calibri"/>
              </a:rPr>
              <a:t>Besatzung ist bei AKUF kein eigener Typ.</a:t>
            </a:r>
          </a:p>
        </p:txBody>
      </p:sp>
      <p:sp>
        <p:nvSpPr>
          <p:cNvPr id="11" name="TextBox 10"/>
          <p:cNvSpPr txBox="1"/>
          <p:nvPr/>
        </p:nvSpPr>
        <p:spPr>
          <a:xfrm>
            <a:off x="640080" y="5897880"/>
            <a:ext cx="10972800" cy="365760"/>
          </a:xfrm>
          <a:prstGeom prst="rect">
            <a:avLst/>
          </a:prstGeom>
          <a:noFill/>
        </p:spPr>
        <p:txBody>
          <a:bodyPr wrap="square" anchor="t" lIns="45720" rIns="45720" tIns="27432" bIns="27432">
            <a:spAutoFit/>
          </a:bodyPr>
          <a:lstStyle/>
          <a:p>
            <a:pPr algn="l">
              <a:lnSpc>
                <a:spcPct val="100000"/>
              </a:lnSpc>
              <a:spcAft>
                <a:spcPts val="400"/>
              </a:spcAft>
            </a:pPr>
            <a:r>
              <a:rPr sz="1300" b="0" i="1" lang="de-DE">
                <a:solidFill>
                  <a:srgbClr val="595959"/>
                </a:solidFill>
                <a:latin typeface="Calibri"/>
              </a:rPr>
              <a:t>Das ist unsere eigene Einordnung, keine offizielle Bewertung durch die AKUF.</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731520"/>
          </a:xfrm>
          <a:prstGeom prst="rect">
            <a:avLst/>
          </a:prstGeom>
          <a:noFill/>
        </p:spPr>
        <p:txBody>
          <a:bodyPr wrap="square" anchor="b" lIns="45720" rIns="45720" tIns="27432" bIns="27432">
            <a:spAutoFit/>
          </a:bodyPr>
          <a:lstStyle/>
          <a:p>
            <a:pPr algn="l">
              <a:lnSpc>
                <a:spcPct val="100000"/>
              </a:lnSpc>
              <a:spcAft>
                <a:spcPts val="400"/>
              </a:spcAft>
            </a:pPr>
            <a:r>
              <a:rPr sz="3000" b="1" i="0" lang="de-DE">
                <a:solidFill>
                  <a:srgbClr val="1F3864"/>
                </a:solidFill>
                <a:latin typeface="Calibri"/>
              </a:rPr>
              <a:t>Was hat der UN-Sicherheitsrat gemacht?</a:t>
            </a:r>
          </a:p>
        </p:txBody>
      </p:sp>
      <p:cxnSp>
        <p:nvCxnSpPr>
          <p:cNvPr id="3" name="Connector 2"/>
          <p:cNvCxnSpPr/>
          <p:nvPr/>
        </p:nvCxnSpPr>
        <p:spPr>
          <a:xfrm>
            <a:off x="594360" y="1115568"/>
            <a:ext cx="11018520" cy="0"/>
          </a:xfrm>
          <a:prstGeom prst="line">
            <a:avLst/>
          </a:prstGeom>
          <a:ln w="19050">
            <a:solidFill>
              <a:srgbClr val="2E75B6"/>
            </a:solidFill>
          </a:ln>
        </p:spPr>
      </p:cxnSp>
      <p:sp>
        <p:nvSpPr>
          <p:cNvPr id="4" name="TextBox 3"/>
          <p:cNvSpPr txBox="1"/>
          <p:nvPr/>
        </p:nvSpPr>
        <p:spPr>
          <a:xfrm>
            <a:off x="548640" y="6400800"/>
            <a:ext cx="5486400" cy="274320"/>
          </a:xfrm>
          <a:prstGeom prst="rect">
            <a:avLst/>
          </a:prstGeom>
          <a:noFill/>
        </p:spPr>
        <p:txBody>
          <a:bodyPr wrap="square" anchor="t" lIns="45720" rIns="45720" tIns="27432" bIns="27432">
            <a:spAutoFit/>
          </a:bodyPr>
          <a:lstStyle/>
          <a:p>
            <a:pPr algn="l">
              <a:lnSpc>
                <a:spcPct val="100000"/>
              </a:lnSpc>
              <a:spcAft>
                <a:spcPts val="400"/>
              </a:spcAft>
            </a:pPr>
            <a:r>
              <a:rPr sz="1000" b="0" i="0" lang="de-DE">
                <a:solidFill>
                  <a:srgbClr val="595959"/>
                </a:solidFill>
                <a:latin typeface="Calibri"/>
              </a:rPr>
              <a:t>Der Krieg im Gazastreifen  |  Politik 10</a:t>
            </a:r>
          </a:p>
        </p:txBody>
      </p:sp>
      <p:sp>
        <p:nvSpPr>
          <p:cNvPr id="5" name="TextBox 4"/>
          <p:cNvSpPr txBox="1"/>
          <p:nvPr/>
        </p:nvSpPr>
        <p:spPr>
          <a:xfrm>
            <a:off x="10698480" y="6400800"/>
            <a:ext cx="914400" cy="274320"/>
          </a:xfrm>
          <a:prstGeom prst="rect">
            <a:avLst/>
          </a:prstGeom>
          <a:noFill/>
        </p:spPr>
        <p:txBody>
          <a:bodyPr wrap="square" anchor="t" lIns="45720" rIns="45720" tIns="27432" bIns="27432">
            <a:spAutoFit/>
          </a:bodyPr>
          <a:lstStyle/>
          <a:p>
            <a:pPr algn="r">
              <a:lnSpc>
                <a:spcPct val="100000"/>
              </a:lnSpc>
              <a:spcAft>
                <a:spcPts val="400"/>
              </a:spcAft>
            </a:pPr>
            <a:r>
              <a:rPr sz="1000" b="0" i="0" lang="de-DE">
                <a:solidFill>
                  <a:srgbClr val="595959"/>
                </a:solidFill>
                <a:latin typeface="Calibri"/>
              </a:rPr>
              <a:t>9 / 12</a:t>
            </a:r>
          </a:p>
        </p:txBody>
      </p:sp>
      <p:graphicFrame>
        <p:nvGraphicFramePr>
          <p:cNvPr id="6" name="Table 5"/>
          <p:cNvGraphicFramePr>
            <a:graphicFrameLocks noGrp="1"/>
          </p:cNvGraphicFramePr>
          <p:nvPr/>
        </p:nvGraphicFramePr>
        <p:xfrm>
          <a:off x="640080" y="1371600"/>
          <a:ext cx="10881360" cy="3657600"/>
        </p:xfrm>
        <a:graphic>
          <a:graphicData uri="http://schemas.openxmlformats.org/drawingml/2006/table">
            <a:tbl>
              <a:tblPr firstRow="1" bandRow="1">
                <a:tableStyleId>{5C22544A-7EE6-4342-B048-85BDC9FD1C3A}</a:tableStyleId>
              </a:tblPr>
              <a:tblGrid>
                <a:gridCol w="1554480"/>
                <a:gridCol w="3017520"/>
                <a:gridCol w="6309360"/>
              </a:tblGrid>
              <a:tr h="609600">
                <a:tc>
                  <a:txBody>
                    <a:bodyPr/>
                    <a:lstStyle/>
                    <a:p>
                      <a:r>
                        <a:rPr sz="1400" b="1" lang="de-DE">
                          <a:solidFill>
                            <a:srgbClr val="FFFFFF"/>
                          </a:solidFill>
                          <a:latin typeface="Calibri"/>
                        </a:rPr>
                        <a:t>Datum</a:t>
                      </a:r>
                    </a:p>
                  </a:txBody>
                  <a:tcPr marL="91440" marR="91440" marT="45720" marB="45720">
                    <a:solidFill>
                      <a:srgbClr val="2E75B6"/>
                    </a:solidFill>
                  </a:tcPr>
                </a:tc>
                <a:tc>
                  <a:txBody>
                    <a:bodyPr/>
                    <a:lstStyle/>
                    <a:p>
                      <a:r>
                        <a:rPr sz="1400" b="1" lang="de-DE">
                          <a:solidFill>
                            <a:srgbClr val="FFFFFF"/>
                          </a:solidFill>
                          <a:latin typeface="Calibri"/>
                        </a:rPr>
                        <a:t>Was passiert ist</a:t>
                      </a:r>
                    </a:p>
                  </a:txBody>
                  <a:tcPr marL="91440" marR="91440" marT="45720" marB="45720">
                    <a:solidFill>
                      <a:srgbClr val="2E75B6"/>
                    </a:solidFill>
                  </a:tcPr>
                </a:tc>
                <a:tc>
                  <a:txBody>
                    <a:bodyPr/>
                    <a:lstStyle/>
                    <a:p>
                      <a:r>
                        <a:rPr sz="1400" b="1" lang="de-DE">
                          <a:solidFill>
                            <a:srgbClr val="FFFFFF"/>
                          </a:solidFill>
                          <a:latin typeface="Calibri"/>
                        </a:rPr>
                        <a:t>Inhalt</a:t>
                      </a:r>
                    </a:p>
                  </a:txBody>
                  <a:tcPr marL="91440" marR="91440" marT="45720" marB="45720">
                    <a:solidFill>
                      <a:srgbClr val="2E75B6"/>
                    </a:solidFill>
                  </a:tcPr>
                </a:tc>
              </a:tr>
              <a:tr h="609600">
                <a:tc>
                  <a:txBody>
                    <a:bodyPr/>
                    <a:lstStyle/>
                    <a:p>
                      <a:r>
                        <a:rPr sz="1400" b="0" lang="de-DE">
                          <a:solidFill>
                            <a:srgbClr val="262626"/>
                          </a:solidFill>
                          <a:latin typeface="Calibri"/>
                        </a:rPr>
                        <a:t>18.10.2023</a:t>
                      </a:r>
                    </a:p>
                  </a:txBody>
                  <a:tcPr marL="91440" marR="91440" marT="45720" marB="45720"/>
                </a:tc>
                <a:tc>
                  <a:txBody>
                    <a:bodyPr/>
                    <a:lstStyle/>
                    <a:p>
                      <a:r>
                        <a:rPr sz="1400" b="1" lang="de-DE">
                          <a:solidFill>
                            <a:srgbClr val="262626"/>
                          </a:solidFill>
                          <a:latin typeface="Calibri"/>
                        </a:rPr>
                        <a:t>Veto der USA</a:t>
                      </a:r>
                    </a:p>
                  </a:txBody>
                  <a:tcPr marL="91440" marR="91440" marT="45720" marB="45720"/>
                </a:tc>
                <a:tc>
                  <a:txBody>
                    <a:bodyPr/>
                    <a:lstStyle/>
                    <a:p>
                      <a:r>
                        <a:rPr sz="1400" b="0" lang="de-DE">
                          <a:solidFill>
                            <a:srgbClr val="262626"/>
                          </a:solidFill>
                          <a:latin typeface="Calibri"/>
                        </a:rPr>
                        <a:t>Entwurf Brasiliens für humanitäre Pausen scheitert</a:t>
                      </a:r>
                    </a:p>
                  </a:txBody>
                  <a:tcPr marL="91440" marR="91440" marT="45720" marB="45720"/>
                </a:tc>
              </a:tr>
              <a:tr h="609600">
                <a:tc>
                  <a:txBody>
                    <a:bodyPr/>
                    <a:lstStyle/>
                    <a:p>
                      <a:r>
                        <a:rPr sz="1400" b="0" lang="de-DE">
                          <a:solidFill>
                            <a:srgbClr val="262626"/>
                          </a:solidFill>
                          <a:latin typeface="Calibri"/>
                        </a:rPr>
                        <a:t>25.10.2023</a:t>
                      </a:r>
                    </a:p>
                  </a:txBody>
                  <a:tcPr marL="91440" marR="91440" marT="45720" marB="45720"/>
                </a:tc>
                <a:tc>
                  <a:txBody>
                    <a:bodyPr/>
                    <a:lstStyle/>
                    <a:p>
                      <a:r>
                        <a:rPr sz="1400" b="1" lang="de-DE">
                          <a:solidFill>
                            <a:srgbClr val="262626"/>
                          </a:solidFill>
                          <a:latin typeface="Calibri"/>
                        </a:rPr>
                        <a:t>Vetos von Russland und China</a:t>
                      </a:r>
                    </a:p>
                  </a:txBody>
                  <a:tcPr marL="91440" marR="91440" marT="45720" marB="45720"/>
                </a:tc>
                <a:tc>
                  <a:txBody>
                    <a:bodyPr/>
                    <a:lstStyle/>
                    <a:p>
                      <a:r>
                        <a:rPr sz="1400" b="0" lang="de-DE">
                          <a:solidFill>
                            <a:srgbClr val="262626"/>
                          </a:solidFill>
                          <a:latin typeface="Calibri"/>
                        </a:rPr>
                        <a:t>Entwurf der USA scheitert (Streit um Selbstverteidigung und Waffenstillstand)</a:t>
                      </a:r>
                    </a:p>
                  </a:txBody>
                  <a:tcPr marL="91440" marR="91440" marT="45720" marB="45720"/>
                </a:tc>
              </a:tr>
              <a:tr h="609600">
                <a:tc>
                  <a:txBody>
                    <a:bodyPr/>
                    <a:lstStyle/>
                    <a:p>
                      <a:r>
                        <a:rPr sz="1400" b="0" lang="de-DE">
                          <a:solidFill>
                            <a:srgbClr val="262626"/>
                          </a:solidFill>
                          <a:latin typeface="Calibri"/>
                        </a:rPr>
                        <a:t>25.03.2024</a:t>
                      </a:r>
                    </a:p>
                  </a:txBody>
                  <a:tcPr marL="91440" marR="91440" marT="45720" marB="45720"/>
                </a:tc>
                <a:tc>
                  <a:txBody>
                    <a:bodyPr/>
                    <a:lstStyle/>
                    <a:p>
                      <a:r>
                        <a:rPr sz="1400" b="1" lang="de-DE">
                          <a:solidFill>
                            <a:srgbClr val="262626"/>
                          </a:solidFill>
                          <a:latin typeface="Calibri"/>
                        </a:rPr>
                        <a:t>Resolution 2728</a:t>
                      </a:r>
                    </a:p>
                  </a:txBody>
                  <a:tcPr marL="91440" marR="91440" marT="45720" marB="45720"/>
                </a:tc>
                <a:tc>
                  <a:txBody>
                    <a:bodyPr/>
                    <a:lstStyle/>
                    <a:p>
                      <a:r>
                        <a:rPr sz="1400" b="0" lang="de-DE">
                          <a:solidFill>
                            <a:srgbClr val="262626"/>
                          </a:solidFill>
                          <a:latin typeface="Calibri"/>
                        </a:rPr>
                        <a:t>Sofortige Waffenruhe im Ramadan und Freilassung aller Geiseln; USA enthalten sich</a:t>
                      </a:r>
                    </a:p>
                  </a:txBody>
                  <a:tcPr marL="91440" marR="91440" marT="45720" marB="45720"/>
                </a:tc>
              </a:tr>
              <a:tr h="609600">
                <a:tc>
                  <a:txBody>
                    <a:bodyPr/>
                    <a:lstStyle/>
                    <a:p>
                      <a:r>
                        <a:rPr sz="1400" b="0" lang="de-DE">
                          <a:solidFill>
                            <a:srgbClr val="262626"/>
                          </a:solidFill>
                          <a:latin typeface="Calibri"/>
                        </a:rPr>
                        <a:t>10.06.2024</a:t>
                      </a:r>
                    </a:p>
                  </a:txBody>
                  <a:tcPr marL="91440" marR="91440" marT="45720" marB="45720"/>
                </a:tc>
                <a:tc>
                  <a:txBody>
                    <a:bodyPr/>
                    <a:lstStyle/>
                    <a:p>
                      <a:r>
                        <a:rPr sz="1400" b="1" lang="de-DE">
                          <a:solidFill>
                            <a:srgbClr val="262626"/>
                          </a:solidFill>
                          <a:latin typeface="Calibri"/>
                        </a:rPr>
                        <a:t>Resolution 2735</a:t>
                      </a:r>
                    </a:p>
                  </a:txBody>
                  <a:tcPr marL="91440" marR="91440" marT="45720" marB="45720"/>
                </a:tc>
                <a:tc>
                  <a:txBody>
                    <a:bodyPr/>
                    <a:lstStyle/>
                    <a:p>
                      <a:r>
                        <a:rPr sz="1400" b="0" lang="de-DE">
                          <a:solidFill>
                            <a:srgbClr val="262626"/>
                          </a:solidFill>
                          <a:latin typeface="Calibri"/>
                        </a:rPr>
                        <a:t>Drei-Phasen-Plan: Waffenruhe und Austausch, dauerhaftes Ende der Kämpfe, Wiederaufbau</a:t>
                      </a:r>
                    </a:p>
                  </a:txBody>
                  <a:tcPr marL="91440" marR="91440" marT="45720" marB="45720"/>
                </a:tc>
              </a:tr>
              <a:tr h="609600">
                <a:tc>
                  <a:txBody>
                    <a:bodyPr/>
                    <a:lstStyle/>
                    <a:p>
                      <a:r>
                        <a:rPr sz="1400" b="0" lang="de-DE">
                          <a:solidFill>
                            <a:srgbClr val="262626"/>
                          </a:solidFill>
                          <a:latin typeface="Calibri"/>
                        </a:rPr>
                        <a:t>17.11.2025</a:t>
                      </a:r>
                    </a:p>
                  </a:txBody>
                  <a:tcPr marL="91440" marR="91440" marT="45720" marB="45720"/>
                </a:tc>
                <a:tc>
                  <a:txBody>
                    <a:bodyPr/>
                    <a:lstStyle/>
                    <a:p>
                      <a:r>
                        <a:rPr sz="1400" b="1" lang="de-DE">
                          <a:solidFill>
                            <a:srgbClr val="262626"/>
                          </a:solidFill>
                          <a:latin typeface="Calibri"/>
                        </a:rPr>
                        <a:t>Resolution 2803</a:t>
                      </a:r>
                    </a:p>
                  </a:txBody>
                  <a:tcPr marL="91440" marR="91440" marT="45720" marB="45720"/>
                </a:tc>
                <a:tc>
                  <a:txBody>
                    <a:bodyPr/>
                    <a:lstStyle/>
                    <a:p>
                      <a:r>
                        <a:rPr sz="1400" b="0" lang="de-DE">
                          <a:solidFill>
                            <a:srgbClr val="262626"/>
                          </a:solidFill>
                          <a:latin typeface="Calibri"/>
                        </a:rPr>
                        <a:t>Unterstützt den Friedensplan, „Board of Peace“ als Übergangsverwaltung, internationale Stabilisierungstruppe</a:t>
                      </a:r>
                    </a:p>
                  </a:txBody>
                  <a:tcPr marL="91440" marR="91440" marT="45720" marB="45720"/>
                </a:tc>
              </a:tr>
            </a:tbl>
          </a:graphicData>
        </a:graphic>
      </p:graphicFrame>
      <p:sp>
        <p:nvSpPr>
          <p:cNvPr id="7" name="TextBox 6"/>
          <p:cNvSpPr txBox="1"/>
          <p:nvPr/>
        </p:nvSpPr>
        <p:spPr>
          <a:xfrm>
            <a:off x="640080" y="5257800"/>
            <a:ext cx="10881360" cy="1005840"/>
          </a:xfrm>
          <a:prstGeom prst="rect">
            <a:avLst/>
          </a:prstGeom>
          <a:noFill/>
        </p:spPr>
        <p:txBody>
          <a:bodyPr wrap="square" lIns="45720" rIns="45720" tIns="27432" bIns="27432">
            <a:spAutoFit/>
          </a:bodyPr>
          <a:lstStyle/>
          <a:p>
            <a:pPr marL="274320" indent="-274320">
              <a:lnSpc>
                <a:spcPct val="100000"/>
              </a:lnSpc>
              <a:spcAft>
                <a:spcPts val="400"/>
              </a:spcAft>
              <a:buFont typeface="Arial"/>
              <a:buChar char="•"/>
            </a:pPr>
            <a:r>
              <a:rPr sz="1500" b="1" i="0" lang="de-DE">
                <a:solidFill>
                  <a:srgbClr val="262626"/>
                </a:solidFill>
                <a:latin typeface="Calibri"/>
              </a:rPr>
              <a:t>Vermittler: </a:t>
            </a:r>
            <a:r>
              <a:rPr sz="1500" b="0" i="0" lang="de-DE">
                <a:solidFill>
                  <a:srgbClr val="262626"/>
                </a:solidFill>
                <a:latin typeface="Calibri"/>
              </a:rPr>
              <a:t>USA, Ägypten und Katar</a:t>
            </a:r>
          </a:p>
          <a:p>
            <a:pPr marL="274320" indent="-274320">
              <a:lnSpc>
                <a:spcPct val="100000"/>
              </a:lnSpc>
              <a:spcAft>
                <a:spcPts val="400"/>
              </a:spcAft>
              <a:buFont typeface="Arial"/>
              <a:buChar char="•"/>
            </a:pPr>
            <a:r>
              <a:rPr sz="1500" b="1" i="0" lang="de-DE">
                <a:solidFill>
                  <a:srgbClr val="262626"/>
                </a:solidFill>
                <a:latin typeface="Calibri"/>
              </a:rPr>
              <a:t>Hilfe vor Ort: </a:t>
            </a:r>
            <a:r>
              <a:rPr sz="1500" b="0" i="0" lang="de-DE">
                <a:solidFill>
                  <a:srgbClr val="262626"/>
                </a:solidFill>
                <a:latin typeface="Calibri"/>
              </a:rPr>
              <a:t>UNRWA (Versorgung, Schulen) und OCHA (Koordination der humanitären Hilfe)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731520"/>
          </a:xfrm>
          <a:prstGeom prst="rect">
            <a:avLst/>
          </a:prstGeom>
          <a:noFill/>
        </p:spPr>
        <p:txBody>
          <a:bodyPr wrap="square" anchor="b" lIns="45720" rIns="45720" tIns="27432" bIns="27432">
            <a:spAutoFit/>
          </a:bodyPr>
          <a:lstStyle/>
          <a:p>
            <a:pPr algn="l">
              <a:lnSpc>
                <a:spcPct val="100000"/>
              </a:lnSpc>
              <a:spcAft>
                <a:spcPts val="400"/>
              </a:spcAft>
            </a:pPr>
            <a:r>
              <a:rPr sz="3000" b="1" i="0" lang="de-DE">
                <a:solidFill>
                  <a:srgbClr val="1F3864"/>
                </a:solidFill>
                <a:latin typeface="Calibri"/>
              </a:rPr>
              <a:t>Wie könnte eine Lösung aussehen?</a:t>
            </a:r>
          </a:p>
        </p:txBody>
      </p:sp>
      <p:cxnSp>
        <p:nvCxnSpPr>
          <p:cNvPr id="3" name="Connector 2"/>
          <p:cNvCxnSpPr/>
          <p:nvPr/>
        </p:nvCxnSpPr>
        <p:spPr>
          <a:xfrm>
            <a:off x="594360" y="1115568"/>
            <a:ext cx="11018520" cy="0"/>
          </a:xfrm>
          <a:prstGeom prst="line">
            <a:avLst/>
          </a:prstGeom>
          <a:ln w="19050">
            <a:solidFill>
              <a:srgbClr val="2E75B6"/>
            </a:solidFill>
          </a:ln>
        </p:spPr>
      </p:cxnSp>
      <p:sp>
        <p:nvSpPr>
          <p:cNvPr id="4" name="TextBox 3"/>
          <p:cNvSpPr txBox="1"/>
          <p:nvPr/>
        </p:nvSpPr>
        <p:spPr>
          <a:xfrm>
            <a:off x="548640" y="6400800"/>
            <a:ext cx="5486400" cy="274320"/>
          </a:xfrm>
          <a:prstGeom prst="rect">
            <a:avLst/>
          </a:prstGeom>
          <a:noFill/>
        </p:spPr>
        <p:txBody>
          <a:bodyPr wrap="square" anchor="t" lIns="45720" rIns="45720" tIns="27432" bIns="27432">
            <a:spAutoFit/>
          </a:bodyPr>
          <a:lstStyle/>
          <a:p>
            <a:pPr algn="l">
              <a:lnSpc>
                <a:spcPct val="100000"/>
              </a:lnSpc>
              <a:spcAft>
                <a:spcPts val="400"/>
              </a:spcAft>
            </a:pPr>
            <a:r>
              <a:rPr sz="1000" b="0" i="0" lang="de-DE">
                <a:solidFill>
                  <a:srgbClr val="595959"/>
                </a:solidFill>
                <a:latin typeface="Calibri"/>
              </a:rPr>
              <a:t>Der Krieg im Gazastreifen  |  Politik 10</a:t>
            </a:r>
          </a:p>
        </p:txBody>
      </p:sp>
      <p:sp>
        <p:nvSpPr>
          <p:cNvPr id="5" name="TextBox 4"/>
          <p:cNvSpPr txBox="1"/>
          <p:nvPr/>
        </p:nvSpPr>
        <p:spPr>
          <a:xfrm>
            <a:off x="10698480" y="6400800"/>
            <a:ext cx="914400" cy="274320"/>
          </a:xfrm>
          <a:prstGeom prst="rect">
            <a:avLst/>
          </a:prstGeom>
          <a:noFill/>
        </p:spPr>
        <p:txBody>
          <a:bodyPr wrap="square" anchor="t" lIns="45720" rIns="45720" tIns="27432" bIns="27432">
            <a:spAutoFit/>
          </a:bodyPr>
          <a:lstStyle/>
          <a:p>
            <a:pPr algn="r">
              <a:lnSpc>
                <a:spcPct val="100000"/>
              </a:lnSpc>
              <a:spcAft>
                <a:spcPts val="400"/>
              </a:spcAft>
            </a:pPr>
            <a:r>
              <a:rPr sz="1000" b="0" i="0" lang="de-DE">
                <a:solidFill>
                  <a:srgbClr val="595959"/>
                </a:solidFill>
                <a:latin typeface="Calibri"/>
              </a:rPr>
              <a:t>10 / 12</a:t>
            </a:r>
          </a:p>
        </p:txBody>
      </p:sp>
      <p:sp>
        <p:nvSpPr>
          <p:cNvPr id="6" name="TextBox 5"/>
          <p:cNvSpPr txBox="1"/>
          <p:nvPr/>
        </p:nvSpPr>
        <p:spPr>
          <a:xfrm>
            <a:off x="640080" y="1417320"/>
            <a:ext cx="10881360" cy="4846320"/>
          </a:xfrm>
          <a:prstGeom prst="rect">
            <a:avLst/>
          </a:prstGeom>
          <a:noFill/>
        </p:spPr>
        <p:txBody>
          <a:bodyPr wrap="square" lIns="45720" rIns="45720" tIns="27432" bIns="27432">
            <a:spAutoFit/>
          </a:bodyPr>
          <a:lstStyle/>
          <a:p>
            <a:pPr marL="274320" indent="-274320">
              <a:lnSpc>
                <a:spcPct val="100000"/>
              </a:lnSpc>
              <a:spcBef>
                <a:spcPts val="1400"/>
              </a:spcBef>
              <a:spcAft>
                <a:spcPts val="800"/>
              </a:spcAft>
              <a:buFont typeface="Arial"/>
              <a:buChar char="•"/>
            </a:pPr>
            <a:r>
              <a:rPr sz="2100" b="1" i="0" lang="de-DE">
                <a:solidFill>
                  <a:srgbClr val="262626"/>
                </a:solidFill>
                <a:latin typeface="Calibri"/>
              </a:rPr>
              <a:t>Anreize für Verhandlungen</a:t>
            </a:r>
            <a:r>
              <a:rPr sz="2100" b="0" i="0" lang="de-DE">
                <a:solidFill>
                  <a:srgbClr val="262626"/>
                </a:solidFill>
                <a:latin typeface="Calibri"/>
              </a:rPr>
              <a:t/>
            </a:r>
          </a:p>
          <a:p>
            <a:pPr marL="548640" indent="-274320">
              <a:lnSpc>
                <a:spcPct val="100000"/>
              </a:lnSpc>
              <a:spcAft>
                <a:spcPts val="480"/>
              </a:spcAft>
              <a:buFont typeface="Arial"/>
              <a:buChar char="–"/>
            </a:pPr>
            <a:r>
              <a:rPr sz="1700" b="0" i="0" lang="de-DE">
                <a:solidFill>
                  <a:srgbClr val="262626"/>
                </a:solidFill>
                <a:latin typeface="Calibri"/>
              </a:rPr>
              <a:t>Geisel- und Gefangenenaustausch war bisher der wichtigste Hebel</a:t>
            </a:r>
          </a:p>
          <a:p>
            <a:pPr marL="548640" indent="-274320">
              <a:lnSpc>
                <a:spcPct val="100000"/>
              </a:lnSpc>
              <a:spcAft>
                <a:spcPts val="480"/>
              </a:spcAft>
              <a:buFont typeface="Arial"/>
              <a:buChar char="–"/>
            </a:pPr>
            <a:r>
              <a:rPr sz="1700" b="0" i="0" lang="de-DE">
                <a:solidFill>
                  <a:srgbClr val="262626"/>
                </a:solidFill>
                <a:latin typeface="Calibri"/>
              </a:rPr>
              <a:t>Humanitäre Not, militärische Kosten und internationaler Druck erhöhen den Einigungsdruck</a:t>
            </a:r>
          </a:p>
          <a:p>
            <a:pPr marL="274320" indent="-274320">
              <a:lnSpc>
                <a:spcPct val="100000"/>
              </a:lnSpc>
              <a:spcBef>
                <a:spcPts val="1400"/>
              </a:spcBef>
              <a:spcAft>
                <a:spcPts val="800"/>
              </a:spcAft>
              <a:buFont typeface="Arial"/>
              <a:buChar char="•"/>
            </a:pPr>
            <a:r>
              <a:rPr sz="2100" b="1" i="0" lang="de-DE">
                <a:solidFill>
                  <a:srgbClr val="262626"/>
                </a:solidFill>
                <a:latin typeface="Calibri"/>
              </a:rPr>
              <a:t>Vereinbarungen, die überprüfbar sind</a:t>
            </a:r>
            <a:r>
              <a:rPr sz="2100" b="0" i="0" lang="de-DE">
                <a:solidFill>
                  <a:srgbClr val="262626"/>
                </a:solidFill>
                <a:latin typeface="Calibri"/>
              </a:rPr>
              <a:t/>
            </a:r>
          </a:p>
          <a:p>
            <a:pPr marL="548640" indent="-274320">
              <a:lnSpc>
                <a:spcPct val="100000"/>
              </a:lnSpc>
              <a:spcAft>
                <a:spcPts val="480"/>
              </a:spcAft>
              <a:buFont typeface="Arial"/>
              <a:buChar char="–"/>
            </a:pPr>
            <a:r>
              <a:rPr sz="1700" b="0" i="0" lang="de-DE">
                <a:solidFill>
                  <a:srgbClr val="262626"/>
                </a:solidFill>
                <a:latin typeface="Calibri"/>
              </a:rPr>
              <a:t>Waffenruhe, die eingehalten wird; Schutz von Zivilisten; Hilfe ohne politische Bedingungen</a:t>
            </a:r>
          </a:p>
          <a:p>
            <a:pPr marL="548640" indent="-274320">
              <a:lnSpc>
                <a:spcPct val="100000"/>
              </a:lnSpc>
              <a:spcAft>
                <a:spcPts val="480"/>
              </a:spcAft>
              <a:buFont typeface="Arial"/>
              <a:buChar char="–"/>
            </a:pPr>
            <a:r>
              <a:rPr sz="1700" b="0" i="0" lang="de-DE">
                <a:solidFill>
                  <a:srgbClr val="262626"/>
                </a:solidFill>
                <a:latin typeface="Calibri"/>
              </a:rPr>
              <a:t>Klare Regeln, was bei Verstößen passiert</a:t>
            </a:r>
          </a:p>
          <a:p>
            <a:pPr marL="274320" indent="-274320">
              <a:lnSpc>
                <a:spcPct val="100000"/>
              </a:lnSpc>
              <a:spcBef>
                <a:spcPts val="1400"/>
              </a:spcBef>
              <a:spcAft>
                <a:spcPts val="800"/>
              </a:spcAft>
              <a:buFont typeface="Arial"/>
              <a:buChar char="•"/>
            </a:pPr>
            <a:r>
              <a:rPr sz="2100" b="1" i="0" lang="de-DE">
                <a:solidFill>
                  <a:srgbClr val="262626"/>
                </a:solidFill>
                <a:latin typeface="Calibri"/>
              </a:rPr>
              <a:t>Politische Perspektive</a:t>
            </a:r>
            <a:r>
              <a:rPr sz="2100" b="0" i="0" lang="de-DE">
                <a:solidFill>
                  <a:srgbClr val="262626"/>
                </a:solidFill>
                <a:latin typeface="Calibri"/>
              </a:rPr>
              <a:t/>
            </a:r>
          </a:p>
          <a:p>
            <a:pPr marL="548640" indent="-274320">
              <a:lnSpc>
                <a:spcPct val="100000"/>
              </a:lnSpc>
              <a:spcAft>
                <a:spcPts val="480"/>
              </a:spcAft>
              <a:buFont typeface="Arial"/>
              <a:buChar char="–"/>
            </a:pPr>
            <a:r>
              <a:rPr sz="1700" b="0" i="0" lang="de-DE">
                <a:solidFill>
                  <a:srgbClr val="262626"/>
                </a:solidFill>
                <a:latin typeface="Calibri"/>
              </a:rPr>
              <a:t>Wiederaufbau, eine anerkannte palästinensische Vertretung und Sicherheit für Israel</a:t>
            </a:r>
          </a:p>
          <a:p>
            <a:pPr marL="548640" indent="-274320">
              <a:lnSpc>
                <a:spcPct val="100000"/>
              </a:lnSpc>
              <a:spcAft>
                <a:spcPts val="480"/>
              </a:spcAft>
              <a:buFont typeface="Arial"/>
              <a:buChar char="–"/>
            </a:pPr>
            <a:r>
              <a:rPr sz="1700" b="0" i="0" lang="de-DE">
                <a:solidFill>
                  <a:srgbClr val="262626"/>
                </a:solidFill>
                <a:latin typeface="Calibri"/>
              </a:rPr>
              <a:t>Langfristig: zwei Staaten nebeneinander</a:t>
            </a:r>
          </a:p>
          <a:p>
            <a:pPr marL="274320" indent="-274320">
              <a:lnSpc>
                <a:spcPct val="100000"/>
              </a:lnSpc>
              <a:spcBef>
                <a:spcPts val="1400"/>
              </a:spcBef>
              <a:spcAft>
                <a:spcPts val="800"/>
              </a:spcAft>
              <a:buFont typeface="Arial"/>
              <a:buChar char="•"/>
            </a:pPr>
            <a:r>
              <a:rPr sz="2100" b="1" i="0" lang="de-DE">
                <a:solidFill>
                  <a:srgbClr val="262626"/>
                </a:solidFill>
                <a:latin typeface="Calibri"/>
              </a:rPr>
              <a:t>Zivilgesellschaft einbeziehen</a:t>
            </a:r>
            <a:r>
              <a:rPr sz="2100" b="0" i="0" lang="de-DE">
                <a:solidFill>
                  <a:srgbClr val="262626"/>
                </a:solidFill>
                <a:latin typeface="Calibri"/>
              </a:rPr>
              <a:t/>
            </a:r>
          </a:p>
          <a:p>
            <a:pPr marL="548640" indent="-274320">
              <a:lnSpc>
                <a:spcPct val="100000"/>
              </a:lnSpc>
              <a:spcAft>
                <a:spcPts val="480"/>
              </a:spcAft>
              <a:buFont typeface="Arial"/>
              <a:buChar char="–"/>
            </a:pPr>
            <a:r>
              <a:rPr sz="1700" b="0" i="0" lang="de-DE">
                <a:solidFill>
                  <a:srgbClr val="262626"/>
                </a:solidFill>
                <a:latin typeface="Calibri"/>
              </a:rPr>
              <a:t>Opferverbände, Friedensinitiativen und lokale Hilfsorganisationen schaffen Vertrauen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731520"/>
          </a:xfrm>
          <a:prstGeom prst="rect">
            <a:avLst/>
          </a:prstGeom>
          <a:noFill/>
        </p:spPr>
        <p:txBody>
          <a:bodyPr wrap="square" anchor="b" lIns="45720" rIns="45720" tIns="27432" bIns="27432">
            <a:spAutoFit/>
          </a:bodyPr>
          <a:lstStyle/>
          <a:p>
            <a:pPr algn="l">
              <a:lnSpc>
                <a:spcPct val="100000"/>
              </a:lnSpc>
              <a:spcAft>
                <a:spcPts val="400"/>
              </a:spcAft>
            </a:pPr>
            <a:r>
              <a:rPr sz="3000" b="1" i="0" lang="de-DE">
                <a:solidFill>
                  <a:srgbClr val="1F3864"/>
                </a:solidFill>
                <a:latin typeface="Calibri"/>
              </a:rPr>
              <a:t>Unsere Bewertung</a:t>
            </a:r>
          </a:p>
        </p:txBody>
      </p:sp>
      <p:cxnSp>
        <p:nvCxnSpPr>
          <p:cNvPr id="3" name="Connector 2"/>
          <p:cNvCxnSpPr/>
          <p:nvPr/>
        </p:nvCxnSpPr>
        <p:spPr>
          <a:xfrm>
            <a:off x="594360" y="1115568"/>
            <a:ext cx="11018520" cy="0"/>
          </a:xfrm>
          <a:prstGeom prst="line">
            <a:avLst/>
          </a:prstGeom>
          <a:ln w="19050">
            <a:solidFill>
              <a:srgbClr val="2E75B6"/>
            </a:solidFill>
          </a:ln>
        </p:spPr>
      </p:cxnSp>
      <p:sp>
        <p:nvSpPr>
          <p:cNvPr id="4" name="TextBox 3"/>
          <p:cNvSpPr txBox="1"/>
          <p:nvPr/>
        </p:nvSpPr>
        <p:spPr>
          <a:xfrm>
            <a:off x="548640" y="6400800"/>
            <a:ext cx="5486400" cy="274320"/>
          </a:xfrm>
          <a:prstGeom prst="rect">
            <a:avLst/>
          </a:prstGeom>
          <a:noFill/>
        </p:spPr>
        <p:txBody>
          <a:bodyPr wrap="square" anchor="t" lIns="45720" rIns="45720" tIns="27432" bIns="27432">
            <a:spAutoFit/>
          </a:bodyPr>
          <a:lstStyle/>
          <a:p>
            <a:pPr algn="l">
              <a:lnSpc>
                <a:spcPct val="100000"/>
              </a:lnSpc>
              <a:spcAft>
                <a:spcPts val="400"/>
              </a:spcAft>
            </a:pPr>
            <a:r>
              <a:rPr sz="1000" b="0" i="0" lang="de-DE">
                <a:solidFill>
                  <a:srgbClr val="595959"/>
                </a:solidFill>
                <a:latin typeface="Calibri"/>
              </a:rPr>
              <a:t>Der Krieg im Gazastreifen  |  Politik 10</a:t>
            </a:r>
          </a:p>
        </p:txBody>
      </p:sp>
      <p:sp>
        <p:nvSpPr>
          <p:cNvPr id="5" name="TextBox 4"/>
          <p:cNvSpPr txBox="1"/>
          <p:nvPr/>
        </p:nvSpPr>
        <p:spPr>
          <a:xfrm>
            <a:off x="10698480" y="6400800"/>
            <a:ext cx="914400" cy="274320"/>
          </a:xfrm>
          <a:prstGeom prst="rect">
            <a:avLst/>
          </a:prstGeom>
          <a:noFill/>
        </p:spPr>
        <p:txBody>
          <a:bodyPr wrap="square" anchor="t" lIns="45720" rIns="45720" tIns="27432" bIns="27432">
            <a:spAutoFit/>
          </a:bodyPr>
          <a:lstStyle/>
          <a:p>
            <a:pPr algn="r">
              <a:lnSpc>
                <a:spcPct val="100000"/>
              </a:lnSpc>
              <a:spcAft>
                <a:spcPts val="400"/>
              </a:spcAft>
            </a:pPr>
            <a:r>
              <a:rPr sz="1000" b="0" i="0" lang="de-DE">
                <a:solidFill>
                  <a:srgbClr val="595959"/>
                </a:solidFill>
                <a:latin typeface="Calibri"/>
              </a:rPr>
              <a:t>11 / 12</a:t>
            </a:r>
          </a:p>
        </p:txBody>
      </p:sp>
      <p:sp>
        <p:nvSpPr>
          <p:cNvPr id="6" name="TextBox 5"/>
          <p:cNvSpPr txBox="1"/>
          <p:nvPr/>
        </p:nvSpPr>
        <p:spPr>
          <a:xfrm>
            <a:off x="640080" y="1371600"/>
            <a:ext cx="5120640" cy="457200"/>
          </a:xfrm>
          <a:prstGeom prst="rect">
            <a:avLst/>
          </a:prstGeom>
          <a:noFill/>
        </p:spPr>
        <p:txBody>
          <a:bodyPr wrap="square" anchor="t" lIns="45720" rIns="45720" tIns="27432" bIns="27432">
            <a:spAutoFit/>
          </a:bodyPr>
          <a:lstStyle/>
          <a:p>
            <a:pPr algn="l">
              <a:lnSpc>
                <a:spcPct val="100000"/>
              </a:lnSpc>
              <a:spcAft>
                <a:spcPts val="400"/>
              </a:spcAft>
            </a:pPr>
            <a:r>
              <a:rPr sz="1900" b="1" i="0" lang="de-DE">
                <a:solidFill>
                  <a:srgbClr val="1F3864"/>
                </a:solidFill>
                <a:latin typeface="Calibri"/>
              </a:rPr>
              <a:t>Galtung: negativer und positiver Frieden</a:t>
            </a:r>
          </a:p>
        </p:txBody>
      </p:sp>
      <p:sp>
        <p:nvSpPr>
          <p:cNvPr id="7" name="TextBox 6"/>
          <p:cNvSpPr txBox="1"/>
          <p:nvPr/>
        </p:nvSpPr>
        <p:spPr>
          <a:xfrm>
            <a:off x="640080" y="1920240"/>
            <a:ext cx="5120640" cy="2560320"/>
          </a:xfrm>
          <a:prstGeom prst="rect">
            <a:avLst/>
          </a:prstGeom>
          <a:noFill/>
        </p:spPr>
        <p:txBody>
          <a:bodyPr wrap="square" lIns="45720" rIns="45720" tIns="27432" bIns="27432">
            <a:spAutoFit/>
          </a:bodyPr>
          <a:lstStyle/>
          <a:p>
            <a:pPr marL="274320" indent="-274320">
              <a:lnSpc>
                <a:spcPct val="100000"/>
              </a:lnSpc>
              <a:spcAft>
                <a:spcPts val="1000"/>
              </a:spcAft>
              <a:buFont typeface="Arial"/>
              <a:buChar char="•"/>
            </a:pPr>
            <a:r>
              <a:rPr sz="1600" b="1" i="0" lang="de-DE">
                <a:solidFill>
                  <a:srgbClr val="262626"/>
                </a:solidFill>
                <a:latin typeface="Calibri"/>
              </a:rPr>
              <a:t>Negativer Frieden: </a:t>
            </a:r>
            <a:r>
              <a:rPr sz="1600" b="0" i="0" lang="de-DE">
                <a:solidFill>
                  <a:srgbClr val="262626"/>
                </a:solidFill>
                <a:latin typeface="Calibri"/>
              </a:rPr>
              <a:t>Es wird nicht mehr geschossen. Die Waffenruhe seit Oktober 2025 wird aber immer wieder gebrochen, also ist nicht einmal das erreicht.</a:t>
            </a:r>
          </a:p>
          <a:p>
            <a:pPr marL="274320" indent="-274320">
              <a:lnSpc>
                <a:spcPct val="100000"/>
              </a:lnSpc>
              <a:spcAft>
                <a:spcPts val="1000"/>
              </a:spcAft>
              <a:buFont typeface="Arial"/>
              <a:buChar char="•"/>
            </a:pPr>
            <a:r>
              <a:rPr sz="1600" b="1" i="0" lang="de-DE">
                <a:solidFill>
                  <a:srgbClr val="262626"/>
                </a:solidFill>
                <a:latin typeface="Calibri"/>
              </a:rPr>
              <a:t>Positiver Frieden: </a:t>
            </a:r>
            <a:r>
              <a:rPr sz="1600" b="0" i="0" lang="de-DE">
                <a:solidFill>
                  <a:srgbClr val="262626"/>
                </a:solidFill>
                <a:latin typeface="Calibri"/>
              </a:rPr>
              <a:t>Sicherheit, Rechte, Versorgung und Selbstbestimmung für alle; strukturelle Gewalt wird abgebaut. Davon ist Gaza weit entfernt.</a:t>
            </a:r>
          </a:p>
        </p:txBody>
      </p:sp>
      <p:cxnSp>
        <p:nvCxnSpPr>
          <p:cNvPr id="8" name="Connector 7"/>
          <p:cNvCxnSpPr/>
          <p:nvPr/>
        </p:nvCxnSpPr>
        <p:spPr>
          <a:xfrm>
            <a:off x="5989320" y="1417320"/>
            <a:ext cx="0" cy="3017520"/>
          </a:xfrm>
          <a:prstGeom prst="line">
            <a:avLst/>
          </a:prstGeom>
          <a:ln w="9525">
            <a:solidFill>
              <a:srgbClr val="BFBFBF"/>
            </a:solidFill>
          </a:ln>
        </p:spPr>
      </p:cxnSp>
      <p:sp>
        <p:nvSpPr>
          <p:cNvPr id="9" name="TextBox 8"/>
          <p:cNvSpPr txBox="1"/>
          <p:nvPr/>
        </p:nvSpPr>
        <p:spPr>
          <a:xfrm>
            <a:off x="6217920" y="1371600"/>
            <a:ext cx="5486400" cy="457200"/>
          </a:xfrm>
          <a:prstGeom prst="rect">
            <a:avLst/>
          </a:prstGeom>
          <a:noFill/>
        </p:spPr>
        <p:txBody>
          <a:bodyPr wrap="square" anchor="t" lIns="45720" rIns="45720" tIns="27432" bIns="27432">
            <a:spAutoFit/>
          </a:bodyPr>
          <a:lstStyle/>
          <a:p>
            <a:pPr algn="l">
              <a:lnSpc>
                <a:spcPct val="100000"/>
              </a:lnSpc>
              <a:spcAft>
                <a:spcPts val="400"/>
              </a:spcAft>
            </a:pPr>
            <a:r>
              <a:rPr sz="1900" b="1" i="0" lang="de-DE">
                <a:solidFill>
                  <a:srgbClr val="1F3864"/>
                </a:solidFill>
                <a:latin typeface="Calibri"/>
              </a:rPr>
              <a:t>Senghaas: sechs Bausteine für dauerhaften Frieden</a:t>
            </a:r>
          </a:p>
        </p:txBody>
      </p:sp>
      <p:sp>
        <p:nvSpPr>
          <p:cNvPr id="10" name="TextBox 9"/>
          <p:cNvSpPr txBox="1"/>
          <p:nvPr/>
        </p:nvSpPr>
        <p:spPr>
          <a:xfrm>
            <a:off x="6217920" y="1920240"/>
            <a:ext cx="5486400" cy="2560320"/>
          </a:xfrm>
          <a:prstGeom prst="rect">
            <a:avLst/>
          </a:prstGeom>
          <a:noFill/>
        </p:spPr>
        <p:txBody>
          <a:bodyPr wrap="square" lIns="45720" rIns="45720" tIns="27432" bIns="27432">
            <a:spAutoFit/>
          </a:bodyPr>
          <a:lstStyle/>
          <a:p>
            <a:pPr marL="274320" indent="-274320">
              <a:lnSpc>
                <a:spcPct val="100000"/>
              </a:lnSpc>
              <a:spcAft>
                <a:spcPts val="500"/>
              </a:spcAft>
              <a:buAutoNum type="arabicPeriod"/>
            </a:pPr>
            <a:r>
              <a:rPr sz="1600" b="0" i="0" lang="de-DE">
                <a:solidFill>
                  <a:srgbClr val="262626"/>
                </a:solidFill>
                <a:latin typeface="Calibri"/>
              </a:rPr>
              <a:t>Staatliches Gewaltmonopol</a:t>
            </a:r>
          </a:p>
          <a:p>
            <a:pPr marL="274320" indent="-274320">
              <a:lnSpc>
                <a:spcPct val="100000"/>
              </a:lnSpc>
              <a:spcAft>
                <a:spcPts val="500"/>
              </a:spcAft>
              <a:buAutoNum type="arabicPeriod"/>
            </a:pPr>
            <a:r>
              <a:rPr sz="1600" b="0" i="0" lang="de-DE">
                <a:solidFill>
                  <a:srgbClr val="262626"/>
                </a:solidFill>
                <a:latin typeface="Calibri"/>
              </a:rPr>
              <a:t>Rechtsstaatlichkeit</a:t>
            </a:r>
          </a:p>
          <a:p>
            <a:pPr marL="274320" indent="-274320">
              <a:lnSpc>
                <a:spcPct val="100000"/>
              </a:lnSpc>
              <a:spcAft>
                <a:spcPts val="500"/>
              </a:spcAft>
              <a:buAutoNum type="arabicPeriod"/>
            </a:pPr>
            <a:r>
              <a:rPr sz="1600" b="0" i="0" lang="de-DE">
                <a:solidFill>
                  <a:srgbClr val="262626"/>
                </a:solidFill>
                <a:latin typeface="Calibri"/>
              </a:rPr>
              <a:t>Demokratische Beteiligung</a:t>
            </a:r>
          </a:p>
          <a:p>
            <a:pPr marL="274320" indent="-274320">
              <a:lnSpc>
                <a:spcPct val="100000"/>
              </a:lnSpc>
              <a:spcAft>
                <a:spcPts val="500"/>
              </a:spcAft>
              <a:buAutoNum type="arabicPeriod"/>
            </a:pPr>
            <a:r>
              <a:rPr sz="1600" b="0" i="0" lang="de-DE">
                <a:solidFill>
                  <a:srgbClr val="262626"/>
                </a:solidFill>
                <a:latin typeface="Calibri"/>
              </a:rPr>
              <a:t>Soziale Gerechtigkeit</a:t>
            </a:r>
          </a:p>
          <a:p>
            <a:pPr marL="274320" indent="-274320">
              <a:lnSpc>
                <a:spcPct val="100000"/>
              </a:lnSpc>
              <a:spcAft>
                <a:spcPts val="500"/>
              </a:spcAft>
              <a:buAutoNum type="arabicPeriod"/>
            </a:pPr>
            <a:r>
              <a:rPr sz="1600" b="0" i="0" lang="de-DE">
                <a:solidFill>
                  <a:srgbClr val="262626"/>
                </a:solidFill>
                <a:latin typeface="Calibri"/>
              </a:rPr>
              <a:t>Konstruktive Konfliktkultur</a:t>
            </a:r>
          </a:p>
          <a:p>
            <a:pPr marL="274320" indent="-274320">
              <a:lnSpc>
                <a:spcPct val="100000"/>
              </a:lnSpc>
              <a:spcAft>
                <a:spcPts val="500"/>
              </a:spcAft>
              <a:buAutoNum type="arabicPeriod"/>
            </a:pPr>
            <a:r>
              <a:rPr sz="1600" b="0" i="0" lang="de-DE">
                <a:solidFill>
                  <a:srgbClr val="262626"/>
                </a:solidFill>
                <a:latin typeface="Calibri"/>
              </a:rPr>
              <a:t>Gegenseitige Abhängigkeit und Affektkontrolle</a:t>
            </a:r>
          </a:p>
        </p:txBody>
      </p:sp>
      <p:sp>
        <p:nvSpPr>
          <p:cNvPr id="11" name="Rectangle 10"/>
          <p:cNvSpPr/>
          <p:nvPr/>
        </p:nvSpPr>
        <p:spPr>
          <a:xfrm>
            <a:off x="640080" y="4617720"/>
            <a:ext cx="10881360" cy="1600200"/>
          </a:xfrm>
          <a:prstGeom prst="rect">
            <a:avLst/>
          </a:prstGeom>
          <a:solidFill>
            <a:srgbClr val="DEEBF7"/>
          </a:solidFill>
          <a:ln>
            <a:noFill/>
          </a:ln>
        </p:spPr>
        <p:txBody>
          <a:bodyPr rtlCol="0" anchor="ctr" wrap="square"/>
          <a:lstStyle/>
          <a:p>
            <a:pPr algn="ctr"/>
          </a:p>
        </p:txBody>
      </p:sp>
      <p:sp>
        <p:nvSpPr>
          <p:cNvPr id="12" name="TextBox 11"/>
          <p:cNvSpPr txBox="1"/>
          <p:nvPr/>
        </p:nvSpPr>
        <p:spPr>
          <a:xfrm>
            <a:off x="868680" y="4709160"/>
            <a:ext cx="10424160" cy="365760"/>
          </a:xfrm>
          <a:prstGeom prst="rect">
            <a:avLst/>
          </a:prstGeom>
          <a:noFill/>
        </p:spPr>
        <p:txBody>
          <a:bodyPr wrap="square" anchor="t" lIns="45720" rIns="45720" tIns="27432" bIns="27432">
            <a:spAutoFit/>
          </a:bodyPr>
          <a:lstStyle/>
          <a:p>
            <a:pPr algn="l">
              <a:lnSpc>
                <a:spcPct val="100000"/>
              </a:lnSpc>
              <a:spcAft>
                <a:spcPts val="400"/>
              </a:spcAft>
            </a:pPr>
            <a:r>
              <a:rPr sz="1800" b="1" i="0" lang="de-DE">
                <a:solidFill>
                  <a:srgbClr val="1F3864"/>
                </a:solidFill>
                <a:latin typeface="Calibri"/>
              </a:rPr>
              <a:t>Unser Fazit</a:t>
            </a:r>
          </a:p>
        </p:txBody>
      </p:sp>
      <p:sp>
        <p:nvSpPr>
          <p:cNvPr id="13" name="TextBox 12"/>
          <p:cNvSpPr txBox="1"/>
          <p:nvPr/>
        </p:nvSpPr>
        <p:spPr>
          <a:xfrm>
            <a:off x="868680" y="5074920"/>
            <a:ext cx="10424160" cy="1097280"/>
          </a:xfrm>
          <a:prstGeom prst="rect">
            <a:avLst/>
          </a:prstGeom>
          <a:noFill/>
        </p:spPr>
        <p:txBody>
          <a:bodyPr wrap="square" anchor="t" lIns="45720" rIns="45720" tIns="27432" bIns="27432">
            <a:spAutoFit/>
          </a:bodyPr>
          <a:lstStyle/>
          <a:p>
            <a:pPr algn="l">
              <a:lnSpc>
                <a:spcPct val="105000"/>
              </a:lnSpc>
              <a:spcAft>
                <a:spcPts val="400"/>
              </a:spcAft>
            </a:pPr>
            <a:r>
              <a:rPr sz="1500" b="0" i="0" lang="de-DE">
                <a:solidFill>
                  <a:srgbClr val="262626"/>
                </a:solidFill>
                <a:latin typeface="Calibri"/>
              </a:rPr>
              <a:t>Resolution 2803 ist ein möglicher Rahmen für den Übergang, aber noch kein Frieden. Von den sechs Bausteinen fehlen in Gaza vor allem eine legitime Kontrolle der Gewalt, Rechtsschutz, Versorgung und politische Beteiligung. Eine Lösung muss Israelis vor Angriffen schützen und Palästinensern gleiche Rechte und Selbstbestimmung geben.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731520"/>
          </a:xfrm>
          <a:prstGeom prst="rect">
            <a:avLst/>
          </a:prstGeom>
          <a:noFill/>
        </p:spPr>
        <p:txBody>
          <a:bodyPr wrap="square" anchor="b" lIns="45720" rIns="45720" tIns="27432" bIns="27432">
            <a:spAutoFit/>
          </a:bodyPr>
          <a:lstStyle/>
          <a:p>
            <a:pPr algn="l">
              <a:lnSpc>
                <a:spcPct val="100000"/>
              </a:lnSpc>
              <a:spcAft>
                <a:spcPts val="400"/>
              </a:spcAft>
            </a:pPr>
            <a:r>
              <a:rPr sz="3000" b="1" i="0" lang="de-DE">
                <a:solidFill>
                  <a:srgbClr val="1F3864"/>
                </a:solidFill>
                <a:latin typeface="Calibri"/>
              </a:rPr>
              <a:t>Quellen</a:t>
            </a:r>
          </a:p>
        </p:txBody>
      </p:sp>
      <p:cxnSp>
        <p:nvCxnSpPr>
          <p:cNvPr id="3" name="Connector 2"/>
          <p:cNvCxnSpPr/>
          <p:nvPr/>
        </p:nvCxnSpPr>
        <p:spPr>
          <a:xfrm>
            <a:off x="594360" y="1115568"/>
            <a:ext cx="11018520" cy="0"/>
          </a:xfrm>
          <a:prstGeom prst="line">
            <a:avLst/>
          </a:prstGeom>
          <a:ln w="19050">
            <a:solidFill>
              <a:srgbClr val="2E75B6"/>
            </a:solidFill>
          </a:ln>
        </p:spPr>
      </p:cxnSp>
      <p:sp>
        <p:nvSpPr>
          <p:cNvPr id="4" name="TextBox 3"/>
          <p:cNvSpPr txBox="1"/>
          <p:nvPr/>
        </p:nvSpPr>
        <p:spPr>
          <a:xfrm>
            <a:off x="548640" y="6400800"/>
            <a:ext cx="5486400" cy="274320"/>
          </a:xfrm>
          <a:prstGeom prst="rect">
            <a:avLst/>
          </a:prstGeom>
          <a:noFill/>
        </p:spPr>
        <p:txBody>
          <a:bodyPr wrap="square" anchor="t" lIns="45720" rIns="45720" tIns="27432" bIns="27432">
            <a:spAutoFit/>
          </a:bodyPr>
          <a:lstStyle/>
          <a:p>
            <a:pPr algn="l">
              <a:lnSpc>
                <a:spcPct val="100000"/>
              </a:lnSpc>
              <a:spcAft>
                <a:spcPts val="400"/>
              </a:spcAft>
            </a:pPr>
            <a:r>
              <a:rPr sz="1000" b="0" i="0" lang="de-DE">
                <a:solidFill>
                  <a:srgbClr val="595959"/>
                </a:solidFill>
                <a:latin typeface="Calibri"/>
              </a:rPr>
              <a:t>Der Krieg im Gazastreifen  |  Politik 10</a:t>
            </a:r>
          </a:p>
        </p:txBody>
      </p:sp>
      <p:sp>
        <p:nvSpPr>
          <p:cNvPr id="5" name="TextBox 4"/>
          <p:cNvSpPr txBox="1"/>
          <p:nvPr/>
        </p:nvSpPr>
        <p:spPr>
          <a:xfrm>
            <a:off x="10698480" y="6400800"/>
            <a:ext cx="914400" cy="274320"/>
          </a:xfrm>
          <a:prstGeom prst="rect">
            <a:avLst/>
          </a:prstGeom>
          <a:noFill/>
        </p:spPr>
        <p:txBody>
          <a:bodyPr wrap="square" anchor="t" lIns="45720" rIns="45720" tIns="27432" bIns="27432">
            <a:spAutoFit/>
          </a:bodyPr>
          <a:lstStyle/>
          <a:p>
            <a:pPr algn="r">
              <a:lnSpc>
                <a:spcPct val="100000"/>
              </a:lnSpc>
              <a:spcAft>
                <a:spcPts val="400"/>
              </a:spcAft>
            </a:pPr>
            <a:r>
              <a:rPr sz="1000" b="0" i="0" lang="de-DE">
                <a:solidFill>
                  <a:srgbClr val="595959"/>
                </a:solidFill>
                <a:latin typeface="Calibri"/>
              </a:rPr>
              <a:t>12 / 12</a:t>
            </a:r>
          </a:p>
        </p:txBody>
      </p:sp>
      <p:sp>
        <p:nvSpPr>
          <p:cNvPr id="6" name="TextBox 5"/>
          <p:cNvSpPr txBox="1"/>
          <p:nvPr/>
        </p:nvSpPr>
        <p:spPr>
          <a:xfrm>
            <a:off x="640080" y="1280160"/>
            <a:ext cx="10881360" cy="365760"/>
          </a:xfrm>
          <a:prstGeom prst="rect">
            <a:avLst/>
          </a:prstGeom>
          <a:noFill/>
        </p:spPr>
        <p:txBody>
          <a:bodyPr wrap="square" anchor="t" lIns="45720" rIns="45720" tIns="27432" bIns="27432">
            <a:spAutoFit/>
          </a:bodyPr>
          <a:lstStyle/>
          <a:p>
            <a:pPr algn="l">
              <a:lnSpc>
                <a:spcPct val="100000"/>
              </a:lnSpc>
              <a:spcAft>
                <a:spcPts val="400"/>
              </a:spcAft>
            </a:pPr>
            <a:r>
              <a:rPr sz="1300" b="0" i="1" lang="de-DE">
                <a:solidFill>
                  <a:srgbClr val="595959"/>
                </a:solidFill>
                <a:latin typeface="Calibri"/>
              </a:rPr>
              <a:t>Alle Internetquellen abgerufen am 14.10.2026, Geodaten am 15.10.2026.</a:t>
            </a:r>
          </a:p>
        </p:txBody>
      </p:sp>
      <p:sp>
        <p:nvSpPr>
          <p:cNvPr id="7" name="TextBox 6"/>
          <p:cNvSpPr txBox="1"/>
          <p:nvPr/>
        </p:nvSpPr>
        <p:spPr>
          <a:xfrm>
            <a:off x="640080" y="1691640"/>
            <a:ext cx="10881360" cy="4572000"/>
          </a:xfrm>
          <a:prstGeom prst="rect">
            <a:avLst/>
          </a:prstGeom>
          <a:noFill/>
        </p:spPr>
        <p:txBody>
          <a:bodyPr wrap="square" lIns="45720" rIns="45720">
            <a:spAutoFit/>
          </a:bodyPr>
          <a:lstStyle/>
          <a:p>
            <a:pPr marL="274320" indent="-274320">
              <a:spcAft>
                <a:spcPts val="800"/>
              </a:spcAft>
              <a:buAutoNum type="arabicPeriod"/>
            </a:pPr>
            <a:r>
              <a:rPr sz="1300" b="0" i="0" lang="de-DE">
                <a:solidFill>
                  <a:srgbClr val="262626"/>
                </a:solidFill>
                <a:latin typeface="Calibri"/>
              </a:rPr>
              <a:t>UN-Sicherheitsrat: Übersicht der Resolutionen: </a:t>
            </a:r>
            <a:r>
              <a:rPr sz="1200" b="0" i="0" lang="de-DE">
                <a:solidFill>
                  <a:srgbClr val="595959"/>
                </a:solidFill>
                <a:latin typeface="Calibri"/>
                <a:hlinkClick r:id="rId2"/>
              </a:rPr>
              <a:t>https://main.un.org/securitycouncil/en/content/resolutions-0</a:t>
            </a:r>
          </a:p>
          <a:p>
            <a:pPr marL="274320" indent="-274320">
              <a:spcAft>
                <a:spcPts val="800"/>
              </a:spcAft>
              <a:buAutoNum type="arabicPeriod"/>
            </a:pPr>
            <a:r>
              <a:rPr sz="1300" b="0" i="0" lang="de-DE">
                <a:solidFill>
                  <a:srgbClr val="262626"/>
                </a:solidFill>
                <a:latin typeface="Calibri"/>
              </a:rPr>
              <a:t>UN-Sicherheitsrat: Resolution 2728 (2024): </a:t>
            </a:r>
            <a:r>
              <a:rPr sz="1200" b="0" i="0" lang="de-DE">
                <a:solidFill>
                  <a:srgbClr val="595959"/>
                </a:solidFill>
                <a:latin typeface="Calibri"/>
                <a:hlinkClick r:id="rId3"/>
              </a:rPr>
              <a:t>https://docs.un.org/S/RES/2728(2024)</a:t>
            </a:r>
          </a:p>
          <a:p>
            <a:pPr marL="274320" indent="-274320">
              <a:spcAft>
                <a:spcPts val="800"/>
              </a:spcAft>
              <a:buAutoNum type="arabicPeriod"/>
            </a:pPr>
            <a:r>
              <a:rPr sz="1300" b="0" i="0" lang="de-DE">
                <a:solidFill>
                  <a:srgbClr val="262626"/>
                </a:solidFill>
                <a:latin typeface="Calibri"/>
              </a:rPr>
              <a:t>UN-Sicherheitsrat: Resolution 2735 (2024): </a:t>
            </a:r>
            <a:r>
              <a:rPr sz="1200" b="0" i="0" lang="de-DE">
                <a:solidFill>
                  <a:srgbClr val="595959"/>
                </a:solidFill>
                <a:latin typeface="Calibri"/>
                <a:hlinkClick r:id="rId4"/>
              </a:rPr>
              <a:t>https://docs.un.org/S/RES/2735(2024)</a:t>
            </a:r>
          </a:p>
          <a:p>
            <a:pPr marL="274320" indent="-274320">
              <a:spcAft>
                <a:spcPts val="800"/>
              </a:spcAft>
              <a:buAutoNum type="arabicPeriod"/>
            </a:pPr>
            <a:r>
              <a:rPr sz="1300" b="0" i="0" lang="de-DE">
                <a:solidFill>
                  <a:srgbClr val="262626"/>
                </a:solidFill>
                <a:latin typeface="Calibri"/>
              </a:rPr>
              <a:t>UN-Sicherheitsrat: Resolution 2803 (2025): </a:t>
            </a:r>
            <a:r>
              <a:rPr sz="1200" b="0" i="0" lang="de-DE">
                <a:solidFill>
                  <a:srgbClr val="595959"/>
                </a:solidFill>
                <a:latin typeface="Calibri"/>
                <a:hlinkClick r:id="rId5"/>
              </a:rPr>
              <a:t>https://digitallibrary.un.org/record/4093207</a:t>
            </a:r>
          </a:p>
          <a:p>
            <a:pPr marL="274320" indent="-274320">
              <a:spcAft>
                <a:spcPts val="800"/>
              </a:spcAft>
              <a:buAutoNum type="arabicPeriod"/>
            </a:pPr>
            <a:r>
              <a:rPr sz="1300" b="0" i="0" lang="de-DE">
                <a:solidFill>
                  <a:srgbClr val="262626"/>
                </a:solidFill>
                <a:latin typeface="Calibri"/>
              </a:rPr>
              <a:t>UNOSAT: Gaza Strip Comprehensive Damage Assessment, 8.7.2025: </a:t>
            </a:r>
            <a:r>
              <a:rPr sz="1200" b="0" i="0" lang="de-DE">
                <a:solidFill>
                  <a:srgbClr val="595959"/>
                </a:solidFill>
                <a:latin typeface="Calibri"/>
                <a:hlinkClick r:id="rId6"/>
              </a:rPr>
              <a:t>https://unosat.org/products/4165</a:t>
            </a:r>
          </a:p>
          <a:p>
            <a:pPr marL="274320" indent="-274320">
              <a:spcAft>
                <a:spcPts val="800"/>
              </a:spcAft>
              <a:buAutoNum type="arabicPeriod"/>
            </a:pPr>
            <a:r>
              <a:rPr sz="1300" b="0" i="0" lang="de-DE">
                <a:solidFill>
                  <a:srgbClr val="262626"/>
                </a:solidFill>
                <a:latin typeface="Calibri"/>
              </a:rPr>
              <a:t>AKUF (Universität Hamburg): Kriegsdefinition und Kriegstypologie: </a:t>
            </a:r>
            <a:r>
              <a:rPr sz="1200" b="0" i="0" lang="de-DE">
                <a:solidFill>
                  <a:srgbClr val="595959"/>
                </a:solidFill>
                <a:latin typeface="Calibri"/>
                <a:hlinkClick r:id="rId7"/>
              </a:rPr>
              <a:t>https://www.wiso.uni-hamburg.de/fachbereich-sowi/ueber-den-fachbereich/fachgebiete/akuf/kriegsdefinition.html</a:t>
            </a:r>
          </a:p>
          <a:p>
            <a:pPr marL="274320" indent="-274320">
              <a:spcAft>
                <a:spcPts val="800"/>
              </a:spcAft>
              <a:buAutoNum type="arabicPeriod"/>
            </a:pPr>
            <a:r>
              <a:rPr sz="1300" b="0" i="0" lang="de-DE">
                <a:solidFill>
                  <a:srgbClr val="262626"/>
                </a:solidFill>
                <a:latin typeface="Calibri"/>
              </a:rPr>
              <a:t>bpb: Der Gazastreifen im Nahostkonflikt (APuZ 2024): </a:t>
            </a:r>
            <a:r>
              <a:rPr sz="1200" b="0" i="0" lang="de-DE">
                <a:solidFill>
                  <a:srgbClr val="595959"/>
                </a:solidFill>
                <a:latin typeface="Calibri"/>
                <a:hlinkClick r:id="rId8"/>
              </a:rPr>
              <a:t>https://www.bpb.de/shop/zeitschriften/apuz/naher-osten-2024/546377/der-gazastreifen-im-nahostkonflikt/</a:t>
            </a:r>
          </a:p>
          <a:p>
            <a:pPr marL="274320" indent="-274320">
              <a:spcAft>
                <a:spcPts val="800"/>
              </a:spcAft>
              <a:buAutoNum type="arabicPeriod"/>
            </a:pPr>
            <a:r>
              <a:rPr sz="1300" b="0" i="0" lang="de-DE">
                <a:solidFill>
                  <a:srgbClr val="262626"/>
                </a:solidFill>
                <a:latin typeface="Calibri"/>
              </a:rPr>
              <a:t>bpb: Geschichte des Nahostkonflikts: </a:t>
            </a:r>
            <a:r>
              <a:rPr sz="1200" b="0" i="0" lang="de-DE">
                <a:solidFill>
                  <a:srgbClr val="595959"/>
                </a:solidFill>
                <a:latin typeface="Calibri"/>
                <a:hlinkClick r:id="rId9"/>
              </a:rPr>
              <a:t>https://www.bpb.de/themen/naher-mittlerer-osten/israel/45042/geschichte-des-nahostkonflikts/</a:t>
            </a:r>
          </a:p>
          <a:p>
            <a:pPr marL="274320" indent="-274320">
              <a:spcAft>
                <a:spcPts val="800"/>
              </a:spcAft>
              <a:buAutoNum type="arabicPeriod"/>
            </a:pPr>
            <a:r>
              <a:rPr sz="1300" b="0" i="0" lang="de-DE">
                <a:solidFill>
                  <a:srgbClr val="262626"/>
                </a:solidFill>
                <a:latin typeface="Calibri"/>
              </a:rPr>
              <a:t>bpb: Frieden (Galtung, Senghaas): </a:t>
            </a:r>
            <a:r>
              <a:rPr sz="1200" b="0" i="0" lang="de-DE">
                <a:solidFill>
                  <a:srgbClr val="595959"/>
                </a:solidFill>
                <a:latin typeface="Calibri"/>
                <a:hlinkClick r:id="rId10"/>
              </a:rPr>
              <a:t>https://www.bpb.de/lernen/politische-bildung/193093/frieden/?p=0</a:t>
            </a:r>
          </a:p>
          <a:p>
            <a:pPr marL="274320" indent="-274320">
              <a:spcAft>
                <a:spcPts val="800"/>
              </a:spcAft>
              <a:buAutoNum type="arabicPeriod"/>
            </a:pPr>
            <a:r>
              <a:rPr sz="1300" b="0" i="0" lang="de-DE">
                <a:solidFill>
                  <a:srgbClr val="262626"/>
                </a:solidFill>
                <a:latin typeface="Calibri"/>
              </a:rPr>
              <a:t>SWP: Krieg in Nahost: </a:t>
            </a:r>
            <a:r>
              <a:rPr sz="1200" b="0" i="0" lang="de-DE">
                <a:solidFill>
                  <a:srgbClr val="595959"/>
                </a:solidFill>
                <a:latin typeface="Calibri"/>
                <a:hlinkClick r:id="rId11"/>
              </a:rPr>
              <a:t>https://www.swp-berlin.org/fokusthema/krieg-in-nahost</a:t>
            </a:r>
          </a:p>
          <a:p>
            <a:pPr marL="274320" indent="-274320">
              <a:spcAft>
                <a:spcPts val="800"/>
              </a:spcAft>
              <a:buAutoNum type="arabicPeriod"/>
            </a:pPr>
            <a:r>
              <a:rPr sz="1300" b="0" i="0" lang="de-DE">
                <a:solidFill>
                  <a:srgbClr val="262626"/>
                </a:solidFill>
                <a:latin typeface="Calibri"/>
              </a:rPr>
              <a:t>OCHA: Gaza Strip access and movement, Juli 2024: </a:t>
            </a:r>
            <a:r>
              <a:rPr sz="1200" b="0" i="0" lang="de-DE">
                <a:solidFill>
                  <a:srgbClr val="595959"/>
                </a:solidFill>
                <a:latin typeface="Calibri"/>
                <a:hlinkClick r:id="rId12"/>
              </a:rPr>
              <a:t>https://www.ochaopt.org/content/gaza-strip-access-and-movement-july-2024</a:t>
            </a:r>
          </a:p>
          <a:p>
            <a:pPr marL="274320" indent="-274320">
              <a:spcAft>
                <a:spcPts val="800"/>
              </a:spcAft>
              <a:buAutoNum type="arabicPeriod"/>
            </a:pPr>
            <a:r>
              <a:rPr sz="1300" b="0" i="0" lang="de-DE">
                <a:solidFill>
                  <a:srgbClr val="262626"/>
                </a:solidFill>
                <a:latin typeface="Calibri"/>
              </a:rPr>
              <a:t>Geodaten für die Karten: ArcGIS GAZA_E (OCHA-Gouvernements, OpenStreetMap-Orte): </a:t>
            </a:r>
            <a:r>
              <a:rPr sz="1200" b="0" i="0" lang="de-DE">
                <a:solidFill>
                  <a:srgbClr val="595959"/>
                </a:solidFill>
                <a:latin typeface="Calibri"/>
                <a:hlinkClick r:id="rId13"/>
              </a:rPr>
              <a:t>https://services3.arcgis.com/tuNLpt6Wfhd22qmO/ArcGIS/rest/services/GAZA_E/FeatureServer</a:t>
            </a:r>
          </a:p>
        </p:txBody>
      </p:sp>
      <p:sp>
        <p:nvSpPr>
          <p:cNvPr id="8" name="TextBox 7"/>
          <p:cNvSpPr txBox="1"/>
          <p:nvPr/>
        </p:nvSpPr>
        <p:spPr>
          <a:xfrm>
            <a:off x="640080" y="5989320"/>
            <a:ext cx="10881360" cy="365760"/>
          </a:xfrm>
          <a:prstGeom prst="rect">
            <a:avLst/>
          </a:prstGeom>
          <a:noFill/>
        </p:spPr>
        <p:txBody>
          <a:bodyPr wrap="square" anchor="t" lIns="45720" rIns="45720" tIns="27432" bIns="27432">
            <a:spAutoFit/>
          </a:bodyPr>
          <a:lstStyle/>
          <a:p>
            <a:pPr algn="l">
              <a:lnSpc>
                <a:spcPct val="100000"/>
              </a:lnSpc>
              <a:spcAft>
                <a:spcPts val="400"/>
              </a:spcAft>
            </a:pPr>
            <a:r>
              <a:rPr sz="1200" b="0" i="1" lang="de-DE">
                <a:solidFill>
                  <a:srgbClr val="595959"/>
                </a:solidFill>
                <a:latin typeface="Calibri"/>
              </a:rPr>
              <a:t>Weitere Quellen (Gerichtsverfahren, Vetos, Hilfsorganisationen) stehen in den Notizen zu den Folien.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Der Krieg im Gazastreifen</dc:title>
  <dc:subject>Politik Klasse 10, Projekt Konfliktforschung (AKUF-Schema)</dc:subject>
  <dc:creator>[Name 1], [Name 2], [Name 3]</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dc:language>de-DE</dc:language>
</cp:coreProperties>
</file>