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[Name 1]</a:t>
            </a:r>
          </a:p>
          <a:p>
            <a:r>
              <a:t>Richtzeit: 45 Sekunden</a:t>
            </a:r>
          </a:p>
          <a:p/>
          <a:p>
            <a:r>
              <a:t>SPRECHTEXT</a:t>
            </a:r>
          </a:p>
          <a:p>
            <a:r>
              <a:t>Unsere Präsentation untersucht den Krieg im Gazastreifen anhand des AKUF-Schemas. AKUF steht für Arbeitsgemeinschaft Kriegsursachenforschung an der Universität Hamburg. Wir fragen nach Entstehung, Interessen, Mitteln und Möglichkeiten einer Konfliktregelung. Zuerst zeigen wir den Raum und erklären zentrale Begriffe. Danach folgen die Ursachen und eine Satellitenanalyse. Abschließend prüfen wir die Rolle des UN-Sicherheitsrats und formulieren ein eigenes Urteil. Dabei unterscheiden wir zwischen Zivilbevölkerung, bewaffneten Gruppen und Regierungen. Die Verantwortung für konkrete Handlungen muss jeweils einzeln beurteilt werden. Unsere Leitfrage lautet: Welche Bedingungen braucht ein Frieden, der Menschen auf beiden Seiten dauerhaft schützt?</a:t>
            </a:r>
          </a:p>
          <a:p/>
          <a:p>
            <a:r>
              <a:t>QUELLEN UND EINORDNUNG</a:t>
            </a:r>
          </a:p>
          <a:p>
            <a:r>
              <a:t>AKUF: Kriegsdefinition und Kriegstypologie</a:t>
            </a:r>
          </a:p>
          <a:p>
            <a:r>
              <a:t>https://www.wiso.uni-hamburg.de/fachbereich-sowi/ueber-den-fachbereich/fachgebiete/akuf/kriegsdefinition.html [Zugriff am: 14.10.2026]</a:t>
            </a:r>
          </a:p>
          <a:p>
            <a:r>
              <a:t>SWP: Krieg in Nahost</a:t>
            </a:r>
          </a:p>
          <a:p>
            <a:r>
              <a:t>https://www.swp-berlin.org/fokusthema/krieg-in-nahost [Zugriff am: 14.10.2026]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[Name 1]</a:t>
            </a:r>
          </a:p>
          <a:p>
            <a:r>
              <a:t>Richtzeit: 70 Sekunden</a:t>
            </a:r>
          </a:p>
          <a:p/>
          <a:p>
            <a:r>
              <a:t>SPRECHTEXT</a:t>
            </a:r>
          </a:p>
          <a:p>
            <a:r>
              <a:t>Der Gazastreifen liegt am Mittelmeer. Im Norden und Osten grenzt er an Israel, im Süden an Ägypten. Auf der Karte erkennen wir Gaza-Stadt, Khan Yunis und Rafah. OCHA nennt für Juli 2024 ungefähr 2,1 Millionen Menschen auf 365 Quadratkilometern. Daraus ergibt sich rechnerisch ein Flächenmittel von etwa 5.750 Menschen je Quadratkilometer. Die tatsächliche Dichte unterscheidet sich stark, besonders durch Vertreibung. Die Karte zeigt die Zugangslage von Juli 2024 und keine heutigen sicheren Wege. Zu den zentralen bewaffneten Akteuren gehören die israelischen Streitkräfte, kurz IDF, sowie Hamas und der Palästinensische Islamische Dschihad. Die palästinensische Bevölkerung ist nicht mit diesen Gruppen gleichzusetzen. Hinter den Kämpfen stehen konkurrierende Ansprüche auf Sicherheit, Land und politische Selbstbestimmung. Für den weiteren Vortrag ist deshalb wichtig, zwischen den Zielen der Bevölkerung und denen politischer oder militärischer Führungen zu unterscheiden.</a:t>
            </a:r>
          </a:p>
          <a:p/>
          <a:p>
            <a:r>
              <a:t>QUELLEN UND EINORDNUNG</a:t>
            </a:r>
          </a:p>
          <a:p>
            <a:r>
              <a:t>OCHA: Gaza Strip access and movement (Juli 2024)</a:t>
            </a:r>
          </a:p>
          <a:p>
            <a:r>
              <a:t>https://www.ochaopt.org/content/gaza-strip-access-and-movement-july-2024 [Zugriff am: 14.10.2026]</a:t>
            </a:r>
          </a:p>
          <a:p>
            <a:r>
              <a:t>bpb: Der Gazastreifen im Nahostkonflikt (15.03.2024)</a:t>
            </a:r>
          </a:p>
          <a:p>
            <a:r>
              <a:t>https://www.bpb.de/shop/zeitschriften/apuz/naher-osten-2024/546377/der-gazastreifen-im-nahostkonflikt/ [Zugriff am: 14.10.2026]</a:t>
            </a:r>
          </a:p>
          <a:p>
            <a:r>
              <a:t>SWP: Krieg in Nahost</a:t>
            </a:r>
          </a:p>
          <a:p>
            <a:r>
              <a:t>https://www.swp-berlin.org/fokusthema/krieg-in-nahost [Zugriff am: 14.10.2026]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[Name 1]</a:t>
            </a:r>
          </a:p>
          <a:p>
            <a:r>
              <a:t>Richtzeit: 65 Sekunden</a:t>
            </a:r>
          </a:p>
          <a:p/>
          <a:p>
            <a:r>
              <a:t>SPRECHTEXT</a:t>
            </a:r>
          </a:p>
          <a:p>
            <a:r>
              <a:t>Ein asymmetrischer Konflikt bedeutet, dass die Gegner sehr unterschiedliche militärische Möglichkeiten haben. Das sagt für sich genommen noch nichts darüber aus, welche Handlung rechtmäßig ist. Das humanitäre Völkerrecht gilt für alle Konfliktparteien. Es schützt zum Beispiel Menschen, die nicht oder nicht mehr kämpfen. Der UN-Sicherheitsrat trägt die Hauptverantwortung für den Weltfrieden. Bei Sachentscheidungen sind grundsätzlich neun Stimmen nötig, und keine der fünf ständigen Mächte darf mit Nein stimmen. Eine Enthaltung ist kein Veto. Das Vetorecht steht in Artikel 27, also nicht in Kapitel VII. Kapitel VII betrifft Maßnahmen bei Friedensbedrohungen. Die Zwei-Staaten-Lösung meint Israel und einen souveränen palästinensischen Staat. Die Blockade beschränkt dagegen die Bewegungsfreiheit und den Warenverkehr. Sicherheitsbegründungen und die Folgen für die Zivilbevölkerung müssen wir dabei getrennt untersuchen.</a:t>
            </a:r>
          </a:p>
          <a:p/>
          <a:p>
            <a:r>
              <a:t>QUELLEN UND EINORDNUNG</a:t>
            </a:r>
          </a:p>
          <a:p>
            <a:r>
              <a:t>UN-Charta: vollständiger Text, Artikel 27 und 51</a:t>
            </a:r>
          </a:p>
          <a:p>
            <a:r>
              <a:t>https://www.un.org/en/about-us/un-charter/full-text [Zugriff am: 14.10.2026]</a:t>
            </a:r>
          </a:p>
          <a:p>
            <a:r>
              <a:t>IKRK: Erklärung zu Gaza und Israel (09.03.2024)</a:t>
            </a:r>
          </a:p>
          <a:p>
            <a:r>
              <a:t>https://www.icrc.org/en/document/statement-gaza-and-israel-president-icrc [Zugriff am: 14.10.2026]</a:t>
            </a:r>
          </a:p>
          <a:p>
            <a:r>
              <a:t>bpb: Der Gazastreifen im Nahostkonflikt (15.03.2024)</a:t>
            </a:r>
          </a:p>
          <a:p>
            <a:r>
              <a:t>https://www.bpb.de/shop/zeitschriften/apuz/naher-osten-2024/546377/der-gazastreifen-im-nahostkonflikt/ [Zugriff am: 14.10.2026]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[Name 1]</a:t>
            </a:r>
          </a:p>
          <a:p>
            <a:r>
              <a:t>Richtzeit: 60 Sekunden</a:t>
            </a:r>
          </a:p>
          <a:p/>
          <a:p>
            <a:r>
              <a:t>SPRECHTEXT</a:t>
            </a:r>
          </a:p>
          <a:p>
            <a:r>
              <a:t>1948 wurde Israel gegründet. Im anschließenden Krieg flohen Hunderttausende Palästinenser oder wurden vertrieben. Dafür steht der Begriff Nakba, auf Deutsch Katastrophe. Gaza kam zunächst unter ägyptische Verwaltung. Im Sechstagekrieg 1967 besetzte Israel den Gazastreifen und weitere Gebiete. 2005 zog Israel seine Truppen aus Gaza ab und räumte die Siedlungen. Der Abzug bedeutete jedoch keine palästinensische Souveränität. Nach innerpalästinensischen Kämpfen übernahm Hamas 2007 die Kontrolle. Israel verschärfte die Blockade, auch Ägypten beschränkte den Zugang. Am 7. Oktober 2023 griffen Hamas und weitere bewaffnete Gruppen Israel an, ermordeten Zivilisten und verschleppten Menschen. Israel begann anschließend einen großangelegten Krieg in Gaza. Diese Geschichte erklärt Hintergründe und Ängste, aber sie entschuldigt keine Gewalt gegen Unbeteiligte. Nun übernimmt Name 2 mit den Interessen und Mitteln der Akteure.</a:t>
            </a:r>
          </a:p>
          <a:p/>
          <a:p>
            <a:r>
              <a:t>QUELLEN UND EINORDNUNG</a:t>
            </a:r>
          </a:p>
          <a:p>
            <a:r>
              <a:t>bpb: Geschichte des Nahostkonflikts</a:t>
            </a:r>
          </a:p>
          <a:p>
            <a:r>
              <a:t>https://www.bpb.de/themen/naher-mittlerer-osten/israel/45042/geschichte-des-nahostkonflikts/ [Zugriff am: 14.10.2026]</a:t>
            </a:r>
          </a:p>
          <a:p>
            <a:r>
              <a:t>bpb: Der Gazastreifen im Nahostkonflikt (15.03.2024)</a:t>
            </a:r>
          </a:p>
          <a:p>
            <a:r>
              <a:t>https://www.bpb.de/shop/zeitschriften/apuz/naher-osten-2024/546377/der-gazastreifen-im-nahostkonflikt/ [Zugriff am: 14.10.2026]</a:t>
            </a:r>
          </a:p>
          <a:p>
            <a:r>
              <a:t>IGH: Zusammenfassung des Gutachtens vom 19.07.2024</a:t>
            </a:r>
          </a:p>
          <a:p>
            <a:r>
              <a:t>https://www.icj-cij.org/node/204176 [Zugriff am: 14.10.2026]</a:t>
            </a:r>
          </a:p>
          <a:p>
            <a:r>
              <a:t>SWP: Krieg in Nahost</a:t>
            </a:r>
          </a:p>
          <a:p>
            <a:r>
              <a:t>https://www.swp-berlin.org/fokusthema/krieg-in-nahost [Zugriff am: 14.10.2026]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[Name 2]</a:t>
            </a:r>
          </a:p>
          <a:p>
            <a:r>
              <a:t>Richtzeit: 60 Sekunden</a:t>
            </a:r>
          </a:p>
          <a:p/>
          <a:p>
            <a:r>
              <a:t>SPRECHTEXT</a:t>
            </a:r>
          </a:p>
          <a:p>
            <a:r>
              <a:t>Die Interessen lassen sich nicht einfach auf zwei einheitliche Lager reduzieren. Die israelische Regierung begründet ihr Vorgehen mit Sicherheit und der Ausschaltung der militärischen Bedrohung durch Hamas. Innerhalb Israels gibt es jedoch Streit über Kriegsführung, territoriale Kontrolle und politische Lösungen. Viele Palästinenser verlangen einen eigenen Staat, Bewegungsfreiheit und ein Leben ohne Besatzung und Gewalt. Die Palästinensische Autonomiebehörde, kurz PA, ist eine andere politische Organisation als Hamas. Hamas verbindet den bewaffneten Kampf gegen Israel mit dem Anspruch, ihre eigene Herrschaft und eine islamistische Ordnung zu erhalten. Auch palästinensische Stimmen kritisieren diese Herrschaft. Bei politischen Führungen können außerdem Machterhalt und ideologische Ansprüche Kompromisse erschweren. Unsere Gegenüberstellung ist eine analytische Zusammenfassung, keine Behauptung über die Meinung jedes einzelnen Menschen. Sicherheit für Israelis und Selbstbestimmung für Palästinenser müssen in einer tragfähigen Lösung gemeinsam berücksichtigt werden.</a:t>
            </a:r>
          </a:p>
          <a:p/>
          <a:p>
            <a:r>
              <a:t>QUELLEN UND EINORDNUNG</a:t>
            </a:r>
          </a:p>
          <a:p>
            <a:r>
              <a:t>bpb: Der Gazastreifen im Nahostkonflikt (15.03.2024)</a:t>
            </a:r>
          </a:p>
          <a:p>
            <a:r>
              <a:t>https://www.bpb.de/shop/zeitschriften/apuz/naher-osten-2024/546377/der-gazastreifen-im-nahostkonflikt/ [Zugriff am: 14.10.2026]</a:t>
            </a:r>
          </a:p>
          <a:p>
            <a:r>
              <a:t>SWP: Krieg in Nahost</a:t>
            </a:r>
          </a:p>
          <a:p>
            <a:r>
              <a:t>https://www.swp-berlin.org/fokusthema/krieg-in-nahost [Zugriff am: 14.10.2026]</a:t>
            </a:r>
          </a:p>
          <a:p>
            <a:r>
              <a:t>SWP: Katars Außenpolitik (2022/S 12)</a:t>
            </a:r>
          </a:p>
          <a:p>
            <a:r>
              <a:t>https://www.swp-berlin.org/10.18449/2022S12/ [Zugriff am: 14.10.2026]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[Name 2]</a:t>
            </a:r>
          </a:p>
          <a:p>
            <a:r>
              <a:t>Richtzeit: 70 Sekunden</a:t>
            </a:r>
          </a:p>
          <a:p/>
          <a:p>
            <a:r>
              <a:t>SPRECHTEXT</a:t>
            </a:r>
          </a:p>
          <a:p>
            <a:r>
              <a:t>Wir müssen zwei rechtliche Fragen auseinanderhalten: Unter welchen Voraussetzungen darf ein Staat Gewalt einsetzen, und welche Regeln gelten während eines Krieges? Israel beruft sich auf Selbstverteidigung nach Artikel 51 der UN-Charta. Dessen Anwendung im konkreten Besatzungskontext ist juristisch umstritten. Unabhängig davon gelten die Regeln zum Schutz der Zivilbevölkerung, zur Unterscheidung militärischer Ziele und zur Verhältnismäßigkeit. Geiselnahmen sind verboten. Der Internationale Gerichtshof behandelt die Verantwortung von Staaten. Im Verfahren Südafrika gegen Israel ordnete er 2024 vorläufige Schutzmaßnahmen an. Daraus folgt noch kein abschließendes Urteil über den Völkermordvorwurf. Der Internationale Strafgerichtshof befasst sich dagegen mit einzelnen Personen. Er erließ 2024 Haftbefehle gegen Netanyahu, Gallant und den Hamas-Kommandeur Deif. Haftbefehle sind keine Verurteilungen. Militärisch ist Israel weit überlegen und erhält insbesondere US-Unterstützung. Hamas und PIJ nutzen unter anderem Raketen und Tunnel. Iran unterstützt bewaffnete Partner. Katar unterhält Kontakte zu Hamas, finanziert Hilfen und vermittelt. Diese Rollen dürfen nicht gleichgesetzt werden.</a:t>
            </a:r>
          </a:p>
          <a:p/>
          <a:p>
            <a:r>
              <a:t>QUELLEN UND EINORDNUNG</a:t>
            </a:r>
          </a:p>
          <a:p>
            <a:r>
              <a:t>UN-Charta: vollständiger Text, Artikel 27 und 51</a:t>
            </a:r>
          </a:p>
          <a:p>
            <a:r>
              <a:t>https://www.un.org/en/about-us/un-charter/full-text [Zugriff am: 14.10.2026]</a:t>
            </a:r>
          </a:p>
          <a:p>
            <a:r>
              <a:t>IKRK: Erklärung zu Gaza und Israel (09.03.2024)</a:t>
            </a:r>
          </a:p>
          <a:p>
            <a:r>
              <a:t>https://www.icrc.org/en/document/statement-gaza-and-israel-president-icrc [Zugriff am: 14.10.2026]</a:t>
            </a:r>
          </a:p>
          <a:p>
            <a:r>
              <a:t>IKRK: Fragen und Antworten zu Israel und besetzten Gebieten</a:t>
            </a:r>
          </a:p>
          <a:p>
            <a:r>
              <a:t>https://www.icrc.org/en/document/FAQ-icrc-work-Israel-and-occupied-territories [Zugriff am: 14.10.2026]</a:t>
            </a:r>
          </a:p>
          <a:p>
            <a:r>
              <a:t>IGH: Zusammenfassung des Gutachtens vom 19.07.2024</a:t>
            </a:r>
          </a:p>
          <a:p>
            <a:r>
              <a:t>https://www.icj-cij.org/node/204176 [Zugriff am: 14.10.2026]</a:t>
            </a:r>
          </a:p>
          <a:p>
            <a:r>
              <a:t>IGH: Südafrika gegen Israel, Verfahren Nr. 192</a:t>
            </a:r>
          </a:p>
          <a:p>
            <a:r>
              <a:t>https://www.icj-cij.org/case/192 [Zugriff am: 14.10.2026]</a:t>
            </a:r>
          </a:p>
          <a:p>
            <a:r>
              <a:t>IStGH: Haftbefehle gegen Netanyahu und Gallant (21.11.2024)</a:t>
            </a:r>
          </a:p>
          <a:p>
            <a:r>
              <a:t>https://www.icc-cpi.int/news/situation-state-palestine-icc-pre-trial-chamber-i-rejects-state-israels-challenges?embed=true [Zugriff am: 14.10.2026]</a:t>
            </a:r>
          </a:p>
          <a:p>
            <a:r>
              <a:t>IStGH: Situation in Palästina, einschließlich Verfahren gegen Deif</a:t>
            </a:r>
          </a:p>
          <a:p>
            <a:r>
              <a:t>https://bridge.www.icc-cpi.int/palestine [Zugriff am: 14.10.2026]</a:t>
            </a:r>
          </a:p>
          <a:p>
            <a:r>
              <a:t>Congressional Research Service: Abstimmungen zu Israel–Hamas</a:t>
            </a:r>
          </a:p>
          <a:p>
            <a:r>
              <a:t>https://www.congress.gov/crs-products/product/pdf/R/R48289 [Zugriff am: 14.10.2026]</a:t>
            </a:r>
          </a:p>
          <a:p>
            <a:r>
              <a:t>Congressional Research Service: Iran’s Foreign and Defense Policies</a:t>
            </a:r>
          </a:p>
          <a:p>
            <a:r>
              <a:t>https://www.congress.gov/crs_external_products/R/PDF/R44017/R44017.66.pdf [Zugriff am: 14.10.2026]</a:t>
            </a:r>
          </a:p>
          <a:p>
            <a:r>
              <a:t>SWP: Katars Außenpolitik (2022/S 12)</a:t>
            </a:r>
          </a:p>
          <a:p>
            <a:r>
              <a:t>https://www.swp-berlin.org/10.18449/2022S12/ [Zugriff am: 14.10.2026]</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[Name 2]</a:t>
            </a:r>
          </a:p>
          <a:p>
            <a:r>
              <a:t>Richtzeit: 60 Sekunden</a:t>
            </a:r>
          </a:p>
          <a:p/>
          <a:p>
            <a:r>
              <a:t>SPRECHTEXT</a:t>
            </a:r>
          </a:p>
          <a:p>
            <a:r>
              <a:t>Nach dem Terrorangriff vom 7. Oktober 2023 folgten israelische Luftangriffe und die Bodenoffensive. Zugleich weitete sich der Konflikt durch Hisbollah, Huthi und direkte Auseinandersetzungen mit Iran regional aus. Die Waffenruhe vom Oktober 2025 führte nicht zu einem dauerhaften Ende der Gewalt. Für unsere Bildanalyse betrachten wir bewusst einen früheren, klar datierten Stand: den 8. Juli 2025. UNOSAT erfasste damals 192.812 betroffene Bauwerke. Dazu gehören zerstörte, schwer oder mäßig beschädigte sowie möglicherweise beschädigte Strukturen. Insgesamt entspricht das rund 78 Prozent. 102.067 Bauwerke wurden als zerstört eingestuft. Die roten Flächen zeigen die räumliche Dichte der Schäden. Das hilft, den Umfang der Zerstörung und den Wiederaufbaubedarf zu verstehen. Die Auswertung war vorläufig und noch nicht vor Ort überprüft. Aus dem Satellitenbild allein lassen sich weder Opferzahlen noch die Verantwortlichkeit für einzelne Angriffe oder sichere Fluchtwege ableiten.</a:t>
            </a:r>
          </a:p>
          <a:p/>
          <a:p>
            <a:r>
              <a:t>QUELLEN UND EINORDNUNG</a:t>
            </a:r>
          </a:p>
          <a:p>
            <a:r>
              <a:t>SWP: Krieg in Nahost</a:t>
            </a:r>
          </a:p>
          <a:p>
            <a:r>
              <a:t>https://www.swp-berlin.org/fokusthema/krieg-in-nahost [Zugriff am: 14.10.2026]</a:t>
            </a:r>
          </a:p>
          <a:p>
            <a:r>
              <a:t>Reuters: Fortdauernde Gewalt und stockende Umsetzung (12.10.2026)</a:t>
            </a:r>
          </a:p>
          <a:p>
            <a:r>
              <a:t>https://www.reuters.com/world/middle-east/israeli-fire-kills-two-people-gaza-medics-say-2026-10-12/ [Zugriff am: 14.10.2026]</a:t>
            </a:r>
          </a:p>
          <a:p>
            <a:r>
              <a:t>UNOSAT: Gaza Strip Comprehensive Damage Assessment (08.07.2025)</a:t>
            </a:r>
          </a:p>
          <a:p>
            <a:r>
              <a:t>https://unosat.org/products/4165 [Zugriff am: 14.10.2026]</a:t>
            </a:r>
          </a:p>
          <a:p>
            <a:r>
              <a:t>UNOSAT: Originalkarte, veröffentlicht 06.08.2025, Version 1</a:t>
            </a:r>
          </a:p>
          <a:p>
            <a:r>
              <a:t>https://unosat.org/static/unosat_filesystem/4165/OCHA-OPT-027_UNOSAT_A3_Gaza_Strip_OPT_CDA_08072025.pdf [Zugriff am: 14.10.2026]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[Name 2]</a:t>
            </a:r>
          </a:p>
          <a:p>
            <a:r>
              <a:t>Richtzeit: 50 Sekunden</a:t>
            </a:r>
          </a:p>
          <a:p/>
          <a:p>
            <a:r>
              <a:t>SPRECHTEXT</a:t>
            </a:r>
          </a:p>
          <a:p>
            <a:r>
              <a:t>AKUF unterscheidet fünf Typen. A bezeichnet Antiregimekriege, B Autonomie- und Sezessionskriege, C zwischenstaatliche Kriege, D Dekolonisationskriege und E sonstige Kriege. Für unsere Analyse wählen wir eine vorsichtige Mischtyp-These. A erfasst den Kampf um das Ende oder den Erhalt der Hamas-Herrschaft. B passt teilweise zum Streben nach Selbstbestimmung, aber Gaza ist kein gewöhnlicher Sezessionsfall. Eine klare C-Dimension entsteht vor allem bei direkten Kämpfen zwischen Israel und Iran. Die De-facto-Regierung der Hamas erschwert eine einfache Trennung zwischen staatlichen und nichtstaatlichen Akteuren. Besatzung beschreibt zudem einen rechtlichen Kontext und keinen eigenen Buchstabentyp. Wir behaupten deshalb keine offizielle AKUF-Codierung für Gaza. Fremdbeteiligung zählt bei AKUF nur bei unmittelbarer Teilnahme fremder staatlicher Streitkräfte. Waffenlieferungen oder Geld genügen nicht. Nun untersucht Name 3 die internationalen Handlungsmöglichkeiten.</a:t>
            </a:r>
          </a:p>
          <a:p/>
          <a:p>
            <a:r>
              <a:t>QUELLEN UND EINORDNUNG</a:t>
            </a:r>
          </a:p>
          <a:p>
            <a:r>
              <a:t>AKUF: Kriegsdefinition und Kriegstypologie</a:t>
            </a:r>
          </a:p>
          <a:p>
            <a:r>
              <a:t>https://www.wiso.uni-hamburg.de/fachbereich-sowi/ueber-den-fachbereich/fachgebiete/akuf/kriegsdefinition.html [Zugriff am: 14.10.2026]</a:t>
            </a:r>
          </a:p>
          <a:p>
            <a:r>
              <a:t>IGH: Zusammenfassung des Gutachtens vom 19.07.2024</a:t>
            </a:r>
          </a:p>
          <a:p>
            <a:r>
              <a:t>https://www.icj-cij.org/node/204176 [Zugriff am: 14.10.2026]</a:t>
            </a:r>
          </a:p>
          <a:p>
            <a:r>
              <a:t>SWP: Krieg in Nahost</a:t>
            </a:r>
          </a:p>
          <a:p>
            <a:r>
              <a:t>https://www.swp-berlin.org/fokusthema/krieg-in-nahost [Zugriff am: 14.10.2026]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[Name 3]</a:t>
            </a:r>
          </a:p>
          <a:p>
            <a:r>
              <a:t>Richtzeit: 80 Sekunden</a:t>
            </a:r>
          </a:p>
          <a:p/>
          <a:p>
            <a:r>
              <a:t>SPRECHTEXT</a:t>
            </a:r>
          </a:p>
          <a:p>
            <a:r>
              <a:t>Der Sicherheitsrat kann verbindliche Entscheidungen treffen, bleibt aber von den Interessen seiner Mitglieder abhängig. Am 18. Oktober 2023 blockierten die USA einen brasilianischen Entwurf für humanitäre Pausen. Eine Woche später legten Russland und China Vetos gegen einen amerikanischen Entwurf ein. Die Gründe unterschieden sich, unter anderem bei Selbstverteidigung und der Forderung nach einem Waffenstillstand. Am 25. März 2024 verlangte Resolution 2728 eine sofortige Waffenruhe für Ramadan und die bedingungslose Freilassung aller Geiseln. Die USA enthielten sich. Resolution 2735 vom Juni unterstützte einen Plan mit drei Phasen: zunächst Waffenruhe und Austausch, dann ein dauerhaftes Ende der Kämpfe und schließlich Wiederaufbau. Resolution 2803 vom November 2025 unterstützte den umfassenden Plan und begrüßte den Board of Peace als Übergangsverwaltung. Sie autorisierte eine zeitweilige internationale Stabilisierungstruppe. Russland und China enthielten sich diesmal. Ein beschlossenes Mandat bedeutet jedoch nicht automatisch erfolgreiche Umsetzung. Als Vermittler wirken USA, Ägypten und Katar. UNRWA stellt grundlegende Hilfsleistungen bereit, während OCHA humanitäre Hilfe koordiniert. Diese Organisationen sind keine Streitkräfte des Sicherheitsrats.</a:t>
            </a:r>
          </a:p>
          <a:p/>
          <a:p>
            <a:r>
              <a:t>QUELLEN UND EINORDNUNG</a:t>
            </a:r>
          </a:p>
          <a:p>
            <a:r>
              <a:t>UN: US-Veto vom 18.10.2023</a:t>
            </a:r>
          </a:p>
          <a:p>
            <a:r>
              <a:t>https://www.un.org/unispal/document/security-council-fails-to-adopt-resolution-calling-for-humanitarian-pauses-in-israel-gaza-crisis-on-account-of-veto-by-united-states/ [Zugriff am: 14.10.2026]</a:t>
            </a:r>
          </a:p>
          <a:p>
            <a:r>
              <a:t>UN: Russische und chinesische Vetos vom 25.10.2023</a:t>
            </a:r>
          </a:p>
          <a:p>
            <a:r>
              <a:t>https://www.un.org/unispal/document/security-council-fails-to-adopt-either-of-two-draft-resolutions-addressing-conflict-and-humanitarian-crisis-in-gaza-press-release/ [Zugriff am: 14.10.2026]</a:t>
            </a:r>
          </a:p>
          <a:p>
            <a:r>
              <a:t>UN-Sicherheitsrat: Resolution 2728 (25.03.2024)</a:t>
            </a:r>
          </a:p>
          <a:p>
            <a:r>
              <a:t>https://www.un.org/unispal/document/sc-adopted-resolution-2728-2024-demanding-for-an-immediate-ceasefire-during-the-month-of-ramadan-25mar24/ [Zugriff am: 14.10.2026]</a:t>
            </a:r>
          </a:p>
          <a:p>
            <a:r>
              <a:t>UN-Sicherheitsrat: Resolution 2735 (10.06.2024)</a:t>
            </a:r>
          </a:p>
          <a:p>
            <a:r>
              <a:t>https://press.un.org/en/2024/sc15723.doc.htm [Zugriff am: 14.10.2026]</a:t>
            </a:r>
          </a:p>
          <a:p>
            <a:r>
              <a:t>UN-Sicherheitsrat: Resolution 2803 (17.11.2025)</a:t>
            </a:r>
          </a:p>
          <a:p>
            <a:r>
              <a:t>https://digitallibrary.un.org/record/4093207 [Zugriff am: 14.10.2026]</a:t>
            </a:r>
          </a:p>
          <a:p>
            <a:r>
              <a:t>Vereinte Nationen: Erläuterung der Resolution 2803</a:t>
            </a:r>
          </a:p>
          <a:p>
            <a:r>
              <a:t>https://palestine.un.org/en/305520-un-security-council-authorizes-temporary-international-force-gaza [Zugriff am: 14.10.2026]</a:t>
            </a:r>
          </a:p>
          <a:p>
            <a:r>
              <a:t>SWP: Katars Außenpolitik (2022/S 12)</a:t>
            </a:r>
          </a:p>
          <a:p>
            <a:r>
              <a:t>https://www.swp-berlin.org/10.18449/2022S12/ [Zugriff am: 14.10.2026]</a:t>
            </a:r>
          </a:p>
          <a:p>
            <a:r>
              <a:t>UNRWA: Aufgaben und Hilfsleistungen</a:t>
            </a:r>
          </a:p>
          <a:p>
            <a:r>
              <a:t>https://www.unrwa.org/what-we-do [Zugriff am: 14.10.2026]</a:t>
            </a:r>
          </a:p>
          <a:p>
            <a:r>
              <a:t>OCHA: Aufgaben der humanitären Koordination</a:t>
            </a:r>
          </a:p>
          <a:p>
            <a:r>
              <a:t>https://www.ochaopt.org/about-us/our-work [Zugriff am: 14.10.2026]</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[Name 3]</a:t>
            </a:r>
          </a:p>
          <a:p>
            <a:r>
              <a:t>Richtzeit: 60 Sekunden</a:t>
            </a:r>
          </a:p>
          <a:p/>
          <a:p>
            <a:r>
              <a:t>SPRECHTEXT</a:t>
            </a:r>
          </a:p>
          <a:p>
            <a:r>
              <a:t>Verhandlungen werden wahrscheinlicher, wenn beide Seiten Vorteile erwarten und die Kosten einer Fortsetzung steigen. Geisel- und Gefangenenaustausch waren dafür ein wichtiger Hebel. Das ist hier historisch gemeint: Der Bericht des Board of Peace nennt die Rückkehr der letzten lebenden Geisel im Oktober 2025 und der letzten verstorbenen Geisel im Januar 2026. Heute stehen die Umsetzung der Vereinbarungen und die politische Zukunft im Zentrum. Humanitäre Hilfe muss die Menschen erreichen und darf nicht von politischen Gegenleistungen abhängig gemacht werden. Für belastbare Abkommen braucht es überprüfbare Sicherheitszusagen und Regeln für Verstöße. Langfristig gehören Wiederaufbau, legitime palästinensische Mitbestimmung und Sicherheit für Israel zusammen. Friedensinitiativen und lokale Organisationen können Vertrauen schaffen, ersetzen aber keine politischen Entscheidungen. Unsere Schlussfolgerung lautet deshalb: Kurzfristige Absprachen müssen mit einer glaubwürdigen Perspektive verbunden sein. Sonst bleiben die Ursachen des Konflikts bestehen.</a:t>
            </a:r>
          </a:p>
          <a:p/>
          <a:p>
            <a:r>
              <a:t>QUELLEN UND EINORDNUNG</a:t>
            </a:r>
          </a:p>
          <a:p>
            <a:r>
              <a:t>Bericht des Board of Peace, S/2026/418 (22.05.2026)</a:t>
            </a:r>
          </a:p>
          <a:p>
            <a:r>
              <a:t>https://www.un.org/unispal/document/implementation-of-united-nations-security-council-resolution-2803-2025-report-of-the-board-of-peace-through-the-office-of-the-high-representative-for-gaza-s-2026-418/ [Zugriff am: 14.10.2026]</a:t>
            </a:r>
          </a:p>
          <a:p>
            <a:r>
              <a:t>UN-Sicherheitsrat: Resolution 2735 (10.06.2024)</a:t>
            </a:r>
          </a:p>
          <a:p>
            <a:r>
              <a:t>https://press.un.org/en/2024/sc15723.doc.htm [Zugriff am: 14.10.2026]</a:t>
            </a:r>
          </a:p>
          <a:p>
            <a:r>
              <a:t>Vereinte Nationen: Erläuterung der Resolution 2803</a:t>
            </a:r>
          </a:p>
          <a:p>
            <a:r>
              <a:t>https://palestine.un.org/en/305520-un-security-council-authorizes-temporary-international-force-gaza [Zugriff am: 14.10.2026]</a:t>
            </a:r>
          </a:p>
          <a:p>
            <a:r>
              <a:t>IKRK: Erklärung zu Gaza und Israel (09.03.2024)</a:t>
            </a:r>
          </a:p>
          <a:p>
            <a:r>
              <a:t>https://www.icrc.org/en/document/statement-gaza-and-israel-president-icrc [Zugriff am: 14.10.2026]</a:t>
            </a:r>
          </a:p>
          <a:p>
            <a:r>
              <a:t>SWP: Krieg in Nahost</a:t>
            </a:r>
          </a:p>
          <a:p>
            <a:r>
              <a:t>https://www.swp-berlin.org/fokusthema/krieg-in-nahost [Zugriff am: 14.10.2026]</a:t>
            </a:r>
          </a:p>
          <a:p>
            <a:r>
              <a:t>bpb: Frieden, Galtung und Senghaas</a:t>
            </a:r>
          </a:p>
          <a:p>
            <a:r>
              <a:t>https://www.bpb.de/lernen/politische-bildung/193093/frieden/?p=0 [Zugriff am: 14.10.2026]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[Name 3]</a:t>
            </a:r>
          </a:p>
          <a:p>
            <a:r>
              <a:t>Richtzeit: 85 Sekunden</a:t>
            </a:r>
          </a:p>
          <a:p/>
          <a:p>
            <a:r>
              <a:t>SPRECHTEXT</a:t>
            </a:r>
          </a:p>
          <a:p>
            <a:r>
              <a:t>Unser Urteil richtet sich nach offengelegten Kriterien. Bei Johan Galtung bedeutet negativer Frieden zunächst die Abwesenheit direkter Gewalt. Eine Waffenruhe kann ein Schritt dorthin sein. Wenn trotzdem Menschen getötet werden, ist bereits dieser Mindeststandard unvollständig erfüllt. Reuters berichtete noch am 12. Oktober 2026 über tödliche Angriffe und eine stockende Umsetzung des Abkommens. Positiver Frieden verlangt zusätzlich, strukturelle Gewalt abzubauen und Rechte, Sicherheit und Entwicklung zu ermöglichen. Senghaas nennt sechs miteinander verbundene Bedingungen. Ein Gewaltmonopol braucht rechtsstaatliche Kontrolle. Demokratische Beteiligung gibt Menschen Einfluss auf Entscheidungen. Soziale Gerechtigkeit setzt Zugang zu grundlegender Versorgung voraus. Konstruktive Konfliktkultur sowie Interdependenz und Affektkontrolle helfen, Streit ohne Gewalt zu bearbeiten. Für Gaza sehen wir besonders große Defizite bei legitimer Gewaltkontrolle, Rechtsschutz, Versorgung und politischer Beteiligung. Unser begründetes Urteil lautet: Resolution 2803 ist ein möglicher Übergangsrahmen, aber kein Nachweis eines erreichten Friedens. Entscheidend sind ihre tatsächlichen Folgen für die Menschen. Eine tragfähige Lösung muss Israelis vor Angriffen schützen und Palästinensern Selbstbestimmung und gleiche Rechte ermöglichen. Die Aussicht auf Stabilisierung spricht für einen Übergangsrahmen. Fehlende demokratische Legitimation und unzureichender Schutz wären dagegen gewichtige Einwände. Menschenrechte gelten dabei unabhängig von Herkunft oder Religion.</a:t>
            </a:r>
          </a:p>
          <a:p/>
          <a:p>
            <a:r>
              <a:t>QUELLEN UND EINORDNUNG</a:t>
            </a:r>
          </a:p>
          <a:p>
            <a:r>
              <a:t>bpb: Überlegungen zur Entspannung in einer pluralistischen Welt</a:t>
            </a:r>
          </a:p>
          <a:p>
            <a:r>
              <a:t>https://www.bpb.de/shop/zeitschriften/apuz/archiv/531674/ueberlegungen-zur-entspannung-in-einer-pluralistischen-welt/ [Zugriff am: 14.10.2026]</a:t>
            </a:r>
          </a:p>
          <a:p>
            <a:r>
              <a:t>bpb: Frieden, Galtung und Senghaas</a:t>
            </a:r>
          </a:p>
          <a:p>
            <a:r>
              <a:t>https://www.bpb.de/lernen/politische-bildung/193093/frieden/?p=0 [Zugriff am: 14.10.2026]</a:t>
            </a:r>
          </a:p>
          <a:p>
            <a:r>
              <a:t>Reuters: Fortdauernde Gewalt und stockende Umsetzung (12.10.2026)</a:t>
            </a:r>
          </a:p>
          <a:p>
            <a:r>
              <a:t>https://www.reuters.com/world/middle-east/israeli-fire-kills-two-people-gaza-medics-say-2026-10-12/ [Zugriff am: 14.10.2026]</a:t>
            </a:r>
          </a:p>
          <a:p>
            <a:r>
              <a:t>Vereinte Nationen: Erläuterung der Resolution 2803</a:t>
            </a:r>
          </a:p>
          <a:p>
            <a:r>
              <a:t>https://palestine.un.org/en/305520-un-security-council-authorizes-temporary-international-force-gaza [Zugriff am: 14.10.2026]</a:t>
            </a:r>
          </a:p>
          <a:p>
            <a:r>
              <a:t>SWP: Krieg in Nahost</a:t>
            </a:r>
          </a:p>
          <a:p>
            <a:r>
              <a:t>https://www.swp-berlin.org/fokusthema/krieg-in-nahost [Zugriff am: 14.10.2026]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[Name 3]</a:t>
            </a:r>
          </a:p>
          <a:p>
            <a:r>
              <a:t>Richtzeit: 15 Sekunden</a:t>
            </a:r>
          </a:p>
          <a:p/>
          <a:p>
            <a:r>
              <a:t>SPRECHTEXT</a:t>
            </a:r>
          </a:p>
          <a:p>
            <a:r>
              <a:t>Hier stehen die zentralen Quellen mit dem tatsächlichen Zugriffsdatum. In den Sprechernotizen finden sich die ergänzenden juristischen Belege und Bildnachweise. Unsere eigene Einordnung und unser Urteil haben wir ausdrücklich gekennzeichnet. Vielen Dank.</a:t>
            </a:r>
          </a:p>
          <a:p/>
          <a:p>
            <a:r>
              <a:t>QUELLEN UND EINORDNUNG</a:t>
            </a:r>
          </a:p>
          <a:p>
            <a:r>
              <a:t>AKUF: Kriegsdefinition und Kriegstypologie</a:t>
            </a:r>
          </a:p>
          <a:p>
            <a:r>
              <a:t>https://www.wiso.uni-hamburg.de/fachbereich-sowi/ueber-den-fachbereich/fachgebiete/akuf/kriegsdefinition.html [Zugriff am: 14.10.2026]</a:t>
            </a:r>
          </a:p>
          <a:p>
            <a:r>
              <a:t>bpb: Der Gazastreifen im Nahostkonflikt (15.03.2024)</a:t>
            </a:r>
          </a:p>
          <a:p>
            <a:r>
              <a:t>https://www.bpb.de/shop/zeitschriften/apuz/naher-osten-2024/546377/der-gazastreifen-im-nahostkonflikt/ [Zugriff am: 14.10.2026]</a:t>
            </a:r>
          </a:p>
          <a:p>
            <a:r>
              <a:t>bpb: Geschichte des Nahostkonflikts</a:t>
            </a:r>
          </a:p>
          <a:p>
            <a:r>
              <a:t>https://www.bpb.de/themen/naher-mittlerer-osten/israel/45042/geschichte-des-nahostkonflikts/ [Zugriff am: 14.10.2026]</a:t>
            </a:r>
          </a:p>
          <a:p>
            <a:r>
              <a:t>bpb: Frieden, Galtung und Senghaas</a:t>
            </a:r>
          </a:p>
          <a:p>
            <a:r>
              <a:t>https://www.bpb.de/lernen/politische-bildung/193093/frieden/?p=0 [Zugriff am: 14.10.2026]</a:t>
            </a:r>
          </a:p>
          <a:p>
            <a:r>
              <a:t>bpb: Überlegungen zur Entspannung in einer pluralistischen Welt</a:t>
            </a:r>
          </a:p>
          <a:p>
            <a:r>
              <a:t>https://www.bpb.de/shop/zeitschriften/apuz/archiv/531674/ueberlegungen-zur-entspannung-in-einer-pluralistischen-welt/ [Zugriff am: 14.10.2026]</a:t>
            </a:r>
          </a:p>
          <a:p>
            <a:r>
              <a:t>SWP: Krieg in Nahost</a:t>
            </a:r>
          </a:p>
          <a:p>
            <a:r>
              <a:t>https://www.swp-berlin.org/fokusthema/krieg-in-nahost [Zugriff am: 14.10.2026]</a:t>
            </a:r>
          </a:p>
          <a:p>
            <a:r>
              <a:t>SWP: Katars Außenpolitik (2022/S 12)</a:t>
            </a:r>
          </a:p>
          <a:p>
            <a:r>
              <a:t>https://www.swp-berlin.org/10.18449/2022S12/ [Zugriff am: 14.10.2026]</a:t>
            </a:r>
          </a:p>
          <a:p>
            <a:r>
              <a:t>OCHA: Gaza Strip access and movement (Juli 2024)</a:t>
            </a:r>
          </a:p>
          <a:p>
            <a:r>
              <a:t>https://www.ochaopt.org/content/gaza-strip-access-and-movement-july-2024 [Zugriff am: 14.10.2026]</a:t>
            </a:r>
          </a:p>
          <a:p>
            <a:r>
              <a:t>UNOSAT: Gaza Strip Comprehensive Damage Assessment (08.07.2025)</a:t>
            </a:r>
          </a:p>
          <a:p>
            <a:r>
              <a:t>https://unosat.org/products/4165 [Zugriff am: 14.10.2026]</a:t>
            </a:r>
          </a:p>
          <a:p>
            <a:r>
              <a:t>UNOSAT: Originalkarte, veröffentlicht 06.08.2025, Version 1</a:t>
            </a:r>
          </a:p>
          <a:p>
            <a:r>
              <a:t>https://unosat.org/static/unosat_filesystem/4165/OCHA-OPT-027_UNOSAT_A3_Gaza_Strip_OPT_CDA_08072025.pdf [Zugriff am: 14.10.2026]</a:t>
            </a:r>
          </a:p>
          <a:p>
            <a:r>
              <a:t>UN-Sicherheitsrat: Resolutionen</a:t>
            </a:r>
          </a:p>
          <a:p>
            <a:r>
              <a:t>https://main.un.org/securitycouncil/en/content/resolutions-0 [Zugriff am: 14.10.2026]</a:t>
            </a:r>
          </a:p>
          <a:p>
            <a:r>
              <a:t>UN-Sicherheitsrat: Resolution 2728 (25.03.2024)</a:t>
            </a:r>
          </a:p>
          <a:p>
            <a:r>
              <a:t>https://www.un.org/unispal/document/sc-adopted-resolution-2728-2024-demanding-for-an-immediate-ceasefire-during-the-month-of-ramadan-25mar24/ [Zugriff am: 14.10.2026]</a:t>
            </a:r>
          </a:p>
          <a:p>
            <a:r>
              <a:t>UN-Sicherheitsrat: Resolution 2735 (10.06.2024)</a:t>
            </a:r>
          </a:p>
          <a:p>
            <a:r>
              <a:t>https://press.un.org/en/2024/sc15723.doc.htm [Zugriff am: 14.10.2026]</a:t>
            </a:r>
          </a:p>
          <a:p>
            <a:r>
              <a:t>UN-Sicherheitsrat: Resolution 2803 (17.11.2025)</a:t>
            </a:r>
          </a:p>
          <a:p>
            <a:r>
              <a:t>https://digitallibrary.un.org/record/4093207 [Zugriff am: 14.10.2026]</a:t>
            </a:r>
          </a:p>
          <a:p>
            <a:r>
              <a:t>Vereinte Nationen: Erläuterung der Resolution 2803</a:t>
            </a:r>
          </a:p>
          <a:p>
            <a:r>
              <a:t>https://palestine.un.org/en/305520-un-security-council-authorizes-temporary-international-force-gaza [Zugriff am: 14.10.2026]</a:t>
            </a:r>
          </a:p>
          <a:p>
            <a:r>
              <a:t>UN: US-Veto vom 18.10.2023</a:t>
            </a:r>
          </a:p>
          <a:p>
            <a:r>
              <a:t>https://www.un.org/unispal/document/security-council-fails-to-adopt-resolution-calling-for-humanitarian-pauses-in-israel-gaza-crisis-on-account-of-veto-by-united-states/ [Zugriff am: 14.10.2026]</a:t>
            </a:r>
          </a:p>
          <a:p>
            <a:r>
              <a:t>UN: Russische und chinesische Vetos vom 25.10.2023</a:t>
            </a:r>
          </a:p>
          <a:p>
            <a:r>
              <a:t>https://www.un.org/unispal/document/security-council-fails-to-adopt-either-of-two-draft-resolutions-addressing-conflict-and-humanitarian-crisis-in-gaza-press-release/ [Zugriff am: 14.10.2026]</a:t>
            </a:r>
          </a:p>
          <a:p>
            <a:r>
              <a:t>UN-Charta: vollständiger Text, Artikel 27 und 51</a:t>
            </a:r>
          </a:p>
          <a:p>
            <a:r>
              <a:t>https://www.un.org/en/about-us/un-charter/full-text [Zugriff am: 14.10.2026]</a:t>
            </a:r>
          </a:p>
          <a:p>
            <a:r>
              <a:t>IGH: Südafrika gegen Israel, Verfahren Nr. 192</a:t>
            </a:r>
          </a:p>
          <a:p>
            <a:r>
              <a:t>https://www.icj-cij.org/case/192 [Zugriff am: 14.10.2026]</a:t>
            </a:r>
          </a:p>
          <a:p>
            <a:r>
              <a:t>IGH: Zusammenfassung des Gutachtens vom 19.07.2024</a:t>
            </a:r>
          </a:p>
          <a:p>
            <a:r>
              <a:t>https://www.icj-cij.org/node/204176 [Zugriff am: 14.10.2026]</a:t>
            </a:r>
          </a:p>
          <a:p>
            <a:r>
              <a:t>IStGH: Haftbefehle gegen Netanyahu und Gallant (21.11.2024)</a:t>
            </a:r>
          </a:p>
          <a:p>
            <a:r>
              <a:t>https://www.icc-cpi.int/news/situation-state-palestine-icc-pre-trial-chamber-i-rejects-state-israels-challenges?embed=true [Zugriff am: 14.10.2026]</a:t>
            </a:r>
          </a:p>
          <a:p>
            <a:r>
              <a:t>IStGH: Situation in Palästina, einschließlich Verfahren gegen Deif</a:t>
            </a:r>
          </a:p>
          <a:p>
            <a:r>
              <a:t>https://bridge.www.icc-cpi.int/palestine [Zugriff am: 14.10.2026]</a:t>
            </a:r>
          </a:p>
          <a:p>
            <a:r>
              <a:t>IKRK: Erklärung zu Gaza und Israel (09.03.2024)</a:t>
            </a:r>
          </a:p>
          <a:p>
            <a:r>
              <a:t>https://www.icrc.org/en/document/statement-gaza-and-israel-president-icrc [Zugriff am: 14.10.2026]</a:t>
            </a:r>
          </a:p>
          <a:p>
            <a:r>
              <a:t>IKRK: Fragen und Antworten zu Israel und besetzten Gebieten</a:t>
            </a:r>
          </a:p>
          <a:p>
            <a:r>
              <a:t>https://www.icrc.org/en/document/FAQ-icrc-work-Israel-and-occupied-territories [Zugriff am: 14.10.2026]</a:t>
            </a:r>
          </a:p>
          <a:p>
            <a:r>
              <a:t>Congressional Research Service: Abstimmungen zu Israel–Hamas</a:t>
            </a:r>
          </a:p>
          <a:p>
            <a:r>
              <a:t>https://www.congress.gov/crs-products/product/pdf/R/R48289 [Zugriff am: 14.10.2026]</a:t>
            </a:r>
          </a:p>
          <a:p>
            <a:r>
              <a:t>Congressional Research Service: Iran’s Foreign and Defense Policies</a:t>
            </a:r>
          </a:p>
          <a:p>
            <a:r>
              <a:t>https://www.congress.gov/crs_external_products/R/PDF/R44017/R44017.66.pdf [Zugriff am: 14.10.2026]</a:t>
            </a:r>
          </a:p>
          <a:p>
            <a:r>
              <a:t>OCHA: Aufgaben der humanitären Koordination</a:t>
            </a:r>
          </a:p>
          <a:p>
            <a:r>
              <a:t>https://www.ochaopt.org/about-us/our-work [Zugriff am: 14.10.2026]</a:t>
            </a:r>
          </a:p>
          <a:p>
            <a:r>
              <a:t>UNRWA: Aufgaben und Hilfsleistungen</a:t>
            </a:r>
          </a:p>
          <a:p>
            <a:r>
              <a:t>https://www.unrwa.org/what-we-do [Zugriff am: 14.10.2026]</a:t>
            </a:r>
          </a:p>
          <a:p>
            <a:r>
              <a:t>Reuters: Fortdauernde Gewalt und stockende Umsetzung (12.10.2026)</a:t>
            </a:r>
          </a:p>
          <a:p>
            <a:r>
              <a:t>https://www.reuters.com/world/middle-east/israeli-fire-kills-two-people-gaza-medics-say-2026-10-12/ [Zugriff am: 14.10.2026]</a:t>
            </a:r>
          </a:p>
          <a:p>
            <a:r>
              <a:t>Bericht des Board of Peace, S/2026/418 (22.05.2026)</a:t>
            </a:r>
          </a:p>
          <a:p>
            <a:r>
              <a:t>https://www.un.org/unispal/document/implementation-of-united-nations-security-council-resolution-2803-2025-report-of-the-board-of-peace-through-the-office-of-the-high-representative-for-gaza-s-2026-418/ [Zugriff am: 14.10.2026]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ain.un.org/securitycouncil/en/content/resolutions-0" TargetMode="External"/><Relationship Id="rId3" Type="http://schemas.openxmlformats.org/officeDocument/2006/relationships/hyperlink" Target="https://docs.un.org/S/RES/2728(2024)" TargetMode="External"/><Relationship Id="rId4" Type="http://schemas.openxmlformats.org/officeDocument/2006/relationships/hyperlink" Target="https://docs.un.org/S/RES/2735(2024)" TargetMode="External"/><Relationship Id="rId5" Type="http://schemas.openxmlformats.org/officeDocument/2006/relationships/hyperlink" Target="https://digitallibrary.un.org/record/4093207" TargetMode="External"/><Relationship Id="rId6" Type="http://schemas.openxmlformats.org/officeDocument/2006/relationships/hyperlink" Target="https://unosat.org/products/4165" TargetMode="External"/><Relationship Id="rId7" Type="http://schemas.openxmlformats.org/officeDocument/2006/relationships/hyperlink" Target="https://www.wiso.uni-hamburg.de/fachbereich-sowi/ueber-den-fachbereich/fachgebiete/akuf/kriegsdefinition.html" TargetMode="External"/><Relationship Id="rId8" Type="http://schemas.openxmlformats.org/officeDocument/2006/relationships/hyperlink" Target="https://www.bpb.de/shop/zeitschriften/apuz/naher-osten-2024/546377/der-gazastreifen-im-nahostkonflikt/" TargetMode="External"/><Relationship Id="rId9" Type="http://schemas.openxmlformats.org/officeDocument/2006/relationships/hyperlink" Target="https://www.swp-berlin.org/fokusthema/krieg-in-nahost" TargetMode="External"/><Relationship Id="rId10" Type="http://schemas.openxmlformats.org/officeDocument/2006/relationships/hyperlink" Target="https://www.ochaopt.org/content/gaza-strip-access-and-movement-july-2024" TargetMode="External"/><Relationship Id="rId11" Type="http://schemas.openxmlformats.org/officeDocument/2006/relationships/hyperlink" Target="https://www.bpb.de/lernen/politische-bildung/193093/frieden/?p=0" TargetMode="External"/><Relationship Id="rId1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731520" y="6419088"/>
            <a:ext cx="10725912" cy="11887"/>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31520" y="6492240"/>
            <a:ext cx="2834640" cy="201168"/>
          </a:xfrm>
          <a:prstGeom prst="rect">
            <a:avLst/>
          </a:prstGeom>
          <a:noFill/>
        </p:spPr>
        <p:txBody>
          <a:bodyPr wrap="square" lIns="0" rIns="0" tIns="0" bIns="0">
            <a:spAutoFit/>
          </a:bodyPr>
          <a:lstStyle/>
          <a:p>
            <a:pPr algn="l">
              <a:lnSpc>
                <a:spcPct val="112000"/>
              </a:lnSpc>
              <a:spcAft>
                <a:spcPts val="500"/>
              </a:spcAft>
              <a:defRPr sz="1000" b="0">
                <a:solidFill>
                  <a:srgbClr val="475569"/>
                </a:solidFill>
                <a:latin typeface="DejaVu Sans"/>
              </a:defRPr>
            </a:pPr>
            <a:r>
              <a:rPr lang="de-DE"/>
              <a:t>[Name 1]  /  Folie 01</a:t>
            </a:r>
          </a:p>
        </p:txBody>
      </p:sp>
      <p:sp>
        <p:nvSpPr>
          <p:cNvPr id="4" name="TextBox 3"/>
          <p:cNvSpPr txBox="1"/>
          <p:nvPr/>
        </p:nvSpPr>
        <p:spPr>
          <a:xfrm>
            <a:off x="3657600" y="6492240"/>
            <a:ext cx="7799831" cy="201168"/>
          </a:xfrm>
          <a:prstGeom prst="rect">
            <a:avLst/>
          </a:prstGeom>
          <a:noFill/>
        </p:spPr>
        <p:txBody>
          <a:bodyPr wrap="square" lIns="0" rIns="0" tIns="0" bIns="0">
            <a:spAutoFit/>
          </a:bodyPr>
          <a:lstStyle/>
          <a:p>
            <a:pPr algn="r">
              <a:lnSpc>
                <a:spcPct val="112000"/>
              </a:lnSpc>
              <a:spcAft>
                <a:spcPts val="500"/>
              </a:spcAft>
              <a:defRPr sz="900" b="0">
                <a:solidFill>
                  <a:srgbClr val="475569"/>
                </a:solidFill>
                <a:latin typeface="DejaVu Sans"/>
              </a:defRPr>
            </a:pPr>
            <a:r>
              <a:rPr lang="de-DE"/>
              <a:t>Projekt Konfliktforschung / Recherche: 14.10.2026</a:t>
            </a:r>
          </a:p>
        </p:txBody>
      </p:sp>
      <p:sp>
        <p:nvSpPr>
          <p:cNvPr id="5" name="TextBox 4"/>
          <p:cNvSpPr txBox="1"/>
          <p:nvPr/>
        </p:nvSpPr>
        <p:spPr>
          <a:xfrm>
            <a:off x="731520" y="1024128"/>
            <a:ext cx="8229600" cy="320040"/>
          </a:xfrm>
          <a:prstGeom prst="rect">
            <a:avLst/>
          </a:prstGeom>
          <a:noFill/>
        </p:spPr>
        <p:txBody>
          <a:bodyPr wrap="square" lIns="0" rIns="0" tIns="0" bIns="0">
            <a:spAutoFit/>
          </a:bodyPr>
          <a:lstStyle/>
          <a:p>
            <a:pPr algn="l">
              <a:lnSpc>
                <a:spcPct val="112000"/>
              </a:lnSpc>
              <a:spcAft>
                <a:spcPts val="500"/>
              </a:spcAft>
              <a:defRPr sz="1200" b="1">
                <a:solidFill>
                  <a:srgbClr val="2563EB"/>
                </a:solidFill>
                <a:latin typeface="DejaVu Sans"/>
              </a:defRPr>
            </a:pPr>
            <a:r>
              <a:rPr lang="de-DE"/>
              <a:t>POLITIK / KLASSE 10</a:t>
            </a:r>
          </a:p>
        </p:txBody>
      </p:sp>
      <p:sp>
        <p:nvSpPr>
          <p:cNvPr id="6" name="TextBox 5"/>
          <p:cNvSpPr txBox="1"/>
          <p:nvPr/>
        </p:nvSpPr>
        <p:spPr>
          <a:xfrm>
            <a:off x="731520" y="1645920"/>
            <a:ext cx="10058400" cy="2423160"/>
          </a:xfrm>
          <a:prstGeom prst="rect">
            <a:avLst/>
          </a:prstGeom>
          <a:noFill/>
        </p:spPr>
        <p:txBody>
          <a:bodyPr wrap="square" lIns="0" rIns="0" tIns="0" bIns="0">
            <a:spAutoFit/>
          </a:bodyPr>
          <a:lstStyle/>
          <a:p>
            <a:pPr algn="l">
              <a:lnSpc>
                <a:spcPct val="112000"/>
              </a:lnSpc>
              <a:spcAft>
                <a:spcPts val="500"/>
              </a:spcAft>
              <a:defRPr sz="4400" b="1">
                <a:solidFill>
                  <a:srgbClr val="0F172A"/>
                </a:solidFill>
                <a:latin typeface="DejaVu Sans"/>
              </a:defRPr>
            </a:pPr>
            <a:r>
              <a:rPr lang="de-DE"/>
              <a:t>Konfliktanalyse:</a:t>
            </a:r>
          </a:p>
          <a:p>
            <a:pPr algn="l">
              <a:lnSpc>
                <a:spcPct val="112000"/>
              </a:lnSpc>
              <a:spcAft>
                <a:spcPts val="500"/>
              </a:spcAft>
              <a:defRPr sz="4400" b="1">
                <a:solidFill>
                  <a:srgbClr val="0F172A"/>
                </a:solidFill>
                <a:latin typeface="DejaVu Sans"/>
              </a:defRPr>
            </a:pPr>
            <a:r>
              <a:rPr lang="de-DE"/>
              <a:t>Der Krieg im</a:t>
            </a:r>
          </a:p>
          <a:p>
            <a:pPr algn="l">
              <a:lnSpc>
                <a:spcPct val="112000"/>
              </a:lnSpc>
              <a:spcAft>
                <a:spcPts val="500"/>
              </a:spcAft>
              <a:defRPr sz="4400" b="1">
                <a:solidFill>
                  <a:srgbClr val="0F172A"/>
                </a:solidFill>
                <a:latin typeface="DejaVu Sans"/>
              </a:defRPr>
            </a:pPr>
            <a:r>
              <a:rPr lang="de-DE"/>
              <a:t>Gazastreifen</a:t>
            </a:r>
          </a:p>
        </p:txBody>
      </p:sp>
      <p:sp>
        <p:nvSpPr>
          <p:cNvPr id="7" name="TextBox 6"/>
          <p:cNvSpPr txBox="1"/>
          <p:nvPr/>
        </p:nvSpPr>
        <p:spPr>
          <a:xfrm>
            <a:off x="731520" y="4343400"/>
            <a:ext cx="10241280" cy="822960"/>
          </a:xfrm>
          <a:prstGeom prst="rect">
            <a:avLst/>
          </a:prstGeom>
          <a:noFill/>
        </p:spPr>
        <p:txBody>
          <a:bodyPr wrap="square" lIns="0" rIns="0" tIns="0" bIns="0">
            <a:spAutoFit/>
          </a:bodyPr>
          <a:lstStyle/>
          <a:p>
            <a:pPr algn="l">
              <a:lnSpc>
                <a:spcPct val="112000"/>
              </a:lnSpc>
              <a:spcAft>
                <a:spcPts val="500"/>
              </a:spcAft>
              <a:defRPr sz="2000" b="0">
                <a:solidFill>
                  <a:srgbClr val="475569"/>
                </a:solidFill>
                <a:latin typeface="DejaVu Sans"/>
              </a:defRPr>
            </a:pPr>
            <a:r>
              <a:rPr lang="de-DE"/>
              <a:t>AKUF-Schema</a:t>
            </a:r>
          </a:p>
          <a:p>
            <a:pPr algn="l">
              <a:lnSpc>
                <a:spcPct val="112000"/>
              </a:lnSpc>
              <a:spcAft>
                <a:spcPts val="500"/>
              </a:spcAft>
              <a:defRPr sz="2000" b="0">
                <a:solidFill>
                  <a:srgbClr val="475569"/>
                </a:solidFill>
                <a:latin typeface="DejaVu Sans"/>
              </a:defRPr>
            </a:pPr>
            <a:r>
              <a:rPr lang="de-DE"/>
              <a:t>Ursachen, UN-Sicherheitsrat und Wege zum Frieden</a:t>
            </a:r>
          </a:p>
        </p:txBody>
      </p:sp>
      <p:sp>
        <p:nvSpPr>
          <p:cNvPr id="8" name="TextBox 7"/>
          <p:cNvSpPr txBox="1"/>
          <p:nvPr/>
        </p:nvSpPr>
        <p:spPr>
          <a:xfrm>
            <a:off x="731520" y="5623560"/>
            <a:ext cx="10058400" cy="365760"/>
          </a:xfrm>
          <a:prstGeom prst="rect">
            <a:avLst/>
          </a:prstGeom>
          <a:noFill/>
        </p:spPr>
        <p:txBody>
          <a:bodyPr wrap="square" lIns="0" rIns="0" tIns="0" bIns="0">
            <a:spAutoFit/>
          </a:bodyPr>
          <a:lstStyle/>
          <a:p>
            <a:pPr algn="l">
              <a:lnSpc>
                <a:spcPct val="112000"/>
              </a:lnSpc>
              <a:spcAft>
                <a:spcPts val="500"/>
              </a:spcAft>
              <a:defRPr sz="1700" b="1">
                <a:solidFill>
                  <a:srgbClr val="0F172A"/>
                </a:solidFill>
                <a:latin typeface="DejaVu Sans"/>
              </a:defRPr>
            </a:pPr>
            <a:r>
              <a:rPr lang="de-DE"/>
              <a:t>[Name 1]    [Name 2]    [Name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566928"/>
            <a:ext cx="10725912" cy="676656"/>
          </a:xfrm>
          <a:prstGeom prst="rect">
            <a:avLst/>
          </a:prstGeom>
          <a:noFill/>
        </p:spPr>
        <p:txBody>
          <a:bodyPr wrap="square" lIns="0" rIns="0" tIns="0" bIns="0">
            <a:spAutoFit/>
          </a:bodyPr>
          <a:lstStyle/>
          <a:p>
            <a:pPr algn="l">
              <a:lnSpc>
                <a:spcPct val="112000"/>
              </a:lnSpc>
              <a:spcAft>
                <a:spcPts val="500"/>
              </a:spcAft>
              <a:defRPr sz="3000" b="1">
                <a:solidFill>
                  <a:srgbClr val="0F172A"/>
                </a:solidFill>
                <a:latin typeface="DejaVu Sans"/>
              </a:defRPr>
            </a:pPr>
            <a:r>
              <a:rPr lang="de-DE"/>
              <a:t>Raum und Konflikt</a:t>
            </a:r>
          </a:p>
        </p:txBody>
      </p:sp>
      <p:sp>
        <p:nvSpPr>
          <p:cNvPr id="3" name="Rectangle 2"/>
          <p:cNvSpPr/>
          <p:nvPr/>
        </p:nvSpPr>
        <p:spPr>
          <a:xfrm>
            <a:off x="731520" y="6419088"/>
            <a:ext cx="10725912" cy="11887"/>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31520" y="6492240"/>
            <a:ext cx="2834640" cy="201168"/>
          </a:xfrm>
          <a:prstGeom prst="rect">
            <a:avLst/>
          </a:prstGeom>
          <a:noFill/>
        </p:spPr>
        <p:txBody>
          <a:bodyPr wrap="square" lIns="0" rIns="0" tIns="0" bIns="0">
            <a:spAutoFit/>
          </a:bodyPr>
          <a:lstStyle/>
          <a:p>
            <a:pPr algn="l">
              <a:lnSpc>
                <a:spcPct val="112000"/>
              </a:lnSpc>
              <a:spcAft>
                <a:spcPts val="500"/>
              </a:spcAft>
              <a:defRPr sz="1000" b="0">
                <a:solidFill>
                  <a:srgbClr val="475569"/>
                </a:solidFill>
                <a:latin typeface="DejaVu Sans"/>
              </a:defRPr>
            </a:pPr>
            <a:r>
              <a:rPr lang="de-DE"/>
              <a:t>[Name 1]  /  Folie 02</a:t>
            </a:r>
          </a:p>
        </p:txBody>
      </p:sp>
      <p:sp>
        <p:nvSpPr>
          <p:cNvPr id="5" name="TextBox 4"/>
          <p:cNvSpPr txBox="1"/>
          <p:nvPr/>
        </p:nvSpPr>
        <p:spPr>
          <a:xfrm>
            <a:off x="3657600" y="6492240"/>
            <a:ext cx="7799831" cy="201168"/>
          </a:xfrm>
          <a:prstGeom prst="rect">
            <a:avLst/>
          </a:prstGeom>
          <a:noFill/>
        </p:spPr>
        <p:txBody>
          <a:bodyPr wrap="square" lIns="0" rIns="0" tIns="0" bIns="0">
            <a:spAutoFit/>
          </a:bodyPr>
          <a:lstStyle/>
          <a:p>
            <a:pPr algn="r">
              <a:lnSpc>
                <a:spcPct val="112000"/>
              </a:lnSpc>
              <a:spcAft>
                <a:spcPts val="500"/>
              </a:spcAft>
              <a:defRPr sz="900" b="0">
                <a:solidFill>
                  <a:srgbClr val="475569"/>
                </a:solidFill>
                <a:latin typeface="DejaVu Sans"/>
              </a:defRPr>
            </a:pPr>
            <a:r>
              <a:rPr lang="de-DE"/>
              <a:t>OCHA: Juli 2024 / bpb: 2024</a:t>
            </a:r>
          </a:p>
        </p:txBody>
      </p:sp>
      <p:pic>
        <p:nvPicPr>
          <p:cNvPr id="6" name="Picture 5" descr="image.png"/>
          <p:cNvPicPr>
            <a:picLocks noChangeAspect="1"/>
          </p:cNvPicPr>
          <p:nvPr/>
        </p:nvPicPr>
        <p:blipFill>
          <a:blip r:embed="rId2"/>
          <a:stretch>
            <a:fillRect/>
          </a:stretch>
        </p:blipFill>
        <p:spPr>
          <a:xfrm>
            <a:off x="1186858" y="1417320"/>
            <a:ext cx="4027083" cy="4389120"/>
          </a:xfrm>
          <a:prstGeom prst="rect">
            <a:avLst/>
          </a:prstGeom>
        </p:spPr>
      </p:pic>
      <p:sp>
        <p:nvSpPr>
          <p:cNvPr id="7" name="TextBox 6"/>
          <p:cNvSpPr txBox="1"/>
          <p:nvPr/>
        </p:nvSpPr>
        <p:spPr>
          <a:xfrm>
            <a:off x="731520" y="5870448"/>
            <a:ext cx="5029200" cy="384048"/>
          </a:xfrm>
          <a:prstGeom prst="rect">
            <a:avLst/>
          </a:prstGeom>
          <a:noFill/>
        </p:spPr>
        <p:txBody>
          <a:bodyPr wrap="square" lIns="0" rIns="0" tIns="0" bIns="0">
            <a:spAutoFit/>
          </a:bodyPr>
          <a:lstStyle/>
          <a:p>
            <a:pPr algn="l">
              <a:lnSpc>
                <a:spcPct val="112000"/>
              </a:lnSpc>
              <a:spcAft>
                <a:spcPts val="500"/>
              </a:spcAft>
              <a:defRPr sz="1000" b="0">
                <a:solidFill>
                  <a:srgbClr val="475569"/>
                </a:solidFill>
                <a:latin typeface="DejaVu Sans"/>
              </a:defRPr>
            </a:pPr>
            <a:r>
              <a:rPr lang="de-DE"/>
              <a:t>Quelle: OCHA, Juli 2024, Kartenausschnitt</a:t>
            </a:r>
          </a:p>
          <a:p>
            <a:pPr algn="l">
              <a:lnSpc>
                <a:spcPct val="112000"/>
              </a:lnSpc>
              <a:spcAft>
                <a:spcPts val="500"/>
              </a:spcAft>
              <a:defRPr sz="1000" b="0">
                <a:solidFill>
                  <a:srgbClr val="475569"/>
                </a:solidFill>
                <a:latin typeface="DejaVu Sans"/>
              </a:defRPr>
            </a:pPr>
            <a:r>
              <a:rPr lang="de-DE"/>
              <a:t>Rot: damalige Zugangsbeschränkungen</a:t>
            </a:r>
          </a:p>
        </p:txBody>
      </p:sp>
      <p:sp>
        <p:nvSpPr>
          <p:cNvPr id="8" name="TextBox 7"/>
          <p:cNvSpPr txBox="1"/>
          <p:nvPr/>
        </p:nvSpPr>
        <p:spPr>
          <a:xfrm>
            <a:off x="6172200" y="1481328"/>
            <a:ext cx="4572000" cy="822960"/>
          </a:xfrm>
          <a:prstGeom prst="rect">
            <a:avLst/>
          </a:prstGeom>
          <a:noFill/>
        </p:spPr>
        <p:txBody>
          <a:bodyPr wrap="square" lIns="0" rIns="0" tIns="0" bIns="0">
            <a:spAutoFit/>
          </a:bodyPr>
          <a:lstStyle/>
          <a:p>
            <a:pPr algn="l">
              <a:lnSpc>
                <a:spcPct val="112000"/>
              </a:lnSpc>
              <a:spcAft>
                <a:spcPts val="500"/>
              </a:spcAft>
              <a:defRPr sz="4600" b="1">
                <a:solidFill>
                  <a:srgbClr val="2563EB"/>
                </a:solidFill>
                <a:latin typeface="DejaVu Sans"/>
              </a:defRPr>
            </a:pPr>
            <a:r>
              <a:rPr lang="de-DE"/>
              <a:t>2,1 Mio.</a:t>
            </a:r>
          </a:p>
        </p:txBody>
      </p:sp>
      <p:sp>
        <p:nvSpPr>
          <p:cNvPr id="9" name="TextBox 8"/>
          <p:cNvSpPr txBox="1"/>
          <p:nvPr/>
        </p:nvSpPr>
        <p:spPr>
          <a:xfrm>
            <a:off x="6172200" y="2395728"/>
            <a:ext cx="4572000" cy="749808"/>
          </a:xfrm>
          <a:prstGeom prst="rect">
            <a:avLst/>
          </a:prstGeom>
          <a:noFill/>
        </p:spPr>
        <p:txBody>
          <a:bodyPr wrap="square" lIns="0" rIns="0" tIns="0" bIns="0">
            <a:spAutoFit/>
          </a:bodyPr>
          <a:lstStyle/>
          <a:p>
            <a:pPr algn="l">
              <a:lnSpc>
                <a:spcPct val="112000"/>
              </a:lnSpc>
              <a:spcAft>
                <a:spcPts val="500"/>
              </a:spcAft>
              <a:defRPr sz="1700" b="1">
                <a:solidFill>
                  <a:srgbClr val="0F172A"/>
                </a:solidFill>
                <a:latin typeface="DejaVu Sans"/>
              </a:defRPr>
            </a:pPr>
            <a:r>
              <a:rPr lang="de-DE"/>
              <a:t>Menschen auf 365 km²</a:t>
            </a:r>
          </a:p>
          <a:p>
            <a:pPr algn="l">
              <a:lnSpc>
                <a:spcPct val="112000"/>
              </a:lnSpc>
              <a:spcAft>
                <a:spcPts val="500"/>
              </a:spcAft>
              <a:defRPr sz="1700" b="1">
                <a:solidFill>
                  <a:srgbClr val="0F172A"/>
                </a:solidFill>
                <a:latin typeface="DejaVu Sans"/>
              </a:defRPr>
            </a:pPr>
            <a:r>
              <a:rPr lang="de-DE"/>
              <a:t>≈ 5.750 Menschen je km²</a:t>
            </a:r>
          </a:p>
        </p:txBody>
      </p:sp>
      <p:sp>
        <p:nvSpPr>
          <p:cNvPr id="10" name="TextBox 9"/>
          <p:cNvSpPr txBox="1"/>
          <p:nvPr/>
        </p:nvSpPr>
        <p:spPr>
          <a:xfrm>
            <a:off x="6172200" y="3191256"/>
            <a:ext cx="4572000" cy="393192"/>
          </a:xfrm>
          <a:prstGeom prst="rect">
            <a:avLst/>
          </a:prstGeom>
          <a:noFill/>
        </p:spPr>
        <p:txBody>
          <a:bodyPr wrap="square" lIns="0" rIns="0" tIns="0" bIns="0">
            <a:spAutoFit/>
          </a:bodyPr>
          <a:lstStyle/>
          <a:p>
            <a:pPr algn="l">
              <a:lnSpc>
                <a:spcPct val="112000"/>
              </a:lnSpc>
              <a:spcAft>
                <a:spcPts val="500"/>
              </a:spcAft>
              <a:defRPr sz="1000" b="0">
                <a:solidFill>
                  <a:srgbClr val="475569"/>
                </a:solidFill>
                <a:latin typeface="DejaVu Sans"/>
              </a:defRPr>
            </a:pPr>
            <a:r>
              <a:rPr lang="de-DE"/>
              <a:t>Flächenmittel, OCHA Juli 2024; keine aktuelle Verteilungskarte</a:t>
            </a:r>
          </a:p>
        </p:txBody>
      </p:sp>
      <p:sp>
        <p:nvSpPr>
          <p:cNvPr id="11" name="TextBox 10"/>
          <p:cNvSpPr txBox="1"/>
          <p:nvPr/>
        </p:nvSpPr>
        <p:spPr>
          <a:xfrm>
            <a:off x="6172200" y="3803904"/>
            <a:ext cx="201168" cy="457200"/>
          </a:xfrm>
          <a:prstGeom prst="rect">
            <a:avLst/>
          </a:prstGeom>
          <a:noFill/>
        </p:spPr>
        <p:txBody>
          <a:bodyPr wrap="square" lIns="0" rIns="0" tIns="0" bIns="0">
            <a:spAutoFit/>
          </a:bodyPr>
          <a:lstStyle/>
          <a:p>
            <a:pPr algn="l">
              <a:lnSpc>
                <a:spcPct val="112000"/>
              </a:lnSpc>
              <a:spcAft>
                <a:spcPts val="500"/>
              </a:spcAft>
              <a:defRPr sz="1600" b="0">
                <a:solidFill>
                  <a:srgbClr val="2563EB"/>
                </a:solidFill>
                <a:latin typeface="DejaVu Sans"/>
              </a:defRPr>
            </a:pPr>
            <a:r>
              <a:rPr lang="de-DE"/>
              <a:t>•</a:t>
            </a:r>
          </a:p>
        </p:txBody>
      </p:sp>
      <p:sp>
        <p:nvSpPr>
          <p:cNvPr id="12" name="TextBox 11"/>
          <p:cNvSpPr txBox="1"/>
          <p:nvPr/>
        </p:nvSpPr>
        <p:spPr>
          <a:xfrm>
            <a:off x="6464808" y="3803904"/>
            <a:ext cx="4690872" cy="630936"/>
          </a:xfrm>
          <a:prstGeom prst="rect">
            <a:avLst/>
          </a:prstGeom>
          <a:noFill/>
        </p:spPr>
        <p:txBody>
          <a:bodyPr wrap="square" lIns="0" rIns="0" tIns="0" bIns="0">
            <a:spAutoFit/>
          </a:bodyPr>
          <a:lstStyle/>
          <a:p>
            <a:pPr algn="l">
              <a:lnSpc>
                <a:spcPct val="112000"/>
              </a:lnSpc>
              <a:spcAft>
                <a:spcPts val="500"/>
              </a:spcAft>
              <a:defRPr sz="1600" b="0">
                <a:solidFill>
                  <a:srgbClr val="0F172A"/>
                </a:solidFill>
                <a:latin typeface="DejaVu Sans"/>
              </a:defRPr>
            </a:pPr>
            <a:r>
              <a:rPr lang="de-DE"/>
              <a:t>Israel / IDF gegen Hamas und Palästinensischen Islamischen Dschihad</a:t>
            </a:r>
          </a:p>
        </p:txBody>
      </p:sp>
      <p:sp>
        <p:nvSpPr>
          <p:cNvPr id="13" name="TextBox 12"/>
          <p:cNvSpPr txBox="1"/>
          <p:nvPr/>
        </p:nvSpPr>
        <p:spPr>
          <a:xfrm>
            <a:off x="6172200" y="4498848"/>
            <a:ext cx="201168" cy="457200"/>
          </a:xfrm>
          <a:prstGeom prst="rect">
            <a:avLst/>
          </a:prstGeom>
          <a:noFill/>
        </p:spPr>
        <p:txBody>
          <a:bodyPr wrap="square" lIns="0" rIns="0" tIns="0" bIns="0">
            <a:spAutoFit/>
          </a:bodyPr>
          <a:lstStyle/>
          <a:p>
            <a:pPr algn="l">
              <a:lnSpc>
                <a:spcPct val="112000"/>
              </a:lnSpc>
              <a:spcAft>
                <a:spcPts val="500"/>
              </a:spcAft>
              <a:defRPr sz="1600" b="0">
                <a:solidFill>
                  <a:srgbClr val="2563EB"/>
                </a:solidFill>
                <a:latin typeface="DejaVu Sans"/>
              </a:defRPr>
            </a:pPr>
            <a:r>
              <a:rPr lang="de-DE"/>
              <a:t>•</a:t>
            </a:r>
          </a:p>
        </p:txBody>
      </p:sp>
      <p:sp>
        <p:nvSpPr>
          <p:cNvPr id="14" name="TextBox 13"/>
          <p:cNvSpPr txBox="1"/>
          <p:nvPr/>
        </p:nvSpPr>
        <p:spPr>
          <a:xfrm>
            <a:off x="6464808" y="4498848"/>
            <a:ext cx="4690872" cy="630936"/>
          </a:xfrm>
          <a:prstGeom prst="rect">
            <a:avLst/>
          </a:prstGeom>
          <a:noFill/>
        </p:spPr>
        <p:txBody>
          <a:bodyPr wrap="square" lIns="0" rIns="0" tIns="0" bIns="0">
            <a:spAutoFit/>
          </a:bodyPr>
          <a:lstStyle/>
          <a:p>
            <a:pPr algn="l">
              <a:lnSpc>
                <a:spcPct val="112000"/>
              </a:lnSpc>
              <a:spcAft>
                <a:spcPts val="500"/>
              </a:spcAft>
              <a:defRPr sz="1600" b="0">
                <a:solidFill>
                  <a:srgbClr val="0F172A"/>
                </a:solidFill>
                <a:latin typeface="DejaVu Sans"/>
              </a:defRPr>
            </a:pPr>
            <a:r>
              <a:rPr lang="de-DE"/>
              <a:t>Konflikt um Sicherheit, Territorium und palästinensische Selbstbestimmung</a:t>
            </a:r>
          </a:p>
        </p:txBody>
      </p:sp>
      <p:sp>
        <p:nvSpPr>
          <p:cNvPr id="15" name="TextBox 14"/>
          <p:cNvSpPr txBox="1"/>
          <p:nvPr/>
        </p:nvSpPr>
        <p:spPr>
          <a:xfrm>
            <a:off x="6172200" y="5193792"/>
            <a:ext cx="201168" cy="457200"/>
          </a:xfrm>
          <a:prstGeom prst="rect">
            <a:avLst/>
          </a:prstGeom>
          <a:noFill/>
        </p:spPr>
        <p:txBody>
          <a:bodyPr wrap="square" lIns="0" rIns="0" tIns="0" bIns="0">
            <a:spAutoFit/>
          </a:bodyPr>
          <a:lstStyle/>
          <a:p>
            <a:pPr algn="l">
              <a:lnSpc>
                <a:spcPct val="112000"/>
              </a:lnSpc>
              <a:spcAft>
                <a:spcPts val="500"/>
              </a:spcAft>
              <a:defRPr sz="1600" b="0">
                <a:solidFill>
                  <a:srgbClr val="2563EB"/>
                </a:solidFill>
                <a:latin typeface="DejaVu Sans"/>
              </a:defRPr>
            </a:pPr>
            <a:r>
              <a:rPr lang="de-DE"/>
              <a:t>•</a:t>
            </a:r>
          </a:p>
        </p:txBody>
      </p:sp>
      <p:sp>
        <p:nvSpPr>
          <p:cNvPr id="16" name="TextBox 15"/>
          <p:cNvSpPr txBox="1"/>
          <p:nvPr/>
        </p:nvSpPr>
        <p:spPr>
          <a:xfrm>
            <a:off x="6464808" y="5193792"/>
            <a:ext cx="4690872" cy="630936"/>
          </a:xfrm>
          <a:prstGeom prst="rect">
            <a:avLst/>
          </a:prstGeom>
          <a:noFill/>
        </p:spPr>
        <p:txBody>
          <a:bodyPr wrap="square" lIns="0" rIns="0" tIns="0" bIns="0">
            <a:spAutoFit/>
          </a:bodyPr>
          <a:lstStyle/>
          <a:p>
            <a:pPr algn="l">
              <a:lnSpc>
                <a:spcPct val="112000"/>
              </a:lnSpc>
              <a:spcAft>
                <a:spcPts val="500"/>
              </a:spcAft>
              <a:defRPr sz="1600" b="0">
                <a:solidFill>
                  <a:srgbClr val="0F172A"/>
                </a:solidFill>
                <a:latin typeface="DejaVu Sans"/>
              </a:defRPr>
            </a:pPr>
            <a:r>
              <a:rPr lang="de-DE"/>
              <a:t>Nachbarn: Israel und Ägypten; Städte: Gaza, Khan Yunis, Rafah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566928"/>
            <a:ext cx="10725912" cy="676656"/>
          </a:xfrm>
          <a:prstGeom prst="rect">
            <a:avLst/>
          </a:prstGeom>
          <a:noFill/>
        </p:spPr>
        <p:txBody>
          <a:bodyPr wrap="square" lIns="0" rIns="0" tIns="0" bIns="0">
            <a:spAutoFit/>
          </a:bodyPr>
          <a:lstStyle/>
          <a:p>
            <a:pPr algn="l">
              <a:lnSpc>
                <a:spcPct val="112000"/>
              </a:lnSpc>
              <a:spcAft>
                <a:spcPts val="500"/>
              </a:spcAft>
              <a:defRPr sz="3000" b="1">
                <a:solidFill>
                  <a:srgbClr val="0F172A"/>
                </a:solidFill>
                <a:latin typeface="DejaVu Sans"/>
              </a:defRPr>
            </a:pPr>
            <a:r>
              <a:rPr lang="de-DE"/>
              <a:t>Glossar: fünf Begriffe</a:t>
            </a:r>
          </a:p>
        </p:txBody>
      </p:sp>
      <p:sp>
        <p:nvSpPr>
          <p:cNvPr id="3" name="Rectangle 2"/>
          <p:cNvSpPr/>
          <p:nvPr/>
        </p:nvSpPr>
        <p:spPr>
          <a:xfrm>
            <a:off x="731520" y="6419088"/>
            <a:ext cx="10725912" cy="11887"/>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31520" y="6492240"/>
            <a:ext cx="2834640" cy="201168"/>
          </a:xfrm>
          <a:prstGeom prst="rect">
            <a:avLst/>
          </a:prstGeom>
          <a:noFill/>
        </p:spPr>
        <p:txBody>
          <a:bodyPr wrap="square" lIns="0" rIns="0" tIns="0" bIns="0">
            <a:spAutoFit/>
          </a:bodyPr>
          <a:lstStyle/>
          <a:p>
            <a:pPr algn="l">
              <a:lnSpc>
                <a:spcPct val="112000"/>
              </a:lnSpc>
              <a:spcAft>
                <a:spcPts val="500"/>
              </a:spcAft>
              <a:defRPr sz="1000" b="0">
                <a:solidFill>
                  <a:srgbClr val="475569"/>
                </a:solidFill>
                <a:latin typeface="DejaVu Sans"/>
              </a:defRPr>
            </a:pPr>
            <a:r>
              <a:rPr lang="de-DE"/>
              <a:t>[Name 1]  /  Folie 03</a:t>
            </a:r>
          </a:p>
        </p:txBody>
      </p:sp>
      <p:sp>
        <p:nvSpPr>
          <p:cNvPr id="5" name="TextBox 4"/>
          <p:cNvSpPr txBox="1"/>
          <p:nvPr/>
        </p:nvSpPr>
        <p:spPr>
          <a:xfrm>
            <a:off x="3657600" y="6492240"/>
            <a:ext cx="7799831" cy="201168"/>
          </a:xfrm>
          <a:prstGeom prst="rect">
            <a:avLst/>
          </a:prstGeom>
          <a:noFill/>
        </p:spPr>
        <p:txBody>
          <a:bodyPr wrap="square" lIns="0" rIns="0" tIns="0" bIns="0">
            <a:spAutoFit/>
          </a:bodyPr>
          <a:lstStyle/>
          <a:p>
            <a:pPr algn="r">
              <a:lnSpc>
                <a:spcPct val="112000"/>
              </a:lnSpc>
              <a:spcAft>
                <a:spcPts val="500"/>
              </a:spcAft>
              <a:defRPr sz="900" b="0">
                <a:solidFill>
                  <a:srgbClr val="475569"/>
                </a:solidFill>
                <a:latin typeface="DejaVu Sans"/>
              </a:defRPr>
            </a:pPr>
            <a:r>
              <a:rPr lang="de-DE"/>
              <a:t>UN-Charta: Art. 27 und Kapitel VII / IKRK / bpb</a:t>
            </a:r>
          </a:p>
        </p:txBody>
      </p:sp>
      <p:sp>
        <p:nvSpPr>
          <p:cNvPr id="6" name="Rectangle 5"/>
          <p:cNvSpPr/>
          <p:nvPr/>
        </p:nvSpPr>
        <p:spPr>
          <a:xfrm>
            <a:off x="731520" y="1572768"/>
            <a:ext cx="5181447" cy="1920240"/>
          </a:xfrm>
          <a:prstGeom prst="rect">
            <a:avLst/>
          </a:prstGeom>
          <a:solidFill>
            <a:srgbClr val="FFFFFF"/>
          </a:solidFill>
          <a:ln w="889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50976" y="1783080"/>
            <a:ext cx="4742535" cy="621792"/>
          </a:xfrm>
          <a:prstGeom prst="rect">
            <a:avLst/>
          </a:prstGeom>
          <a:noFill/>
        </p:spPr>
        <p:txBody>
          <a:bodyPr wrap="square" lIns="0" rIns="0" tIns="0" bIns="0">
            <a:spAutoFit/>
          </a:bodyPr>
          <a:lstStyle/>
          <a:p>
            <a:pPr algn="l">
              <a:lnSpc>
                <a:spcPct val="112000"/>
              </a:lnSpc>
              <a:spcAft>
                <a:spcPts val="500"/>
              </a:spcAft>
              <a:defRPr sz="1800" b="1">
                <a:solidFill>
                  <a:srgbClr val="0F172A"/>
                </a:solidFill>
                <a:latin typeface="DejaVu Sans"/>
              </a:defRPr>
            </a:pPr>
            <a:r>
              <a:rPr lang="de-DE"/>
              <a:t>Asymmetrischer Konflikt</a:t>
            </a:r>
          </a:p>
        </p:txBody>
      </p:sp>
      <p:sp>
        <p:nvSpPr>
          <p:cNvPr id="8" name="TextBox 7"/>
          <p:cNvSpPr txBox="1"/>
          <p:nvPr/>
        </p:nvSpPr>
        <p:spPr>
          <a:xfrm>
            <a:off x="950976" y="2505456"/>
            <a:ext cx="4742535" cy="804672"/>
          </a:xfrm>
          <a:prstGeom prst="rect">
            <a:avLst/>
          </a:prstGeom>
          <a:noFill/>
        </p:spPr>
        <p:txBody>
          <a:bodyPr wrap="square" lIns="0" rIns="0" tIns="0" bIns="0">
            <a:spAutoFit/>
          </a:bodyPr>
          <a:lstStyle/>
          <a:p>
            <a:pPr algn="l">
              <a:lnSpc>
                <a:spcPct val="112000"/>
              </a:lnSpc>
              <a:spcAft>
                <a:spcPts val="500"/>
              </a:spcAft>
              <a:defRPr sz="1400" b="0">
                <a:solidFill>
                  <a:srgbClr val="475569"/>
                </a:solidFill>
                <a:latin typeface="DejaVu Sans"/>
              </a:defRPr>
            </a:pPr>
            <a:r>
              <a:rPr lang="de-DE"/>
              <a:t>Ungleiche militärische Stärke und unterschiedliche Methoden der Kriegsführung.</a:t>
            </a:r>
          </a:p>
        </p:txBody>
      </p:sp>
      <p:sp>
        <p:nvSpPr>
          <p:cNvPr id="9" name="Rectangle 8"/>
          <p:cNvSpPr/>
          <p:nvPr/>
        </p:nvSpPr>
        <p:spPr>
          <a:xfrm>
            <a:off x="6278727" y="1572768"/>
            <a:ext cx="5181447" cy="1920240"/>
          </a:xfrm>
          <a:prstGeom prst="rect">
            <a:avLst/>
          </a:prstGeom>
          <a:solidFill>
            <a:srgbClr val="FFFFFF"/>
          </a:solidFill>
          <a:ln w="889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498183" y="1783080"/>
            <a:ext cx="4742535" cy="621792"/>
          </a:xfrm>
          <a:prstGeom prst="rect">
            <a:avLst/>
          </a:prstGeom>
          <a:noFill/>
        </p:spPr>
        <p:txBody>
          <a:bodyPr wrap="square" lIns="0" rIns="0" tIns="0" bIns="0">
            <a:spAutoFit/>
          </a:bodyPr>
          <a:lstStyle/>
          <a:p>
            <a:pPr algn="l">
              <a:lnSpc>
                <a:spcPct val="112000"/>
              </a:lnSpc>
              <a:spcAft>
                <a:spcPts val="500"/>
              </a:spcAft>
              <a:defRPr sz="1800" b="1">
                <a:solidFill>
                  <a:srgbClr val="0F172A"/>
                </a:solidFill>
                <a:latin typeface="DejaVu Sans"/>
              </a:defRPr>
            </a:pPr>
            <a:r>
              <a:rPr lang="de-DE"/>
              <a:t>Humanitäres Völkerrecht</a:t>
            </a:r>
          </a:p>
        </p:txBody>
      </p:sp>
      <p:sp>
        <p:nvSpPr>
          <p:cNvPr id="11" name="TextBox 10"/>
          <p:cNvSpPr txBox="1"/>
          <p:nvPr/>
        </p:nvSpPr>
        <p:spPr>
          <a:xfrm>
            <a:off x="6498183" y="2505456"/>
            <a:ext cx="4742535" cy="804672"/>
          </a:xfrm>
          <a:prstGeom prst="rect">
            <a:avLst/>
          </a:prstGeom>
          <a:noFill/>
        </p:spPr>
        <p:txBody>
          <a:bodyPr wrap="square" lIns="0" rIns="0" tIns="0" bIns="0">
            <a:spAutoFit/>
          </a:bodyPr>
          <a:lstStyle/>
          <a:p>
            <a:pPr algn="l">
              <a:lnSpc>
                <a:spcPct val="112000"/>
              </a:lnSpc>
              <a:spcAft>
                <a:spcPts val="500"/>
              </a:spcAft>
              <a:defRPr sz="1400" b="0">
                <a:solidFill>
                  <a:srgbClr val="475569"/>
                </a:solidFill>
                <a:latin typeface="DejaVu Sans"/>
              </a:defRPr>
            </a:pPr>
            <a:r>
              <a:rPr lang="de-DE"/>
              <a:t>Regeln im Krieg, etwa die Genfer Konventionen. Sie schützen Zivilisten und begrenzen Gewalt.</a:t>
            </a:r>
          </a:p>
        </p:txBody>
      </p:sp>
      <p:sp>
        <p:nvSpPr>
          <p:cNvPr id="12" name="Rectangle 11"/>
          <p:cNvSpPr/>
          <p:nvPr/>
        </p:nvSpPr>
        <p:spPr>
          <a:xfrm>
            <a:off x="731520" y="3749039"/>
            <a:ext cx="5181447" cy="1920240"/>
          </a:xfrm>
          <a:prstGeom prst="rect">
            <a:avLst/>
          </a:prstGeom>
          <a:solidFill>
            <a:srgbClr val="FFFFFF"/>
          </a:solidFill>
          <a:ln w="889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50976" y="3959352"/>
            <a:ext cx="4742535" cy="621792"/>
          </a:xfrm>
          <a:prstGeom prst="rect">
            <a:avLst/>
          </a:prstGeom>
          <a:noFill/>
        </p:spPr>
        <p:txBody>
          <a:bodyPr wrap="square" lIns="0" rIns="0" tIns="0" bIns="0">
            <a:spAutoFit/>
          </a:bodyPr>
          <a:lstStyle/>
          <a:p>
            <a:pPr algn="l">
              <a:lnSpc>
                <a:spcPct val="112000"/>
              </a:lnSpc>
              <a:spcAft>
                <a:spcPts val="500"/>
              </a:spcAft>
              <a:defRPr sz="1800" b="1">
                <a:solidFill>
                  <a:srgbClr val="0F172A"/>
                </a:solidFill>
                <a:latin typeface="DejaVu Sans"/>
              </a:defRPr>
            </a:pPr>
            <a:r>
              <a:rPr lang="de-DE"/>
              <a:t>UN-Sicherheitsrat &amp; Veto</a:t>
            </a:r>
          </a:p>
        </p:txBody>
      </p:sp>
      <p:sp>
        <p:nvSpPr>
          <p:cNvPr id="14" name="TextBox 13"/>
          <p:cNvSpPr txBox="1"/>
          <p:nvPr/>
        </p:nvSpPr>
        <p:spPr>
          <a:xfrm>
            <a:off x="950976" y="4681727"/>
            <a:ext cx="4742535" cy="804672"/>
          </a:xfrm>
          <a:prstGeom prst="rect">
            <a:avLst/>
          </a:prstGeom>
          <a:noFill/>
        </p:spPr>
        <p:txBody>
          <a:bodyPr wrap="square" lIns="0" rIns="0" tIns="0" bIns="0">
            <a:spAutoFit/>
          </a:bodyPr>
          <a:lstStyle/>
          <a:p>
            <a:pPr algn="l">
              <a:lnSpc>
                <a:spcPct val="112000"/>
              </a:lnSpc>
              <a:spcAft>
                <a:spcPts val="500"/>
              </a:spcAft>
              <a:defRPr sz="1400" b="0">
                <a:solidFill>
                  <a:srgbClr val="475569"/>
                </a:solidFill>
                <a:latin typeface="DejaVu Sans"/>
              </a:defRPr>
            </a:pPr>
            <a:r>
              <a:rPr lang="de-DE"/>
              <a:t>15 Mitglieder, fünf ständige Vetomächte. Art. 27 regelt Abstimmungen; Kapitel VII ermöglicht Zwangsmaßnahmen.</a:t>
            </a:r>
          </a:p>
        </p:txBody>
      </p:sp>
      <p:sp>
        <p:nvSpPr>
          <p:cNvPr id="15" name="Rectangle 14"/>
          <p:cNvSpPr/>
          <p:nvPr/>
        </p:nvSpPr>
        <p:spPr>
          <a:xfrm>
            <a:off x="6278727" y="3749039"/>
            <a:ext cx="5181447" cy="1920240"/>
          </a:xfrm>
          <a:prstGeom prst="rect">
            <a:avLst/>
          </a:prstGeom>
          <a:solidFill>
            <a:srgbClr val="FFFFFF"/>
          </a:solidFill>
          <a:ln w="889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98183" y="3959352"/>
            <a:ext cx="4742535" cy="621792"/>
          </a:xfrm>
          <a:prstGeom prst="rect">
            <a:avLst/>
          </a:prstGeom>
          <a:noFill/>
        </p:spPr>
        <p:txBody>
          <a:bodyPr wrap="square" lIns="0" rIns="0" tIns="0" bIns="0">
            <a:spAutoFit/>
          </a:bodyPr>
          <a:lstStyle/>
          <a:p>
            <a:pPr algn="l">
              <a:lnSpc>
                <a:spcPct val="112000"/>
              </a:lnSpc>
              <a:spcAft>
                <a:spcPts val="500"/>
              </a:spcAft>
              <a:defRPr sz="1800" b="1">
                <a:solidFill>
                  <a:srgbClr val="0F172A"/>
                </a:solidFill>
                <a:latin typeface="DejaVu Sans"/>
              </a:defRPr>
            </a:pPr>
            <a:r>
              <a:rPr lang="de-DE"/>
              <a:t>Zwei-Staaten-Lösung / Blockade</a:t>
            </a:r>
          </a:p>
        </p:txBody>
      </p:sp>
      <p:sp>
        <p:nvSpPr>
          <p:cNvPr id="17" name="TextBox 16"/>
          <p:cNvSpPr txBox="1"/>
          <p:nvPr/>
        </p:nvSpPr>
        <p:spPr>
          <a:xfrm>
            <a:off x="6498183" y="4681727"/>
            <a:ext cx="4742535" cy="804672"/>
          </a:xfrm>
          <a:prstGeom prst="rect">
            <a:avLst/>
          </a:prstGeom>
          <a:noFill/>
        </p:spPr>
        <p:txBody>
          <a:bodyPr wrap="square" lIns="0" rIns="0" tIns="0" bIns="0">
            <a:spAutoFit/>
          </a:bodyPr>
          <a:lstStyle/>
          <a:p>
            <a:pPr algn="l">
              <a:lnSpc>
                <a:spcPct val="112000"/>
              </a:lnSpc>
              <a:spcAft>
                <a:spcPts val="500"/>
              </a:spcAft>
              <a:defRPr sz="1400" b="0">
                <a:solidFill>
                  <a:srgbClr val="475569"/>
                </a:solidFill>
                <a:latin typeface="DejaVu Sans"/>
              </a:defRPr>
            </a:pPr>
            <a:r>
              <a:rPr lang="de-DE"/>
              <a:t>Zwei souveräne Staaten für Israelis und Palästinenser. Blockade: starke Einschränkung des Zugangs und Warenverkehrs.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566928"/>
            <a:ext cx="10725912" cy="676656"/>
          </a:xfrm>
          <a:prstGeom prst="rect">
            <a:avLst/>
          </a:prstGeom>
          <a:noFill/>
        </p:spPr>
        <p:txBody>
          <a:bodyPr wrap="square" lIns="0" rIns="0" tIns="0" bIns="0">
            <a:spAutoFit/>
          </a:bodyPr>
          <a:lstStyle/>
          <a:p>
            <a:pPr algn="l">
              <a:lnSpc>
                <a:spcPct val="112000"/>
              </a:lnSpc>
              <a:spcAft>
                <a:spcPts val="500"/>
              </a:spcAft>
              <a:defRPr sz="3000" b="1">
                <a:solidFill>
                  <a:srgbClr val="0F172A"/>
                </a:solidFill>
                <a:latin typeface="DejaVu Sans"/>
              </a:defRPr>
            </a:pPr>
            <a:r>
              <a:rPr lang="de-DE"/>
              <a:t>Genese: fünf historische Einschnitte</a:t>
            </a:r>
          </a:p>
        </p:txBody>
      </p:sp>
      <p:sp>
        <p:nvSpPr>
          <p:cNvPr id="3" name="Rectangle 2"/>
          <p:cNvSpPr/>
          <p:nvPr/>
        </p:nvSpPr>
        <p:spPr>
          <a:xfrm>
            <a:off x="731520" y="6419088"/>
            <a:ext cx="10725912" cy="11887"/>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31520" y="6492240"/>
            <a:ext cx="2834640" cy="201168"/>
          </a:xfrm>
          <a:prstGeom prst="rect">
            <a:avLst/>
          </a:prstGeom>
          <a:noFill/>
        </p:spPr>
        <p:txBody>
          <a:bodyPr wrap="square" lIns="0" rIns="0" tIns="0" bIns="0">
            <a:spAutoFit/>
          </a:bodyPr>
          <a:lstStyle/>
          <a:p>
            <a:pPr algn="l">
              <a:lnSpc>
                <a:spcPct val="112000"/>
              </a:lnSpc>
              <a:spcAft>
                <a:spcPts val="500"/>
              </a:spcAft>
              <a:defRPr sz="1000" b="0">
                <a:solidFill>
                  <a:srgbClr val="475569"/>
                </a:solidFill>
                <a:latin typeface="DejaVu Sans"/>
              </a:defRPr>
            </a:pPr>
            <a:r>
              <a:rPr lang="de-DE"/>
              <a:t>[Name 1]  /  Folie 04</a:t>
            </a:r>
          </a:p>
        </p:txBody>
      </p:sp>
      <p:sp>
        <p:nvSpPr>
          <p:cNvPr id="5" name="TextBox 4"/>
          <p:cNvSpPr txBox="1"/>
          <p:nvPr/>
        </p:nvSpPr>
        <p:spPr>
          <a:xfrm>
            <a:off x="3657600" y="6492240"/>
            <a:ext cx="7799831" cy="201168"/>
          </a:xfrm>
          <a:prstGeom prst="rect">
            <a:avLst/>
          </a:prstGeom>
          <a:noFill/>
        </p:spPr>
        <p:txBody>
          <a:bodyPr wrap="square" lIns="0" rIns="0" tIns="0" bIns="0">
            <a:spAutoFit/>
          </a:bodyPr>
          <a:lstStyle/>
          <a:p>
            <a:pPr algn="r">
              <a:lnSpc>
                <a:spcPct val="112000"/>
              </a:lnSpc>
              <a:spcAft>
                <a:spcPts val="500"/>
              </a:spcAft>
              <a:defRPr sz="900" b="0">
                <a:solidFill>
                  <a:srgbClr val="475569"/>
                </a:solidFill>
                <a:latin typeface="DejaVu Sans"/>
              </a:defRPr>
            </a:pPr>
            <a:r>
              <a:rPr lang="de-DE"/>
              <a:t>bpb: Geschichte des Nahostkonflikts / Gazastreifen, 2024</a:t>
            </a:r>
          </a:p>
        </p:txBody>
      </p:sp>
      <p:sp>
        <p:nvSpPr>
          <p:cNvPr id="6" name="TextBox 5"/>
          <p:cNvSpPr txBox="1"/>
          <p:nvPr/>
        </p:nvSpPr>
        <p:spPr>
          <a:xfrm>
            <a:off x="731520" y="1399032"/>
            <a:ext cx="10725912" cy="457200"/>
          </a:xfrm>
          <a:prstGeom prst="rect">
            <a:avLst/>
          </a:prstGeom>
          <a:noFill/>
        </p:spPr>
        <p:txBody>
          <a:bodyPr wrap="square" lIns="0" rIns="0" tIns="0" bIns="0">
            <a:spAutoFit/>
          </a:bodyPr>
          <a:lstStyle/>
          <a:p>
            <a:pPr algn="l">
              <a:lnSpc>
                <a:spcPct val="112000"/>
              </a:lnSpc>
              <a:spcAft>
                <a:spcPts val="500"/>
              </a:spcAft>
              <a:defRPr sz="2000" b="0">
                <a:solidFill>
                  <a:srgbClr val="475569"/>
                </a:solidFill>
                <a:latin typeface="DejaVu Sans"/>
              </a:defRPr>
            </a:pPr>
            <a:r>
              <a:rPr lang="de-DE"/>
              <a:t>Der Krieg seit 2023 hat eine längere Vorgeschichte</a:t>
            </a:r>
          </a:p>
        </p:txBody>
      </p:sp>
      <p:cxnSp>
        <p:nvCxnSpPr>
          <p:cNvPr id="7" name="Connector 6"/>
          <p:cNvCxnSpPr/>
          <p:nvPr/>
        </p:nvCxnSpPr>
        <p:spPr>
          <a:xfrm>
            <a:off x="841248" y="2560320"/>
            <a:ext cx="10497312" cy="0"/>
          </a:xfrm>
          <a:prstGeom prst="line">
            <a:avLst/>
          </a:prstGeom>
          <a:ln w="25400">
            <a:solidFill>
              <a:srgbClr val="E2E8F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31520" y="2029968"/>
            <a:ext cx="1993392" cy="393192"/>
          </a:xfrm>
          <a:prstGeom prst="rect">
            <a:avLst/>
          </a:prstGeom>
          <a:noFill/>
        </p:spPr>
        <p:txBody>
          <a:bodyPr wrap="square" lIns="0" rIns="0" tIns="0" bIns="0">
            <a:spAutoFit/>
          </a:bodyPr>
          <a:lstStyle/>
          <a:p>
            <a:pPr algn="l">
              <a:lnSpc>
                <a:spcPct val="112000"/>
              </a:lnSpc>
              <a:spcAft>
                <a:spcPts val="500"/>
              </a:spcAft>
              <a:defRPr sz="1900" b="1">
                <a:solidFill>
                  <a:srgbClr val="2563EB"/>
                </a:solidFill>
                <a:latin typeface="DejaVu Sans"/>
              </a:defRPr>
            </a:pPr>
            <a:r>
              <a:rPr lang="de-DE"/>
              <a:t>1948</a:t>
            </a:r>
          </a:p>
        </p:txBody>
      </p:sp>
      <p:sp>
        <p:nvSpPr>
          <p:cNvPr id="9" name="Rectangle 8"/>
          <p:cNvSpPr/>
          <p:nvPr/>
        </p:nvSpPr>
        <p:spPr>
          <a:xfrm>
            <a:off x="731520" y="2505456"/>
            <a:ext cx="109728"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31520" y="2880360"/>
            <a:ext cx="1965960" cy="704088"/>
          </a:xfrm>
          <a:prstGeom prst="rect">
            <a:avLst/>
          </a:prstGeom>
          <a:noFill/>
        </p:spPr>
        <p:txBody>
          <a:bodyPr wrap="square" lIns="0" rIns="0" tIns="0" bIns="0">
            <a:spAutoFit/>
          </a:bodyPr>
          <a:lstStyle/>
          <a:p>
            <a:pPr algn="l">
              <a:lnSpc>
                <a:spcPct val="112000"/>
              </a:lnSpc>
              <a:spcAft>
                <a:spcPts val="500"/>
              </a:spcAft>
              <a:defRPr sz="1800" b="1">
                <a:solidFill>
                  <a:srgbClr val="0F172A"/>
                </a:solidFill>
                <a:latin typeface="DejaVu Sans"/>
              </a:defRPr>
            </a:pPr>
            <a:r>
              <a:rPr lang="de-DE"/>
              <a:t>Israel / Nakba</a:t>
            </a:r>
          </a:p>
        </p:txBody>
      </p:sp>
      <p:sp>
        <p:nvSpPr>
          <p:cNvPr id="11" name="TextBox 10"/>
          <p:cNvSpPr txBox="1"/>
          <p:nvPr/>
        </p:nvSpPr>
        <p:spPr>
          <a:xfrm>
            <a:off x="731520" y="3685032"/>
            <a:ext cx="1965960" cy="1207008"/>
          </a:xfrm>
          <a:prstGeom prst="rect">
            <a:avLst/>
          </a:prstGeom>
          <a:noFill/>
        </p:spPr>
        <p:txBody>
          <a:bodyPr wrap="square" lIns="0" rIns="0" tIns="0" bIns="0">
            <a:spAutoFit/>
          </a:bodyPr>
          <a:lstStyle/>
          <a:p>
            <a:pPr algn="l">
              <a:lnSpc>
                <a:spcPct val="112000"/>
              </a:lnSpc>
              <a:spcAft>
                <a:spcPts val="500"/>
              </a:spcAft>
              <a:defRPr sz="1500" b="0">
                <a:solidFill>
                  <a:srgbClr val="475569"/>
                </a:solidFill>
                <a:latin typeface="DejaVu Sans"/>
              </a:defRPr>
            </a:pPr>
            <a:r>
              <a:rPr lang="de-DE"/>
              <a:t>Staatsgründung, Krieg, Flucht und Vertreibung</a:t>
            </a:r>
          </a:p>
        </p:txBody>
      </p:sp>
      <p:sp>
        <p:nvSpPr>
          <p:cNvPr id="12" name="TextBox 11"/>
          <p:cNvSpPr txBox="1"/>
          <p:nvPr/>
        </p:nvSpPr>
        <p:spPr>
          <a:xfrm>
            <a:off x="2935224" y="2029968"/>
            <a:ext cx="1993392" cy="393192"/>
          </a:xfrm>
          <a:prstGeom prst="rect">
            <a:avLst/>
          </a:prstGeom>
          <a:noFill/>
        </p:spPr>
        <p:txBody>
          <a:bodyPr wrap="square" lIns="0" rIns="0" tIns="0" bIns="0">
            <a:spAutoFit/>
          </a:bodyPr>
          <a:lstStyle/>
          <a:p>
            <a:pPr algn="l">
              <a:lnSpc>
                <a:spcPct val="112000"/>
              </a:lnSpc>
              <a:spcAft>
                <a:spcPts val="500"/>
              </a:spcAft>
              <a:defRPr sz="1900" b="1">
                <a:solidFill>
                  <a:srgbClr val="2563EB"/>
                </a:solidFill>
                <a:latin typeface="DejaVu Sans"/>
              </a:defRPr>
            </a:pPr>
            <a:r>
              <a:rPr lang="de-DE"/>
              <a:t>1967</a:t>
            </a:r>
          </a:p>
        </p:txBody>
      </p:sp>
      <p:sp>
        <p:nvSpPr>
          <p:cNvPr id="13" name="Rectangle 12"/>
          <p:cNvSpPr/>
          <p:nvPr/>
        </p:nvSpPr>
        <p:spPr>
          <a:xfrm>
            <a:off x="2935224" y="2505456"/>
            <a:ext cx="109728"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935224" y="2880360"/>
            <a:ext cx="1965960" cy="704088"/>
          </a:xfrm>
          <a:prstGeom prst="rect">
            <a:avLst/>
          </a:prstGeom>
          <a:noFill/>
        </p:spPr>
        <p:txBody>
          <a:bodyPr wrap="square" lIns="0" rIns="0" tIns="0" bIns="0">
            <a:spAutoFit/>
          </a:bodyPr>
          <a:lstStyle/>
          <a:p>
            <a:pPr algn="l">
              <a:lnSpc>
                <a:spcPct val="112000"/>
              </a:lnSpc>
              <a:spcAft>
                <a:spcPts val="500"/>
              </a:spcAft>
              <a:defRPr sz="1800" b="1">
                <a:solidFill>
                  <a:srgbClr val="0F172A"/>
                </a:solidFill>
                <a:latin typeface="DejaVu Sans"/>
              </a:defRPr>
            </a:pPr>
            <a:r>
              <a:rPr lang="de-DE"/>
              <a:t>Besetzung</a:t>
            </a:r>
          </a:p>
        </p:txBody>
      </p:sp>
      <p:sp>
        <p:nvSpPr>
          <p:cNvPr id="15" name="TextBox 14"/>
          <p:cNvSpPr txBox="1"/>
          <p:nvPr/>
        </p:nvSpPr>
        <p:spPr>
          <a:xfrm>
            <a:off x="2935224" y="3685032"/>
            <a:ext cx="1965960" cy="1207008"/>
          </a:xfrm>
          <a:prstGeom prst="rect">
            <a:avLst/>
          </a:prstGeom>
          <a:noFill/>
        </p:spPr>
        <p:txBody>
          <a:bodyPr wrap="square" lIns="0" rIns="0" tIns="0" bIns="0">
            <a:spAutoFit/>
          </a:bodyPr>
          <a:lstStyle/>
          <a:p>
            <a:pPr algn="l">
              <a:lnSpc>
                <a:spcPct val="112000"/>
              </a:lnSpc>
              <a:spcAft>
                <a:spcPts val="500"/>
              </a:spcAft>
              <a:defRPr sz="1500" b="0">
                <a:solidFill>
                  <a:srgbClr val="475569"/>
                </a:solidFill>
                <a:latin typeface="DejaVu Sans"/>
              </a:defRPr>
            </a:pPr>
            <a:r>
              <a:rPr lang="de-DE"/>
              <a:t>Israel besetzt Gaza und weitere Gebiete</a:t>
            </a:r>
          </a:p>
        </p:txBody>
      </p:sp>
      <p:sp>
        <p:nvSpPr>
          <p:cNvPr id="16" name="TextBox 15"/>
          <p:cNvSpPr txBox="1"/>
          <p:nvPr/>
        </p:nvSpPr>
        <p:spPr>
          <a:xfrm>
            <a:off x="5138928" y="2029968"/>
            <a:ext cx="1993392" cy="393192"/>
          </a:xfrm>
          <a:prstGeom prst="rect">
            <a:avLst/>
          </a:prstGeom>
          <a:noFill/>
        </p:spPr>
        <p:txBody>
          <a:bodyPr wrap="square" lIns="0" rIns="0" tIns="0" bIns="0">
            <a:spAutoFit/>
          </a:bodyPr>
          <a:lstStyle/>
          <a:p>
            <a:pPr algn="l">
              <a:lnSpc>
                <a:spcPct val="112000"/>
              </a:lnSpc>
              <a:spcAft>
                <a:spcPts val="500"/>
              </a:spcAft>
              <a:defRPr sz="1900" b="1">
                <a:solidFill>
                  <a:srgbClr val="2563EB"/>
                </a:solidFill>
                <a:latin typeface="DejaVu Sans"/>
              </a:defRPr>
            </a:pPr>
            <a:r>
              <a:rPr lang="de-DE"/>
              <a:t>2005</a:t>
            </a:r>
          </a:p>
        </p:txBody>
      </p:sp>
      <p:sp>
        <p:nvSpPr>
          <p:cNvPr id="17" name="Rectangle 16"/>
          <p:cNvSpPr/>
          <p:nvPr/>
        </p:nvSpPr>
        <p:spPr>
          <a:xfrm>
            <a:off x="5138928" y="2505456"/>
            <a:ext cx="109728"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138928" y="2880360"/>
            <a:ext cx="1965960" cy="704088"/>
          </a:xfrm>
          <a:prstGeom prst="rect">
            <a:avLst/>
          </a:prstGeom>
          <a:noFill/>
        </p:spPr>
        <p:txBody>
          <a:bodyPr wrap="square" lIns="0" rIns="0" tIns="0" bIns="0">
            <a:spAutoFit/>
          </a:bodyPr>
          <a:lstStyle/>
          <a:p>
            <a:pPr algn="l">
              <a:lnSpc>
                <a:spcPct val="112000"/>
              </a:lnSpc>
              <a:spcAft>
                <a:spcPts val="500"/>
              </a:spcAft>
              <a:defRPr sz="1800" b="1">
                <a:solidFill>
                  <a:srgbClr val="0F172A"/>
                </a:solidFill>
                <a:latin typeface="DejaVu Sans"/>
              </a:defRPr>
            </a:pPr>
            <a:r>
              <a:rPr lang="de-DE"/>
              <a:t>Abzug</a:t>
            </a:r>
          </a:p>
        </p:txBody>
      </p:sp>
      <p:sp>
        <p:nvSpPr>
          <p:cNvPr id="19" name="TextBox 18"/>
          <p:cNvSpPr txBox="1"/>
          <p:nvPr/>
        </p:nvSpPr>
        <p:spPr>
          <a:xfrm>
            <a:off x="5138928" y="3685032"/>
            <a:ext cx="1965960" cy="1207008"/>
          </a:xfrm>
          <a:prstGeom prst="rect">
            <a:avLst/>
          </a:prstGeom>
          <a:noFill/>
        </p:spPr>
        <p:txBody>
          <a:bodyPr wrap="square" lIns="0" rIns="0" tIns="0" bIns="0">
            <a:spAutoFit/>
          </a:bodyPr>
          <a:lstStyle/>
          <a:p>
            <a:pPr algn="l">
              <a:lnSpc>
                <a:spcPct val="112000"/>
              </a:lnSpc>
              <a:spcAft>
                <a:spcPts val="500"/>
              </a:spcAft>
              <a:defRPr sz="1500" b="0">
                <a:solidFill>
                  <a:srgbClr val="475569"/>
                </a:solidFill>
                <a:latin typeface="DejaVu Sans"/>
              </a:defRPr>
            </a:pPr>
            <a:r>
              <a:rPr lang="de-DE"/>
              <a:t>Israel räumt Siedlungen und zieht Truppen ab</a:t>
            </a:r>
          </a:p>
        </p:txBody>
      </p:sp>
      <p:sp>
        <p:nvSpPr>
          <p:cNvPr id="20" name="TextBox 19"/>
          <p:cNvSpPr txBox="1"/>
          <p:nvPr/>
        </p:nvSpPr>
        <p:spPr>
          <a:xfrm>
            <a:off x="7342632" y="2029968"/>
            <a:ext cx="1993392" cy="393192"/>
          </a:xfrm>
          <a:prstGeom prst="rect">
            <a:avLst/>
          </a:prstGeom>
          <a:noFill/>
        </p:spPr>
        <p:txBody>
          <a:bodyPr wrap="square" lIns="0" rIns="0" tIns="0" bIns="0">
            <a:spAutoFit/>
          </a:bodyPr>
          <a:lstStyle/>
          <a:p>
            <a:pPr algn="l">
              <a:lnSpc>
                <a:spcPct val="112000"/>
              </a:lnSpc>
              <a:spcAft>
                <a:spcPts val="500"/>
              </a:spcAft>
              <a:defRPr sz="1900" b="1">
                <a:solidFill>
                  <a:srgbClr val="2563EB"/>
                </a:solidFill>
                <a:latin typeface="DejaVu Sans"/>
              </a:defRPr>
            </a:pPr>
            <a:r>
              <a:rPr lang="de-DE"/>
              <a:t>2007</a:t>
            </a:r>
          </a:p>
        </p:txBody>
      </p:sp>
      <p:sp>
        <p:nvSpPr>
          <p:cNvPr id="21" name="Rectangle 20"/>
          <p:cNvSpPr/>
          <p:nvPr/>
        </p:nvSpPr>
        <p:spPr>
          <a:xfrm>
            <a:off x="7342632" y="2505456"/>
            <a:ext cx="109728"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342632" y="2880360"/>
            <a:ext cx="1965960" cy="704088"/>
          </a:xfrm>
          <a:prstGeom prst="rect">
            <a:avLst/>
          </a:prstGeom>
          <a:noFill/>
        </p:spPr>
        <p:txBody>
          <a:bodyPr wrap="square" lIns="0" rIns="0" tIns="0" bIns="0">
            <a:spAutoFit/>
          </a:bodyPr>
          <a:lstStyle/>
          <a:p>
            <a:pPr algn="l">
              <a:lnSpc>
                <a:spcPct val="112000"/>
              </a:lnSpc>
              <a:spcAft>
                <a:spcPts val="500"/>
              </a:spcAft>
              <a:defRPr sz="1800" b="1">
                <a:solidFill>
                  <a:srgbClr val="0F172A"/>
                </a:solidFill>
                <a:latin typeface="DejaVu Sans"/>
              </a:defRPr>
            </a:pPr>
            <a:r>
              <a:rPr lang="de-DE"/>
              <a:t>Hamas / Blockade</a:t>
            </a:r>
          </a:p>
        </p:txBody>
      </p:sp>
      <p:sp>
        <p:nvSpPr>
          <p:cNvPr id="23" name="TextBox 22"/>
          <p:cNvSpPr txBox="1"/>
          <p:nvPr/>
        </p:nvSpPr>
        <p:spPr>
          <a:xfrm>
            <a:off x="7342632" y="3685032"/>
            <a:ext cx="1965960" cy="1207008"/>
          </a:xfrm>
          <a:prstGeom prst="rect">
            <a:avLst/>
          </a:prstGeom>
          <a:noFill/>
        </p:spPr>
        <p:txBody>
          <a:bodyPr wrap="square" lIns="0" rIns="0" tIns="0" bIns="0">
            <a:spAutoFit/>
          </a:bodyPr>
          <a:lstStyle/>
          <a:p>
            <a:pPr algn="l">
              <a:lnSpc>
                <a:spcPct val="112000"/>
              </a:lnSpc>
              <a:spcAft>
                <a:spcPts val="500"/>
              </a:spcAft>
              <a:defRPr sz="1500" b="0">
                <a:solidFill>
                  <a:srgbClr val="475569"/>
                </a:solidFill>
                <a:latin typeface="DejaVu Sans"/>
              </a:defRPr>
            </a:pPr>
            <a:r>
              <a:rPr lang="de-DE"/>
              <a:t>Machtübernahme; verschärfte Abriegelung</a:t>
            </a:r>
          </a:p>
        </p:txBody>
      </p:sp>
      <p:sp>
        <p:nvSpPr>
          <p:cNvPr id="24" name="TextBox 23"/>
          <p:cNvSpPr txBox="1"/>
          <p:nvPr/>
        </p:nvSpPr>
        <p:spPr>
          <a:xfrm>
            <a:off x="9546336" y="2029968"/>
            <a:ext cx="1993392" cy="393192"/>
          </a:xfrm>
          <a:prstGeom prst="rect">
            <a:avLst/>
          </a:prstGeom>
          <a:noFill/>
        </p:spPr>
        <p:txBody>
          <a:bodyPr wrap="square" lIns="0" rIns="0" tIns="0" bIns="0">
            <a:spAutoFit/>
          </a:bodyPr>
          <a:lstStyle/>
          <a:p>
            <a:pPr algn="l">
              <a:lnSpc>
                <a:spcPct val="112000"/>
              </a:lnSpc>
              <a:spcAft>
                <a:spcPts val="500"/>
              </a:spcAft>
              <a:defRPr sz="1900" b="1">
                <a:solidFill>
                  <a:srgbClr val="2563EB"/>
                </a:solidFill>
                <a:latin typeface="DejaVu Sans"/>
              </a:defRPr>
            </a:pPr>
            <a:r>
              <a:rPr lang="de-DE"/>
              <a:t>07.10.2023</a:t>
            </a:r>
          </a:p>
        </p:txBody>
      </p:sp>
      <p:sp>
        <p:nvSpPr>
          <p:cNvPr id="25" name="Rectangle 24"/>
          <p:cNvSpPr/>
          <p:nvPr/>
        </p:nvSpPr>
        <p:spPr>
          <a:xfrm>
            <a:off x="9546336" y="2505456"/>
            <a:ext cx="109728"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546336" y="2880360"/>
            <a:ext cx="1965960" cy="704088"/>
          </a:xfrm>
          <a:prstGeom prst="rect">
            <a:avLst/>
          </a:prstGeom>
          <a:noFill/>
        </p:spPr>
        <p:txBody>
          <a:bodyPr wrap="square" lIns="0" rIns="0" tIns="0" bIns="0">
            <a:spAutoFit/>
          </a:bodyPr>
          <a:lstStyle/>
          <a:p>
            <a:pPr algn="l">
              <a:lnSpc>
                <a:spcPct val="112000"/>
              </a:lnSpc>
              <a:spcAft>
                <a:spcPts val="500"/>
              </a:spcAft>
              <a:defRPr sz="1800" b="1">
                <a:solidFill>
                  <a:srgbClr val="0F172A"/>
                </a:solidFill>
                <a:latin typeface="DejaVu Sans"/>
              </a:defRPr>
            </a:pPr>
            <a:r>
              <a:rPr lang="de-DE"/>
              <a:t>Terrorangriff</a:t>
            </a:r>
          </a:p>
        </p:txBody>
      </p:sp>
      <p:sp>
        <p:nvSpPr>
          <p:cNvPr id="27" name="TextBox 26"/>
          <p:cNvSpPr txBox="1"/>
          <p:nvPr/>
        </p:nvSpPr>
        <p:spPr>
          <a:xfrm>
            <a:off x="9546336" y="3685032"/>
            <a:ext cx="1965960" cy="1207008"/>
          </a:xfrm>
          <a:prstGeom prst="rect">
            <a:avLst/>
          </a:prstGeom>
          <a:noFill/>
        </p:spPr>
        <p:txBody>
          <a:bodyPr wrap="square" lIns="0" rIns="0" tIns="0" bIns="0">
            <a:spAutoFit/>
          </a:bodyPr>
          <a:lstStyle/>
          <a:p>
            <a:pPr algn="l">
              <a:lnSpc>
                <a:spcPct val="112000"/>
              </a:lnSpc>
              <a:spcAft>
                <a:spcPts val="500"/>
              </a:spcAft>
              <a:defRPr sz="1500" b="0">
                <a:solidFill>
                  <a:srgbClr val="475569"/>
                </a:solidFill>
                <a:latin typeface="DejaVu Sans"/>
              </a:defRPr>
            </a:pPr>
            <a:r>
              <a:rPr lang="de-DE"/>
              <a:t>Hamas-geführter Angriff; Beginn der neuen Kriegsphase</a:t>
            </a:r>
          </a:p>
        </p:txBody>
      </p:sp>
      <p:sp>
        <p:nvSpPr>
          <p:cNvPr id="28" name="Rectangle 27"/>
          <p:cNvSpPr/>
          <p:nvPr/>
        </p:nvSpPr>
        <p:spPr>
          <a:xfrm>
            <a:off x="731520" y="5349240"/>
            <a:ext cx="10725912" cy="585216"/>
          </a:xfrm>
          <a:prstGeom prst="rect">
            <a:avLst/>
          </a:prstGeom>
          <a:solidFill>
            <a:srgbClr val="FFFFFF"/>
          </a:solidFill>
          <a:ln w="889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932688" y="5504688"/>
            <a:ext cx="10332720" cy="283464"/>
          </a:xfrm>
          <a:prstGeom prst="rect">
            <a:avLst/>
          </a:prstGeom>
          <a:noFill/>
        </p:spPr>
        <p:txBody>
          <a:bodyPr wrap="square" lIns="0" rIns="0" tIns="0" bIns="0">
            <a:spAutoFit/>
          </a:bodyPr>
          <a:lstStyle/>
          <a:p>
            <a:pPr algn="l">
              <a:lnSpc>
                <a:spcPct val="112000"/>
              </a:lnSpc>
              <a:spcAft>
                <a:spcPts val="500"/>
              </a:spcAft>
              <a:defRPr sz="1500" b="1">
                <a:solidFill>
                  <a:srgbClr val="0F172A"/>
                </a:solidFill>
                <a:latin typeface="DejaVu Sans"/>
              </a:defRPr>
            </a:pPr>
            <a:r>
              <a:rPr lang="de-DE"/>
              <a:t>Geschichte erklärt Konfliktlinien. Sie rechtfertigt keine Angriffe auf Zivilisten.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566928"/>
            <a:ext cx="10725912" cy="676656"/>
          </a:xfrm>
          <a:prstGeom prst="rect">
            <a:avLst/>
          </a:prstGeom>
          <a:noFill/>
        </p:spPr>
        <p:txBody>
          <a:bodyPr wrap="square" lIns="0" rIns="0" tIns="0" bIns="0">
            <a:spAutoFit/>
          </a:bodyPr>
          <a:lstStyle/>
          <a:p>
            <a:pPr algn="l">
              <a:lnSpc>
                <a:spcPct val="112000"/>
              </a:lnSpc>
              <a:spcAft>
                <a:spcPts val="500"/>
              </a:spcAft>
              <a:defRPr sz="3000" b="1">
                <a:solidFill>
                  <a:srgbClr val="0F172A"/>
                </a:solidFill>
                <a:latin typeface="DejaVu Sans"/>
              </a:defRPr>
            </a:pPr>
            <a:r>
              <a:rPr lang="de-DE"/>
              <a:t>Interessen der Konfliktparteien</a:t>
            </a:r>
          </a:p>
        </p:txBody>
      </p:sp>
      <p:sp>
        <p:nvSpPr>
          <p:cNvPr id="3" name="Rectangle 2"/>
          <p:cNvSpPr/>
          <p:nvPr/>
        </p:nvSpPr>
        <p:spPr>
          <a:xfrm>
            <a:off x="731520" y="6419088"/>
            <a:ext cx="10725912" cy="11887"/>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31520" y="6492240"/>
            <a:ext cx="2834640" cy="201168"/>
          </a:xfrm>
          <a:prstGeom prst="rect">
            <a:avLst/>
          </a:prstGeom>
          <a:noFill/>
        </p:spPr>
        <p:txBody>
          <a:bodyPr wrap="square" lIns="0" rIns="0" tIns="0" bIns="0">
            <a:spAutoFit/>
          </a:bodyPr>
          <a:lstStyle/>
          <a:p>
            <a:pPr algn="l">
              <a:lnSpc>
                <a:spcPct val="112000"/>
              </a:lnSpc>
              <a:spcAft>
                <a:spcPts val="500"/>
              </a:spcAft>
              <a:defRPr sz="1000" b="0">
                <a:solidFill>
                  <a:srgbClr val="475569"/>
                </a:solidFill>
                <a:latin typeface="DejaVu Sans"/>
              </a:defRPr>
            </a:pPr>
            <a:r>
              <a:rPr lang="de-DE"/>
              <a:t>[Name 2]  /  Folie 05</a:t>
            </a:r>
          </a:p>
        </p:txBody>
      </p:sp>
      <p:sp>
        <p:nvSpPr>
          <p:cNvPr id="5" name="TextBox 4"/>
          <p:cNvSpPr txBox="1"/>
          <p:nvPr/>
        </p:nvSpPr>
        <p:spPr>
          <a:xfrm>
            <a:off x="3657600" y="6492240"/>
            <a:ext cx="7799831" cy="201168"/>
          </a:xfrm>
          <a:prstGeom prst="rect">
            <a:avLst/>
          </a:prstGeom>
          <a:noFill/>
        </p:spPr>
        <p:txBody>
          <a:bodyPr wrap="square" lIns="0" rIns="0" tIns="0" bIns="0">
            <a:spAutoFit/>
          </a:bodyPr>
          <a:lstStyle/>
          <a:p>
            <a:pPr algn="r">
              <a:lnSpc>
                <a:spcPct val="112000"/>
              </a:lnSpc>
              <a:spcAft>
                <a:spcPts val="500"/>
              </a:spcAft>
              <a:defRPr sz="900" b="0">
                <a:solidFill>
                  <a:srgbClr val="475569"/>
                </a:solidFill>
                <a:latin typeface="DejaVu Sans"/>
              </a:defRPr>
            </a:pPr>
            <a:r>
              <a:rPr lang="de-DE"/>
              <a:t>Eigene Gegenüberstellung auf Basis von bpb und SWP</a:t>
            </a:r>
          </a:p>
        </p:txBody>
      </p:sp>
      <p:sp>
        <p:nvSpPr>
          <p:cNvPr id="6" name="Rectangle 5"/>
          <p:cNvSpPr/>
          <p:nvPr/>
        </p:nvSpPr>
        <p:spPr>
          <a:xfrm>
            <a:off x="731520" y="1600200"/>
            <a:ext cx="3332378" cy="3977639"/>
          </a:xfrm>
          <a:prstGeom prst="rect">
            <a:avLst/>
          </a:prstGeom>
          <a:solidFill>
            <a:srgbClr val="FFFFFF"/>
          </a:solidFill>
          <a:ln w="889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60120" y="1810512"/>
            <a:ext cx="2875178" cy="301752"/>
          </a:xfrm>
          <a:prstGeom prst="rect">
            <a:avLst/>
          </a:prstGeom>
          <a:noFill/>
        </p:spPr>
        <p:txBody>
          <a:bodyPr wrap="square" lIns="0" rIns="0" tIns="0" bIns="0">
            <a:spAutoFit/>
          </a:bodyPr>
          <a:lstStyle/>
          <a:p>
            <a:pPr algn="l">
              <a:lnSpc>
                <a:spcPct val="112000"/>
              </a:lnSpc>
              <a:spcAft>
                <a:spcPts val="500"/>
              </a:spcAft>
              <a:defRPr sz="1700" b="1">
                <a:solidFill>
                  <a:srgbClr val="2563EB"/>
                </a:solidFill>
                <a:latin typeface="DejaVu Sans"/>
              </a:defRPr>
            </a:pPr>
            <a:r>
              <a:rPr lang="de-DE"/>
              <a:t>01</a:t>
            </a:r>
          </a:p>
        </p:txBody>
      </p:sp>
      <p:sp>
        <p:nvSpPr>
          <p:cNvPr id="8" name="TextBox 7"/>
          <p:cNvSpPr txBox="1"/>
          <p:nvPr/>
        </p:nvSpPr>
        <p:spPr>
          <a:xfrm>
            <a:off x="960120" y="2267712"/>
            <a:ext cx="2875178" cy="685800"/>
          </a:xfrm>
          <a:prstGeom prst="rect">
            <a:avLst/>
          </a:prstGeom>
          <a:noFill/>
        </p:spPr>
        <p:txBody>
          <a:bodyPr wrap="square" lIns="0" rIns="0" tIns="0" bIns="0">
            <a:spAutoFit/>
          </a:bodyPr>
          <a:lstStyle/>
          <a:p>
            <a:pPr algn="l">
              <a:lnSpc>
                <a:spcPct val="112000"/>
              </a:lnSpc>
              <a:spcAft>
                <a:spcPts val="500"/>
              </a:spcAft>
              <a:defRPr sz="1800" b="1">
                <a:solidFill>
                  <a:srgbClr val="0F172A"/>
                </a:solidFill>
                <a:latin typeface="DejaVu Sans"/>
              </a:defRPr>
            </a:pPr>
            <a:r>
              <a:rPr lang="de-DE"/>
              <a:t>Israelische Regierung</a:t>
            </a:r>
          </a:p>
        </p:txBody>
      </p:sp>
      <p:sp>
        <p:nvSpPr>
          <p:cNvPr id="9" name="TextBox 8"/>
          <p:cNvSpPr txBox="1"/>
          <p:nvPr/>
        </p:nvSpPr>
        <p:spPr>
          <a:xfrm>
            <a:off x="960120" y="3072384"/>
            <a:ext cx="2875178" cy="2331720"/>
          </a:xfrm>
          <a:prstGeom prst="rect">
            <a:avLst/>
          </a:prstGeom>
          <a:noFill/>
        </p:spPr>
        <p:txBody>
          <a:bodyPr wrap="square" lIns="0" rIns="0" tIns="0" bIns="0">
            <a:spAutoFit/>
          </a:bodyPr>
          <a:lstStyle/>
          <a:p>
            <a:pPr algn="l">
              <a:lnSpc>
                <a:spcPct val="112000"/>
              </a:lnSpc>
              <a:spcAft>
                <a:spcPts val="500"/>
              </a:spcAft>
              <a:defRPr sz="1500" b="0">
                <a:solidFill>
                  <a:srgbClr val="475569"/>
                </a:solidFill>
                <a:latin typeface="DejaVu Sans"/>
              </a:defRPr>
            </a:pPr>
            <a:r>
              <a:rPr lang="de-DE"/>
              <a:t>Schutz und Sicherheit Israels</a:t>
            </a:r>
          </a:p>
          <a:p>
            <a:pPr algn="l">
              <a:lnSpc>
                <a:spcPct val="112000"/>
              </a:lnSpc>
              <a:spcAft>
                <a:spcPts val="500"/>
              </a:spcAft>
              <a:defRPr sz="1500" b="0">
                <a:solidFill>
                  <a:srgbClr val="475569"/>
                </a:solidFill>
                <a:latin typeface="DejaVu Sans"/>
              </a:defRPr>
            </a:pPr>
            <a:r>
              <a:rPr lang="de-DE"/>
              <a:t>Hamas militärisch entmachten</a:t>
            </a:r>
          </a:p>
          <a:p>
            <a:pPr algn="l">
              <a:lnSpc>
                <a:spcPct val="112000"/>
              </a:lnSpc>
              <a:spcAft>
                <a:spcPts val="500"/>
              </a:spcAft>
              <a:defRPr sz="1500" b="0">
                <a:solidFill>
                  <a:srgbClr val="475569"/>
                </a:solidFill>
                <a:latin typeface="DejaVu Sans"/>
              </a:defRPr>
            </a:pPr>
            <a:r>
              <a:rPr lang="de-DE"/>
              <a:t>Politische Macht erhalten</a:t>
            </a:r>
          </a:p>
        </p:txBody>
      </p:sp>
      <p:sp>
        <p:nvSpPr>
          <p:cNvPr id="10" name="Rectangle 9"/>
          <p:cNvSpPr/>
          <p:nvPr/>
        </p:nvSpPr>
        <p:spPr>
          <a:xfrm>
            <a:off x="4429658" y="1600200"/>
            <a:ext cx="3332378" cy="3977639"/>
          </a:xfrm>
          <a:prstGeom prst="rect">
            <a:avLst/>
          </a:prstGeom>
          <a:solidFill>
            <a:srgbClr val="FFFFFF"/>
          </a:solidFill>
          <a:ln w="889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658258" y="1810512"/>
            <a:ext cx="2875178" cy="301752"/>
          </a:xfrm>
          <a:prstGeom prst="rect">
            <a:avLst/>
          </a:prstGeom>
          <a:noFill/>
        </p:spPr>
        <p:txBody>
          <a:bodyPr wrap="square" lIns="0" rIns="0" tIns="0" bIns="0">
            <a:spAutoFit/>
          </a:bodyPr>
          <a:lstStyle/>
          <a:p>
            <a:pPr algn="l">
              <a:lnSpc>
                <a:spcPct val="112000"/>
              </a:lnSpc>
              <a:spcAft>
                <a:spcPts val="500"/>
              </a:spcAft>
              <a:defRPr sz="1700" b="1">
                <a:solidFill>
                  <a:srgbClr val="2563EB"/>
                </a:solidFill>
                <a:latin typeface="DejaVu Sans"/>
              </a:defRPr>
            </a:pPr>
            <a:r>
              <a:rPr lang="de-DE"/>
              <a:t>02</a:t>
            </a:r>
          </a:p>
        </p:txBody>
      </p:sp>
      <p:sp>
        <p:nvSpPr>
          <p:cNvPr id="12" name="TextBox 11"/>
          <p:cNvSpPr txBox="1"/>
          <p:nvPr/>
        </p:nvSpPr>
        <p:spPr>
          <a:xfrm>
            <a:off x="4658258" y="2267712"/>
            <a:ext cx="2875178" cy="685800"/>
          </a:xfrm>
          <a:prstGeom prst="rect">
            <a:avLst/>
          </a:prstGeom>
          <a:noFill/>
        </p:spPr>
        <p:txBody>
          <a:bodyPr wrap="square" lIns="0" rIns="0" tIns="0" bIns="0">
            <a:spAutoFit/>
          </a:bodyPr>
          <a:lstStyle/>
          <a:p>
            <a:pPr algn="l">
              <a:lnSpc>
                <a:spcPct val="112000"/>
              </a:lnSpc>
              <a:spcAft>
                <a:spcPts val="500"/>
              </a:spcAft>
              <a:defRPr sz="1800" b="1">
                <a:solidFill>
                  <a:srgbClr val="0F172A"/>
                </a:solidFill>
                <a:latin typeface="DejaVu Sans"/>
              </a:defRPr>
            </a:pPr>
            <a:r>
              <a:rPr lang="de-DE"/>
              <a:t>Palästinensische Gesellschaft / PA</a:t>
            </a:r>
          </a:p>
        </p:txBody>
      </p:sp>
      <p:sp>
        <p:nvSpPr>
          <p:cNvPr id="13" name="TextBox 12"/>
          <p:cNvSpPr txBox="1"/>
          <p:nvPr/>
        </p:nvSpPr>
        <p:spPr>
          <a:xfrm>
            <a:off x="4658258" y="3072384"/>
            <a:ext cx="2875178" cy="2331720"/>
          </a:xfrm>
          <a:prstGeom prst="rect">
            <a:avLst/>
          </a:prstGeom>
          <a:noFill/>
        </p:spPr>
        <p:txBody>
          <a:bodyPr wrap="square" lIns="0" rIns="0" tIns="0" bIns="0">
            <a:spAutoFit/>
          </a:bodyPr>
          <a:lstStyle/>
          <a:p>
            <a:pPr algn="l">
              <a:lnSpc>
                <a:spcPct val="112000"/>
              </a:lnSpc>
              <a:spcAft>
                <a:spcPts val="500"/>
              </a:spcAft>
              <a:defRPr sz="1500" b="0">
                <a:solidFill>
                  <a:srgbClr val="475569"/>
                </a:solidFill>
                <a:latin typeface="DejaVu Sans"/>
              </a:defRPr>
            </a:pPr>
            <a:r>
              <a:rPr lang="de-DE"/>
              <a:t>Selbstbestimmung und Staatlichkeit</a:t>
            </a:r>
          </a:p>
          <a:p>
            <a:pPr algn="l">
              <a:lnSpc>
                <a:spcPct val="112000"/>
              </a:lnSpc>
              <a:spcAft>
                <a:spcPts val="500"/>
              </a:spcAft>
              <a:defRPr sz="1500" b="0">
                <a:solidFill>
                  <a:srgbClr val="475569"/>
                </a:solidFill>
                <a:latin typeface="DejaVu Sans"/>
              </a:defRPr>
            </a:pPr>
            <a:r>
              <a:rPr lang="de-DE"/>
              <a:t>Schutz, Bewegungsfreiheit, Wiederaufbau</a:t>
            </a:r>
          </a:p>
          <a:p>
            <a:pPr algn="l">
              <a:lnSpc>
                <a:spcPct val="112000"/>
              </a:lnSpc>
              <a:spcAft>
                <a:spcPts val="500"/>
              </a:spcAft>
              <a:defRPr sz="1500" b="0">
                <a:solidFill>
                  <a:srgbClr val="475569"/>
                </a:solidFill>
                <a:latin typeface="DejaVu Sans"/>
              </a:defRPr>
            </a:pPr>
            <a:r>
              <a:rPr lang="de-DE"/>
              <a:t>Politische Teilhabe</a:t>
            </a:r>
          </a:p>
        </p:txBody>
      </p:sp>
      <p:sp>
        <p:nvSpPr>
          <p:cNvPr id="14" name="Rectangle 13"/>
          <p:cNvSpPr/>
          <p:nvPr/>
        </p:nvSpPr>
        <p:spPr>
          <a:xfrm>
            <a:off x="8127796" y="1600200"/>
            <a:ext cx="3332378" cy="3977639"/>
          </a:xfrm>
          <a:prstGeom prst="rect">
            <a:avLst/>
          </a:prstGeom>
          <a:solidFill>
            <a:srgbClr val="FFFFFF"/>
          </a:solidFill>
          <a:ln w="889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356396" y="1810512"/>
            <a:ext cx="2875178" cy="301752"/>
          </a:xfrm>
          <a:prstGeom prst="rect">
            <a:avLst/>
          </a:prstGeom>
          <a:noFill/>
        </p:spPr>
        <p:txBody>
          <a:bodyPr wrap="square" lIns="0" rIns="0" tIns="0" bIns="0">
            <a:spAutoFit/>
          </a:bodyPr>
          <a:lstStyle/>
          <a:p>
            <a:pPr algn="l">
              <a:lnSpc>
                <a:spcPct val="112000"/>
              </a:lnSpc>
              <a:spcAft>
                <a:spcPts val="500"/>
              </a:spcAft>
              <a:defRPr sz="1700" b="1">
                <a:solidFill>
                  <a:srgbClr val="2563EB"/>
                </a:solidFill>
                <a:latin typeface="DejaVu Sans"/>
              </a:defRPr>
            </a:pPr>
            <a:r>
              <a:rPr lang="de-DE"/>
              <a:t>03</a:t>
            </a:r>
          </a:p>
        </p:txBody>
      </p:sp>
      <p:sp>
        <p:nvSpPr>
          <p:cNvPr id="16" name="TextBox 15"/>
          <p:cNvSpPr txBox="1"/>
          <p:nvPr/>
        </p:nvSpPr>
        <p:spPr>
          <a:xfrm>
            <a:off x="8356396" y="2267712"/>
            <a:ext cx="2875178" cy="685800"/>
          </a:xfrm>
          <a:prstGeom prst="rect">
            <a:avLst/>
          </a:prstGeom>
          <a:noFill/>
        </p:spPr>
        <p:txBody>
          <a:bodyPr wrap="square" lIns="0" rIns="0" tIns="0" bIns="0">
            <a:spAutoFit/>
          </a:bodyPr>
          <a:lstStyle/>
          <a:p>
            <a:pPr algn="l">
              <a:lnSpc>
                <a:spcPct val="112000"/>
              </a:lnSpc>
              <a:spcAft>
                <a:spcPts val="500"/>
              </a:spcAft>
              <a:defRPr sz="1800" b="1">
                <a:solidFill>
                  <a:srgbClr val="0F172A"/>
                </a:solidFill>
                <a:latin typeface="DejaVu Sans"/>
              </a:defRPr>
            </a:pPr>
            <a:r>
              <a:rPr lang="de-DE"/>
              <a:t>Hamas-Führung</a:t>
            </a:r>
          </a:p>
        </p:txBody>
      </p:sp>
      <p:sp>
        <p:nvSpPr>
          <p:cNvPr id="17" name="TextBox 16"/>
          <p:cNvSpPr txBox="1"/>
          <p:nvPr/>
        </p:nvSpPr>
        <p:spPr>
          <a:xfrm>
            <a:off x="8356396" y="3072384"/>
            <a:ext cx="2875178" cy="2331720"/>
          </a:xfrm>
          <a:prstGeom prst="rect">
            <a:avLst/>
          </a:prstGeom>
          <a:noFill/>
        </p:spPr>
        <p:txBody>
          <a:bodyPr wrap="square" lIns="0" rIns="0" tIns="0" bIns="0">
            <a:spAutoFit/>
          </a:bodyPr>
          <a:lstStyle/>
          <a:p>
            <a:pPr algn="l">
              <a:lnSpc>
                <a:spcPct val="112000"/>
              </a:lnSpc>
              <a:spcAft>
                <a:spcPts val="500"/>
              </a:spcAft>
              <a:defRPr sz="1500" b="0">
                <a:solidFill>
                  <a:srgbClr val="475569"/>
                </a:solidFill>
                <a:latin typeface="DejaVu Sans"/>
              </a:defRPr>
            </a:pPr>
            <a:r>
              <a:rPr lang="de-DE"/>
              <a:t>Herrschaft und Einfluss sichern</a:t>
            </a:r>
          </a:p>
          <a:p>
            <a:pPr algn="l">
              <a:lnSpc>
                <a:spcPct val="112000"/>
              </a:lnSpc>
              <a:spcAft>
                <a:spcPts val="500"/>
              </a:spcAft>
              <a:defRPr sz="1500" b="0">
                <a:solidFill>
                  <a:srgbClr val="475569"/>
                </a:solidFill>
                <a:latin typeface="DejaVu Sans"/>
              </a:defRPr>
            </a:pPr>
            <a:r>
              <a:rPr lang="de-DE"/>
              <a:t>Bewaffneter Kampf gegen Israel</a:t>
            </a:r>
          </a:p>
          <a:p>
            <a:pPr algn="l">
              <a:lnSpc>
                <a:spcPct val="112000"/>
              </a:lnSpc>
              <a:spcAft>
                <a:spcPts val="500"/>
              </a:spcAft>
              <a:defRPr sz="1500" b="0">
                <a:solidFill>
                  <a:srgbClr val="475569"/>
                </a:solidFill>
                <a:latin typeface="DejaVu Sans"/>
              </a:defRPr>
            </a:pPr>
            <a:r>
              <a:rPr lang="de-DE"/>
              <a:t>Islamistischer Ordnungsanspruch</a:t>
            </a:r>
          </a:p>
        </p:txBody>
      </p:sp>
      <p:sp>
        <p:nvSpPr>
          <p:cNvPr id="18" name="TextBox 17"/>
          <p:cNvSpPr txBox="1"/>
          <p:nvPr/>
        </p:nvSpPr>
        <p:spPr>
          <a:xfrm>
            <a:off x="731520" y="5824728"/>
            <a:ext cx="10725912" cy="411480"/>
          </a:xfrm>
          <a:prstGeom prst="rect">
            <a:avLst/>
          </a:prstGeom>
          <a:noFill/>
        </p:spPr>
        <p:txBody>
          <a:bodyPr wrap="square" lIns="0" rIns="0" tIns="0" bIns="0">
            <a:spAutoFit/>
          </a:bodyPr>
          <a:lstStyle/>
          <a:p>
            <a:pPr algn="l">
              <a:lnSpc>
                <a:spcPct val="112000"/>
              </a:lnSpc>
              <a:spcAft>
                <a:spcPts val="500"/>
              </a:spcAft>
              <a:defRPr sz="1400" b="0">
                <a:solidFill>
                  <a:srgbClr val="475569"/>
                </a:solidFill>
                <a:latin typeface="DejaVu Sans"/>
              </a:defRPr>
            </a:pPr>
            <a:r>
              <a:rPr lang="de-DE"/>
              <a:t>Streitpunkte: Grenzen, Territorium und Sicherheit; Ziele innerhalb beider Gesellschaften sind umstritten.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566928"/>
            <a:ext cx="10725912" cy="676656"/>
          </a:xfrm>
          <a:prstGeom prst="rect">
            <a:avLst/>
          </a:prstGeom>
          <a:noFill/>
        </p:spPr>
        <p:txBody>
          <a:bodyPr wrap="square" lIns="0" rIns="0" tIns="0" bIns="0">
            <a:spAutoFit/>
          </a:bodyPr>
          <a:lstStyle/>
          <a:p>
            <a:pPr algn="l">
              <a:lnSpc>
                <a:spcPct val="112000"/>
              </a:lnSpc>
              <a:spcAft>
                <a:spcPts val="500"/>
              </a:spcAft>
              <a:defRPr sz="3000" b="1">
                <a:solidFill>
                  <a:srgbClr val="0F172A"/>
                </a:solidFill>
                <a:latin typeface="DejaVu Sans"/>
              </a:defRPr>
            </a:pPr>
            <a:r>
              <a:rPr lang="de-DE"/>
              <a:t>Rechtliche Situation und Machtmittel</a:t>
            </a:r>
          </a:p>
        </p:txBody>
      </p:sp>
      <p:sp>
        <p:nvSpPr>
          <p:cNvPr id="3" name="Rectangle 2"/>
          <p:cNvSpPr/>
          <p:nvPr/>
        </p:nvSpPr>
        <p:spPr>
          <a:xfrm>
            <a:off x="731520" y="6419088"/>
            <a:ext cx="10725912" cy="11887"/>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31520" y="6492240"/>
            <a:ext cx="2834640" cy="201168"/>
          </a:xfrm>
          <a:prstGeom prst="rect">
            <a:avLst/>
          </a:prstGeom>
          <a:noFill/>
        </p:spPr>
        <p:txBody>
          <a:bodyPr wrap="square" lIns="0" rIns="0" tIns="0" bIns="0">
            <a:spAutoFit/>
          </a:bodyPr>
          <a:lstStyle/>
          <a:p>
            <a:pPr algn="l">
              <a:lnSpc>
                <a:spcPct val="112000"/>
              </a:lnSpc>
              <a:spcAft>
                <a:spcPts val="500"/>
              </a:spcAft>
              <a:defRPr sz="1000" b="0">
                <a:solidFill>
                  <a:srgbClr val="475569"/>
                </a:solidFill>
                <a:latin typeface="DejaVu Sans"/>
              </a:defRPr>
            </a:pPr>
            <a:r>
              <a:rPr lang="de-DE"/>
              <a:t>[Name 2]  /  Folie 06</a:t>
            </a:r>
          </a:p>
        </p:txBody>
      </p:sp>
      <p:sp>
        <p:nvSpPr>
          <p:cNvPr id="5" name="TextBox 4"/>
          <p:cNvSpPr txBox="1"/>
          <p:nvPr/>
        </p:nvSpPr>
        <p:spPr>
          <a:xfrm>
            <a:off x="3657600" y="6492240"/>
            <a:ext cx="7799831" cy="201168"/>
          </a:xfrm>
          <a:prstGeom prst="rect">
            <a:avLst/>
          </a:prstGeom>
          <a:noFill/>
        </p:spPr>
        <p:txBody>
          <a:bodyPr wrap="square" lIns="0" rIns="0" tIns="0" bIns="0">
            <a:spAutoFit/>
          </a:bodyPr>
          <a:lstStyle/>
          <a:p>
            <a:pPr algn="r">
              <a:lnSpc>
                <a:spcPct val="112000"/>
              </a:lnSpc>
              <a:spcAft>
                <a:spcPts val="500"/>
              </a:spcAft>
              <a:defRPr sz="900" b="0">
                <a:solidFill>
                  <a:srgbClr val="475569"/>
                </a:solidFill>
                <a:latin typeface="DejaVu Sans"/>
              </a:defRPr>
            </a:pPr>
            <a:r>
              <a:rPr lang="de-DE"/>
              <a:t>UN-Charta / IGH / IStGH / IKRK / CRS / SWP</a:t>
            </a:r>
          </a:p>
        </p:txBody>
      </p:sp>
      <p:sp>
        <p:nvSpPr>
          <p:cNvPr id="6" name="TextBox 5"/>
          <p:cNvSpPr txBox="1"/>
          <p:nvPr/>
        </p:nvSpPr>
        <p:spPr>
          <a:xfrm>
            <a:off x="731520" y="1508760"/>
            <a:ext cx="5074920" cy="365760"/>
          </a:xfrm>
          <a:prstGeom prst="rect">
            <a:avLst/>
          </a:prstGeom>
          <a:noFill/>
        </p:spPr>
        <p:txBody>
          <a:bodyPr wrap="square" lIns="0" rIns="0" tIns="0" bIns="0">
            <a:spAutoFit/>
          </a:bodyPr>
          <a:lstStyle/>
          <a:p>
            <a:pPr algn="l">
              <a:lnSpc>
                <a:spcPct val="112000"/>
              </a:lnSpc>
              <a:spcAft>
                <a:spcPts val="500"/>
              </a:spcAft>
              <a:defRPr sz="2100" b="1">
                <a:solidFill>
                  <a:srgbClr val="2563EB"/>
                </a:solidFill>
                <a:latin typeface="DejaVu Sans"/>
              </a:defRPr>
            </a:pPr>
            <a:r>
              <a:rPr lang="de-DE"/>
              <a:t>Rechtliche Situation</a:t>
            </a:r>
          </a:p>
        </p:txBody>
      </p:sp>
      <p:sp>
        <p:nvSpPr>
          <p:cNvPr id="7" name="TextBox 6"/>
          <p:cNvSpPr txBox="1"/>
          <p:nvPr/>
        </p:nvSpPr>
        <p:spPr>
          <a:xfrm>
            <a:off x="731520" y="2148840"/>
            <a:ext cx="201168" cy="457200"/>
          </a:xfrm>
          <a:prstGeom prst="rect">
            <a:avLst/>
          </a:prstGeom>
          <a:noFill/>
        </p:spPr>
        <p:txBody>
          <a:bodyPr wrap="square" lIns="0" rIns="0" tIns="0" bIns="0">
            <a:spAutoFit/>
          </a:bodyPr>
          <a:lstStyle/>
          <a:p>
            <a:pPr algn="l">
              <a:lnSpc>
                <a:spcPct val="112000"/>
              </a:lnSpc>
              <a:spcAft>
                <a:spcPts val="500"/>
              </a:spcAft>
              <a:defRPr sz="1700" b="0">
                <a:solidFill>
                  <a:srgbClr val="2563EB"/>
                </a:solidFill>
                <a:latin typeface="DejaVu Sans"/>
              </a:defRPr>
            </a:pPr>
            <a:r>
              <a:rPr lang="de-DE"/>
              <a:t>•</a:t>
            </a:r>
          </a:p>
        </p:txBody>
      </p:sp>
      <p:sp>
        <p:nvSpPr>
          <p:cNvPr id="8" name="TextBox 7"/>
          <p:cNvSpPr txBox="1"/>
          <p:nvPr/>
        </p:nvSpPr>
        <p:spPr>
          <a:xfrm>
            <a:off x="1024128" y="2148840"/>
            <a:ext cx="4782312" cy="749808"/>
          </a:xfrm>
          <a:prstGeom prst="rect">
            <a:avLst/>
          </a:prstGeom>
          <a:noFill/>
        </p:spPr>
        <p:txBody>
          <a:bodyPr wrap="square" lIns="0" rIns="0" tIns="0" bIns="0">
            <a:spAutoFit/>
          </a:bodyPr>
          <a:lstStyle/>
          <a:p>
            <a:pPr algn="l">
              <a:lnSpc>
                <a:spcPct val="112000"/>
              </a:lnSpc>
              <a:spcAft>
                <a:spcPts val="500"/>
              </a:spcAft>
              <a:defRPr sz="1700" b="0">
                <a:solidFill>
                  <a:srgbClr val="0F172A"/>
                </a:solidFill>
                <a:latin typeface="DejaVu Sans"/>
              </a:defRPr>
            </a:pPr>
            <a:r>
              <a:rPr lang="de-DE"/>
              <a:t>Art. 51: Selbstverteidigung unter rechtlichen Voraussetzungen</a:t>
            </a:r>
          </a:p>
        </p:txBody>
      </p:sp>
      <p:sp>
        <p:nvSpPr>
          <p:cNvPr id="9" name="TextBox 8"/>
          <p:cNvSpPr txBox="1"/>
          <p:nvPr/>
        </p:nvSpPr>
        <p:spPr>
          <a:xfrm>
            <a:off x="731520" y="2962656"/>
            <a:ext cx="201168" cy="457200"/>
          </a:xfrm>
          <a:prstGeom prst="rect">
            <a:avLst/>
          </a:prstGeom>
          <a:noFill/>
        </p:spPr>
        <p:txBody>
          <a:bodyPr wrap="square" lIns="0" rIns="0" tIns="0" bIns="0">
            <a:spAutoFit/>
          </a:bodyPr>
          <a:lstStyle/>
          <a:p>
            <a:pPr algn="l">
              <a:lnSpc>
                <a:spcPct val="112000"/>
              </a:lnSpc>
              <a:spcAft>
                <a:spcPts val="500"/>
              </a:spcAft>
              <a:defRPr sz="1700" b="0">
                <a:solidFill>
                  <a:srgbClr val="2563EB"/>
                </a:solidFill>
                <a:latin typeface="DejaVu Sans"/>
              </a:defRPr>
            </a:pPr>
            <a:r>
              <a:rPr lang="de-DE"/>
              <a:t>•</a:t>
            </a:r>
          </a:p>
        </p:txBody>
      </p:sp>
      <p:sp>
        <p:nvSpPr>
          <p:cNvPr id="10" name="TextBox 9"/>
          <p:cNvSpPr txBox="1"/>
          <p:nvPr/>
        </p:nvSpPr>
        <p:spPr>
          <a:xfrm>
            <a:off x="1024128" y="2962656"/>
            <a:ext cx="4782312" cy="749808"/>
          </a:xfrm>
          <a:prstGeom prst="rect">
            <a:avLst/>
          </a:prstGeom>
          <a:noFill/>
        </p:spPr>
        <p:txBody>
          <a:bodyPr wrap="square" lIns="0" rIns="0" tIns="0" bIns="0">
            <a:spAutoFit/>
          </a:bodyPr>
          <a:lstStyle/>
          <a:p>
            <a:pPr algn="l">
              <a:lnSpc>
                <a:spcPct val="112000"/>
              </a:lnSpc>
              <a:spcAft>
                <a:spcPts val="500"/>
              </a:spcAft>
              <a:defRPr sz="1700" b="0">
                <a:solidFill>
                  <a:srgbClr val="0F172A"/>
                </a:solidFill>
                <a:latin typeface="DejaVu Sans"/>
              </a:defRPr>
            </a:pPr>
            <a:r>
              <a:rPr lang="de-DE"/>
              <a:t>Kriegsvölkerrecht bindet alle Parteien und schützt Zivilisten</a:t>
            </a:r>
          </a:p>
        </p:txBody>
      </p:sp>
      <p:sp>
        <p:nvSpPr>
          <p:cNvPr id="11" name="TextBox 10"/>
          <p:cNvSpPr txBox="1"/>
          <p:nvPr/>
        </p:nvSpPr>
        <p:spPr>
          <a:xfrm>
            <a:off x="731520" y="3776472"/>
            <a:ext cx="201168" cy="457200"/>
          </a:xfrm>
          <a:prstGeom prst="rect">
            <a:avLst/>
          </a:prstGeom>
          <a:noFill/>
        </p:spPr>
        <p:txBody>
          <a:bodyPr wrap="square" lIns="0" rIns="0" tIns="0" bIns="0">
            <a:spAutoFit/>
          </a:bodyPr>
          <a:lstStyle/>
          <a:p>
            <a:pPr algn="l">
              <a:lnSpc>
                <a:spcPct val="112000"/>
              </a:lnSpc>
              <a:spcAft>
                <a:spcPts val="500"/>
              </a:spcAft>
              <a:defRPr sz="1700" b="0">
                <a:solidFill>
                  <a:srgbClr val="2563EB"/>
                </a:solidFill>
                <a:latin typeface="DejaVu Sans"/>
              </a:defRPr>
            </a:pPr>
            <a:r>
              <a:rPr lang="de-DE"/>
              <a:t>•</a:t>
            </a:r>
          </a:p>
        </p:txBody>
      </p:sp>
      <p:sp>
        <p:nvSpPr>
          <p:cNvPr id="12" name="TextBox 11"/>
          <p:cNvSpPr txBox="1"/>
          <p:nvPr/>
        </p:nvSpPr>
        <p:spPr>
          <a:xfrm>
            <a:off x="1024128" y="3776472"/>
            <a:ext cx="4782312" cy="749808"/>
          </a:xfrm>
          <a:prstGeom prst="rect">
            <a:avLst/>
          </a:prstGeom>
          <a:noFill/>
        </p:spPr>
        <p:txBody>
          <a:bodyPr wrap="square" lIns="0" rIns="0" tIns="0" bIns="0">
            <a:spAutoFit/>
          </a:bodyPr>
          <a:lstStyle/>
          <a:p>
            <a:pPr algn="l">
              <a:lnSpc>
                <a:spcPct val="112000"/>
              </a:lnSpc>
              <a:spcAft>
                <a:spcPts val="500"/>
              </a:spcAft>
              <a:defRPr sz="1700" b="0">
                <a:solidFill>
                  <a:srgbClr val="0F172A"/>
                </a:solidFill>
                <a:latin typeface="DejaVu Sans"/>
              </a:defRPr>
            </a:pPr>
            <a:r>
              <a:rPr lang="de-DE"/>
              <a:t>IGH: Staatenverantwortung; Eilmaßnahmen im Verfahren Südafrika gegen Israel</a:t>
            </a:r>
          </a:p>
        </p:txBody>
      </p:sp>
      <p:sp>
        <p:nvSpPr>
          <p:cNvPr id="13" name="TextBox 12"/>
          <p:cNvSpPr txBox="1"/>
          <p:nvPr/>
        </p:nvSpPr>
        <p:spPr>
          <a:xfrm>
            <a:off x="731520" y="4590288"/>
            <a:ext cx="201168" cy="457200"/>
          </a:xfrm>
          <a:prstGeom prst="rect">
            <a:avLst/>
          </a:prstGeom>
          <a:noFill/>
        </p:spPr>
        <p:txBody>
          <a:bodyPr wrap="square" lIns="0" rIns="0" tIns="0" bIns="0">
            <a:spAutoFit/>
          </a:bodyPr>
          <a:lstStyle/>
          <a:p>
            <a:pPr algn="l">
              <a:lnSpc>
                <a:spcPct val="112000"/>
              </a:lnSpc>
              <a:spcAft>
                <a:spcPts val="500"/>
              </a:spcAft>
              <a:defRPr sz="1700" b="0">
                <a:solidFill>
                  <a:srgbClr val="2563EB"/>
                </a:solidFill>
                <a:latin typeface="DejaVu Sans"/>
              </a:defRPr>
            </a:pPr>
            <a:r>
              <a:rPr lang="de-DE"/>
              <a:t>•</a:t>
            </a:r>
          </a:p>
        </p:txBody>
      </p:sp>
      <p:sp>
        <p:nvSpPr>
          <p:cNvPr id="14" name="TextBox 13"/>
          <p:cNvSpPr txBox="1"/>
          <p:nvPr/>
        </p:nvSpPr>
        <p:spPr>
          <a:xfrm>
            <a:off x="1024128" y="4590288"/>
            <a:ext cx="4782312" cy="749808"/>
          </a:xfrm>
          <a:prstGeom prst="rect">
            <a:avLst/>
          </a:prstGeom>
          <a:noFill/>
        </p:spPr>
        <p:txBody>
          <a:bodyPr wrap="square" lIns="0" rIns="0" tIns="0" bIns="0">
            <a:spAutoFit/>
          </a:bodyPr>
          <a:lstStyle/>
          <a:p>
            <a:pPr algn="l">
              <a:lnSpc>
                <a:spcPct val="112000"/>
              </a:lnSpc>
              <a:spcAft>
                <a:spcPts val="500"/>
              </a:spcAft>
              <a:defRPr sz="1700" b="0">
                <a:solidFill>
                  <a:srgbClr val="0F172A"/>
                </a:solidFill>
                <a:latin typeface="DejaVu Sans"/>
              </a:defRPr>
            </a:pPr>
            <a:r>
              <a:rPr lang="de-DE"/>
              <a:t>IStGH: individuelle Strafverantwortung; Haftbefehle 2024</a:t>
            </a:r>
          </a:p>
        </p:txBody>
      </p:sp>
      <p:sp>
        <p:nvSpPr>
          <p:cNvPr id="15" name="TextBox 14"/>
          <p:cNvSpPr txBox="1"/>
          <p:nvPr/>
        </p:nvSpPr>
        <p:spPr>
          <a:xfrm>
            <a:off x="6291072" y="1508760"/>
            <a:ext cx="5074920" cy="365760"/>
          </a:xfrm>
          <a:prstGeom prst="rect">
            <a:avLst/>
          </a:prstGeom>
          <a:noFill/>
        </p:spPr>
        <p:txBody>
          <a:bodyPr wrap="square" lIns="0" rIns="0" tIns="0" bIns="0">
            <a:spAutoFit/>
          </a:bodyPr>
          <a:lstStyle/>
          <a:p>
            <a:pPr algn="l">
              <a:lnSpc>
                <a:spcPct val="112000"/>
              </a:lnSpc>
              <a:spcAft>
                <a:spcPts val="500"/>
              </a:spcAft>
              <a:defRPr sz="2100" b="1">
                <a:solidFill>
                  <a:srgbClr val="2563EB"/>
                </a:solidFill>
                <a:latin typeface="DejaVu Sans"/>
              </a:defRPr>
            </a:pPr>
            <a:r>
              <a:rPr lang="de-DE"/>
              <a:t>Mittel und Ressourcen</a:t>
            </a:r>
          </a:p>
        </p:txBody>
      </p:sp>
      <p:sp>
        <p:nvSpPr>
          <p:cNvPr id="16" name="TextBox 15"/>
          <p:cNvSpPr txBox="1"/>
          <p:nvPr/>
        </p:nvSpPr>
        <p:spPr>
          <a:xfrm>
            <a:off x="6291072" y="2148840"/>
            <a:ext cx="201168" cy="457200"/>
          </a:xfrm>
          <a:prstGeom prst="rect">
            <a:avLst/>
          </a:prstGeom>
          <a:noFill/>
        </p:spPr>
        <p:txBody>
          <a:bodyPr wrap="square" lIns="0" rIns="0" tIns="0" bIns="0">
            <a:spAutoFit/>
          </a:bodyPr>
          <a:lstStyle/>
          <a:p>
            <a:pPr algn="l">
              <a:lnSpc>
                <a:spcPct val="112000"/>
              </a:lnSpc>
              <a:spcAft>
                <a:spcPts val="500"/>
              </a:spcAft>
              <a:defRPr sz="1700" b="0">
                <a:solidFill>
                  <a:srgbClr val="2563EB"/>
                </a:solidFill>
                <a:latin typeface="DejaVu Sans"/>
              </a:defRPr>
            </a:pPr>
            <a:r>
              <a:rPr lang="de-DE"/>
              <a:t>•</a:t>
            </a:r>
          </a:p>
        </p:txBody>
      </p:sp>
      <p:sp>
        <p:nvSpPr>
          <p:cNvPr id="17" name="TextBox 16"/>
          <p:cNvSpPr txBox="1"/>
          <p:nvPr/>
        </p:nvSpPr>
        <p:spPr>
          <a:xfrm>
            <a:off x="6583680" y="2148840"/>
            <a:ext cx="4782312" cy="749808"/>
          </a:xfrm>
          <a:prstGeom prst="rect">
            <a:avLst/>
          </a:prstGeom>
          <a:noFill/>
        </p:spPr>
        <p:txBody>
          <a:bodyPr wrap="square" lIns="0" rIns="0" tIns="0" bIns="0">
            <a:spAutoFit/>
          </a:bodyPr>
          <a:lstStyle/>
          <a:p>
            <a:pPr algn="l">
              <a:lnSpc>
                <a:spcPct val="112000"/>
              </a:lnSpc>
              <a:spcAft>
                <a:spcPts val="500"/>
              </a:spcAft>
              <a:defRPr sz="1700" b="0">
                <a:solidFill>
                  <a:srgbClr val="0F172A"/>
                </a:solidFill>
                <a:latin typeface="DejaVu Sans"/>
              </a:defRPr>
            </a:pPr>
            <a:r>
              <a:rPr lang="de-DE"/>
              <a:t>Israel: überlegene Streitkräfte; insbesondere militärische US-Unterstützung</a:t>
            </a:r>
          </a:p>
        </p:txBody>
      </p:sp>
      <p:sp>
        <p:nvSpPr>
          <p:cNvPr id="18" name="TextBox 17"/>
          <p:cNvSpPr txBox="1"/>
          <p:nvPr/>
        </p:nvSpPr>
        <p:spPr>
          <a:xfrm>
            <a:off x="6291072" y="2962656"/>
            <a:ext cx="201168" cy="457200"/>
          </a:xfrm>
          <a:prstGeom prst="rect">
            <a:avLst/>
          </a:prstGeom>
          <a:noFill/>
        </p:spPr>
        <p:txBody>
          <a:bodyPr wrap="square" lIns="0" rIns="0" tIns="0" bIns="0">
            <a:spAutoFit/>
          </a:bodyPr>
          <a:lstStyle/>
          <a:p>
            <a:pPr algn="l">
              <a:lnSpc>
                <a:spcPct val="112000"/>
              </a:lnSpc>
              <a:spcAft>
                <a:spcPts val="500"/>
              </a:spcAft>
              <a:defRPr sz="1700" b="0">
                <a:solidFill>
                  <a:srgbClr val="2563EB"/>
                </a:solidFill>
                <a:latin typeface="DejaVu Sans"/>
              </a:defRPr>
            </a:pPr>
            <a:r>
              <a:rPr lang="de-DE"/>
              <a:t>•</a:t>
            </a:r>
          </a:p>
        </p:txBody>
      </p:sp>
      <p:sp>
        <p:nvSpPr>
          <p:cNvPr id="19" name="TextBox 18"/>
          <p:cNvSpPr txBox="1"/>
          <p:nvPr/>
        </p:nvSpPr>
        <p:spPr>
          <a:xfrm>
            <a:off x="6583680" y="2962656"/>
            <a:ext cx="4782312" cy="749808"/>
          </a:xfrm>
          <a:prstGeom prst="rect">
            <a:avLst/>
          </a:prstGeom>
          <a:noFill/>
        </p:spPr>
        <p:txBody>
          <a:bodyPr wrap="square" lIns="0" rIns="0" tIns="0" bIns="0">
            <a:spAutoFit/>
          </a:bodyPr>
          <a:lstStyle/>
          <a:p>
            <a:pPr algn="l">
              <a:lnSpc>
                <a:spcPct val="112000"/>
              </a:lnSpc>
              <a:spcAft>
                <a:spcPts val="500"/>
              </a:spcAft>
              <a:defRPr sz="1700" b="0">
                <a:solidFill>
                  <a:srgbClr val="0F172A"/>
                </a:solidFill>
                <a:latin typeface="DejaVu Sans"/>
              </a:defRPr>
            </a:pPr>
            <a:r>
              <a:rPr lang="de-DE"/>
              <a:t>Hamas / PIJ: Raketen, Tunnel, asymmetrische Kriegsführung</a:t>
            </a:r>
          </a:p>
        </p:txBody>
      </p:sp>
      <p:sp>
        <p:nvSpPr>
          <p:cNvPr id="20" name="TextBox 19"/>
          <p:cNvSpPr txBox="1"/>
          <p:nvPr/>
        </p:nvSpPr>
        <p:spPr>
          <a:xfrm>
            <a:off x="6291072" y="3776472"/>
            <a:ext cx="201168" cy="457200"/>
          </a:xfrm>
          <a:prstGeom prst="rect">
            <a:avLst/>
          </a:prstGeom>
          <a:noFill/>
        </p:spPr>
        <p:txBody>
          <a:bodyPr wrap="square" lIns="0" rIns="0" tIns="0" bIns="0">
            <a:spAutoFit/>
          </a:bodyPr>
          <a:lstStyle/>
          <a:p>
            <a:pPr algn="l">
              <a:lnSpc>
                <a:spcPct val="112000"/>
              </a:lnSpc>
              <a:spcAft>
                <a:spcPts val="500"/>
              </a:spcAft>
              <a:defRPr sz="1700" b="0">
                <a:solidFill>
                  <a:srgbClr val="2563EB"/>
                </a:solidFill>
                <a:latin typeface="DejaVu Sans"/>
              </a:defRPr>
            </a:pPr>
            <a:r>
              <a:rPr lang="de-DE"/>
              <a:t>•</a:t>
            </a:r>
          </a:p>
        </p:txBody>
      </p:sp>
      <p:sp>
        <p:nvSpPr>
          <p:cNvPr id="21" name="TextBox 20"/>
          <p:cNvSpPr txBox="1"/>
          <p:nvPr/>
        </p:nvSpPr>
        <p:spPr>
          <a:xfrm>
            <a:off x="6583680" y="3776472"/>
            <a:ext cx="4782312" cy="749808"/>
          </a:xfrm>
          <a:prstGeom prst="rect">
            <a:avLst/>
          </a:prstGeom>
          <a:noFill/>
        </p:spPr>
        <p:txBody>
          <a:bodyPr wrap="square" lIns="0" rIns="0" tIns="0" bIns="0">
            <a:spAutoFit/>
          </a:bodyPr>
          <a:lstStyle/>
          <a:p>
            <a:pPr algn="l">
              <a:lnSpc>
                <a:spcPct val="112000"/>
              </a:lnSpc>
              <a:spcAft>
                <a:spcPts val="500"/>
              </a:spcAft>
              <a:defRPr sz="1700" b="0">
                <a:solidFill>
                  <a:srgbClr val="0F172A"/>
                </a:solidFill>
                <a:latin typeface="DejaVu Sans"/>
              </a:defRPr>
            </a:pPr>
            <a:r>
              <a:rPr lang="de-DE"/>
              <a:t>Iran: Unterstützung bewaffneter Gruppen der „Achse des Widerstands“</a:t>
            </a:r>
          </a:p>
        </p:txBody>
      </p:sp>
      <p:sp>
        <p:nvSpPr>
          <p:cNvPr id="22" name="TextBox 21"/>
          <p:cNvSpPr txBox="1"/>
          <p:nvPr/>
        </p:nvSpPr>
        <p:spPr>
          <a:xfrm>
            <a:off x="6291072" y="4590288"/>
            <a:ext cx="201168" cy="457200"/>
          </a:xfrm>
          <a:prstGeom prst="rect">
            <a:avLst/>
          </a:prstGeom>
          <a:noFill/>
        </p:spPr>
        <p:txBody>
          <a:bodyPr wrap="square" lIns="0" rIns="0" tIns="0" bIns="0">
            <a:spAutoFit/>
          </a:bodyPr>
          <a:lstStyle/>
          <a:p>
            <a:pPr algn="l">
              <a:lnSpc>
                <a:spcPct val="112000"/>
              </a:lnSpc>
              <a:spcAft>
                <a:spcPts val="500"/>
              </a:spcAft>
              <a:defRPr sz="1700" b="0">
                <a:solidFill>
                  <a:srgbClr val="2563EB"/>
                </a:solidFill>
                <a:latin typeface="DejaVu Sans"/>
              </a:defRPr>
            </a:pPr>
            <a:r>
              <a:rPr lang="de-DE"/>
              <a:t>•</a:t>
            </a:r>
          </a:p>
        </p:txBody>
      </p:sp>
      <p:sp>
        <p:nvSpPr>
          <p:cNvPr id="23" name="TextBox 22"/>
          <p:cNvSpPr txBox="1"/>
          <p:nvPr/>
        </p:nvSpPr>
        <p:spPr>
          <a:xfrm>
            <a:off x="6583680" y="4590288"/>
            <a:ext cx="4782312" cy="749808"/>
          </a:xfrm>
          <a:prstGeom prst="rect">
            <a:avLst/>
          </a:prstGeom>
          <a:noFill/>
        </p:spPr>
        <p:txBody>
          <a:bodyPr wrap="square" lIns="0" rIns="0" tIns="0" bIns="0">
            <a:spAutoFit/>
          </a:bodyPr>
          <a:lstStyle/>
          <a:p>
            <a:pPr algn="l">
              <a:lnSpc>
                <a:spcPct val="112000"/>
              </a:lnSpc>
              <a:spcAft>
                <a:spcPts val="500"/>
              </a:spcAft>
              <a:defRPr sz="1700" b="0">
                <a:solidFill>
                  <a:srgbClr val="0F172A"/>
                </a:solidFill>
                <a:latin typeface="DejaVu Sans"/>
              </a:defRPr>
            </a:pPr>
            <a:r>
              <a:rPr lang="de-DE"/>
              <a:t>Katar: politische Kontakte, Finanzhilfen und Vermittlung</a:t>
            </a:r>
          </a:p>
        </p:txBody>
      </p:sp>
      <p:sp>
        <p:nvSpPr>
          <p:cNvPr id="24" name="TextBox 23"/>
          <p:cNvSpPr txBox="1"/>
          <p:nvPr/>
        </p:nvSpPr>
        <p:spPr>
          <a:xfrm>
            <a:off x="731520" y="5779008"/>
            <a:ext cx="10725912" cy="429768"/>
          </a:xfrm>
          <a:prstGeom prst="rect">
            <a:avLst/>
          </a:prstGeom>
          <a:noFill/>
        </p:spPr>
        <p:txBody>
          <a:bodyPr wrap="square" lIns="0" rIns="0" tIns="0" bIns="0">
            <a:spAutoFit/>
          </a:bodyPr>
          <a:lstStyle/>
          <a:p>
            <a:pPr algn="l">
              <a:lnSpc>
                <a:spcPct val="112000"/>
              </a:lnSpc>
              <a:spcAft>
                <a:spcPts val="500"/>
              </a:spcAft>
              <a:defRPr sz="1600" b="1">
                <a:solidFill>
                  <a:srgbClr val="0F172A"/>
                </a:solidFill>
                <a:latin typeface="DejaVu Sans"/>
              </a:defRPr>
            </a:pPr>
            <a:r>
              <a:rPr lang="de-DE"/>
              <a:t>Eilmaßnahmen und Haftbefehle sind keine rechtskräftigen Schuldsprüche.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566928"/>
            <a:ext cx="10725912" cy="676656"/>
          </a:xfrm>
          <a:prstGeom prst="rect">
            <a:avLst/>
          </a:prstGeom>
          <a:noFill/>
        </p:spPr>
        <p:txBody>
          <a:bodyPr wrap="square" lIns="0" rIns="0" tIns="0" bIns="0">
            <a:spAutoFit/>
          </a:bodyPr>
          <a:lstStyle/>
          <a:p>
            <a:pPr algn="l">
              <a:lnSpc>
                <a:spcPct val="112000"/>
              </a:lnSpc>
              <a:spcAft>
                <a:spcPts val="500"/>
              </a:spcAft>
              <a:defRPr sz="3000" b="1">
                <a:solidFill>
                  <a:srgbClr val="0F172A"/>
                </a:solidFill>
                <a:latin typeface="DejaVu Sans"/>
              </a:defRPr>
            </a:pPr>
            <a:r>
              <a:rPr lang="de-DE"/>
              <a:t>Eskalation und sichtbare Zerstörung</a:t>
            </a:r>
          </a:p>
        </p:txBody>
      </p:sp>
      <p:sp>
        <p:nvSpPr>
          <p:cNvPr id="3" name="Rectangle 2"/>
          <p:cNvSpPr/>
          <p:nvPr/>
        </p:nvSpPr>
        <p:spPr>
          <a:xfrm>
            <a:off x="731520" y="6419088"/>
            <a:ext cx="10725912" cy="11887"/>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31520" y="6492240"/>
            <a:ext cx="2834640" cy="201168"/>
          </a:xfrm>
          <a:prstGeom prst="rect">
            <a:avLst/>
          </a:prstGeom>
          <a:noFill/>
        </p:spPr>
        <p:txBody>
          <a:bodyPr wrap="square" lIns="0" rIns="0" tIns="0" bIns="0">
            <a:spAutoFit/>
          </a:bodyPr>
          <a:lstStyle/>
          <a:p>
            <a:pPr algn="l">
              <a:lnSpc>
                <a:spcPct val="112000"/>
              </a:lnSpc>
              <a:spcAft>
                <a:spcPts val="500"/>
              </a:spcAft>
              <a:defRPr sz="1000" b="0">
                <a:solidFill>
                  <a:srgbClr val="475569"/>
                </a:solidFill>
                <a:latin typeface="DejaVu Sans"/>
              </a:defRPr>
            </a:pPr>
            <a:r>
              <a:rPr lang="de-DE"/>
              <a:t>[Name 2]  /  Folie 07</a:t>
            </a:r>
          </a:p>
        </p:txBody>
      </p:sp>
      <p:sp>
        <p:nvSpPr>
          <p:cNvPr id="5" name="TextBox 4"/>
          <p:cNvSpPr txBox="1"/>
          <p:nvPr/>
        </p:nvSpPr>
        <p:spPr>
          <a:xfrm>
            <a:off x="3657600" y="6492240"/>
            <a:ext cx="7799831" cy="201168"/>
          </a:xfrm>
          <a:prstGeom prst="rect">
            <a:avLst/>
          </a:prstGeom>
          <a:noFill/>
        </p:spPr>
        <p:txBody>
          <a:bodyPr wrap="square" lIns="0" rIns="0" tIns="0" bIns="0">
            <a:spAutoFit/>
          </a:bodyPr>
          <a:lstStyle/>
          <a:p>
            <a:pPr algn="r">
              <a:lnSpc>
                <a:spcPct val="112000"/>
              </a:lnSpc>
              <a:spcAft>
                <a:spcPts val="500"/>
              </a:spcAft>
              <a:defRPr sz="900" b="0">
                <a:solidFill>
                  <a:srgbClr val="475569"/>
                </a:solidFill>
                <a:latin typeface="DejaVu Sans"/>
              </a:defRPr>
            </a:pPr>
            <a:r>
              <a:rPr lang="de-DE"/>
              <a:t>UNOSAT: Bildstand 08.07.2025 / SWP / Reuters, 12.10.2026</a:t>
            </a:r>
          </a:p>
        </p:txBody>
      </p:sp>
      <p:sp>
        <p:nvSpPr>
          <p:cNvPr id="6" name="TextBox 5"/>
          <p:cNvSpPr txBox="1"/>
          <p:nvPr/>
        </p:nvSpPr>
        <p:spPr>
          <a:xfrm>
            <a:off x="731520" y="1508760"/>
            <a:ext cx="5212080" cy="365760"/>
          </a:xfrm>
          <a:prstGeom prst="rect">
            <a:avLst/>
          </a:prstGeom>
          <a:noFill/>
        </p:spPr>
        <p:txBody>
          <a:bodyPr wrap="square" lIns="0" rIns="0" tIns="0" bIns="0">
            <a:spAutoFit/>
          </a:bodyPr>
          <a:lstStyle/>
          <a:p>
            <a:pPr algn="l">
              <a:lnSpc>
                <a:spcPct val="112000"/>
              </a:lnSpc>
              <a:spcAft>
                <a:spcPts val="500"/>
              </a:spcAft>
              <a:defRPr sz="2100" b="1">
                <a:solidFill>
                  <a:srgbClr val="2563EB"/>
                </a:solidFill>
                <a:latin typeface="DejaVu Sans"/>
              </a:defRPr>
            </a:pPr>
            <a:r>
              <a:rPr lang="de-DE"/>
              <a:t>Eskalationsstufen</a:t>
            </a:r>
          </a:p>
        </p:txBody>
      </p:sp>
      <p:sp>
        <p:nvSpPr>
          <p:cNvPr id="7" name="TextBox 6"/>
          <p:cNvSpPr txBox="1"/>
          <p:nvPr/>
        </p:nvSpPr>
        <p:spPr>
          <a:xfrm>
            <a:off x="731520" y="2039112"/>
            <a:ext cx="201168" cy="457200"/>
          </a:xfrm>
          <a:prstGeom prst="rect">
            <a:avLst/>
          </a:prstGeom>
          <a:noFill/>
        </p:spPr>
        <p:txBody>
          <a:bodyPr wrap="square" lIns="0" rIns="0" tIns="0" bIns="0">
            <a:spAutoFit/>
          </a:bodyPr>
          <a:lstStyle/>
          <a:p>
            <a:pPr algn="l">
              <a:lnSpc>
                <a:spcPct val="112000"/>
              </a:lnSpc>
              <a:spcAft>
                <a:spcPts val="500"/>
              </a:spcAft>
              <a:defRPr sz="1600" b="0">
                <a:solidFill>
                  <a:srgbClr val="2563EB"/>
                </a:solidFill>
                <a:latin typeface="DejaVu Sans"/>
              </a:defRPr>
            </a:pPr>
            <a:r>
              <a:rPr lang="de-DE"/>
              <a:t>•</a:t>
            </a:r>
          </a:p>
        </p:txBody>
      </p:sp>
      <p:sp>
        <p:nvSpPr>
          <p:cNvPr id="8" name="TextBox 7"/>
          <p:cNvSpPr txBox="1"/>
          <p:nvPr/>
        </p:nvSpPr>
        <p:spPr>
          <a:xfrm>
            <a:off x="1024128" y="2039112"/>
            <a:ext cx="4736592" cy="530352"/>
          </a:xfrm>
          <a:prstGeom prst="rect">
            <a:avLst/>
          </a:prstGeom>
          <a:noFill/>
        </p:spPr>
        <p:txBody>
          <a:bodyPr wrap="square" lIns="0" rIns="0" tIns="0" bIns="0">
            <a:spAutoFit/>
          </a:bodyPr>
          <a:lstStyle/>
          <a:p>
            <a:pPr algn="l">
              <a:lnSpc>
                <a:spcPct val="112000"/>
              </a:lnSpc>
              <a:spcAft>
                <a:spcPts val="500"/>
              </a:spcAft>
              <a:defRPr sz="1600" b="0">
                <a:solidFill>
                  <a:srgbClr val="0F172A"/>
                </a:solidFill>
                <a:latin typeface="DejaVu Sans"/>
              </a:defRPr>
            </a:pPr>
            <a:r>
              <a:rPr lang="de-DE"/>
              <a:t>07.10.2023: Terrorangriff und Geiselnahmen</a:t>
            </a:r>
          </a:p>
        </p:txBody>
      </p:sp>
      <p:sp>
        <p:nvSpPr>
          <p:cNvPr id="9" name="TextBox 8"/>
          <p:cNvSpPr txBox="1"/>
          <p:nvPr/>
        </p:nvSpPr>
        <p:spPr>
          <a:xfrm>
            <a:off x="731520" y="2633472"/>
            <a:ext cx="201168" cy="457200"/>
          </a:xfrm>
          <a:prstGeom prst="rect">
            <a:avLst/>
          </a:prstGeom>
          <a:noFill/>
        </p:spPr>
        <p:txBody>
          <a:bodyPr wrap="square" lIns="0" rIns="0" tIns="0" bIns="0">
            <a:spAutoFit/>
          </a:bodyPr>
          <a:lstStyle/>
          <a:p>
            <a:pPr algn="l">
              <a:lnSpc>
                <a:spcPct val="112000"/>
              </a:lnSpc>
              <a:spcAft>
                <a:spcPts val="500"/>
              </a:spcAft>
              <a:defRPr sz="1600" b="0">
                <a:solidFill>
                  <a:srgbClr val="2563EB"/>
                </a:solidFill>
                <a:latin typeface="DejaVu Sans"/>
              </a:defRPr>
            </a:pPr>
            <a:r>
              <a:rPr lang="de-DE"/>
              <a:t>•</a:t>
            </a:r>
          </a:p>
        </p:txBody>
      </p:sp>
      <p:sp>
        <p:nvSpPr>
          <p:cNvPr id="10" name="TextBox 9"/>
          <p:cNvSpPr txBox="1"/>
          <p:nvPr/>
        </p:nvSpPr>
        <p:spPr>
          <a:xfrm>
            <a:off x="1024128" y="2633472"/>
            <a:ext cx="4736592" cy="530352"/>
          </a:xfrm>
          <a:prstGeom prst="rect">
            <a:avLst/>
          </a:prstGeom>
          <a:noFill/>
        </p:spPr>
        <p:txBody>
          <a:bodyPr wrap="square" lIns="0" rIns="0" tIns="0" bIns="0">
            <a:spAutoFit/>
          </a:bodyPr>
          <a:lstStyle/>
          <a:p>
            <a:pPr algn="l">
              <a:lnSpc>
                <a:spcPct val="112000"/>
              </a:lnSpc>
              <a:spcAft>
                <a:spcPts val="500"/>
              </a:spcAft>
              <a:defRPr sz="1600" b="0">
                <a:solidFill>
                  <a:srgbClr val="0F172A"/>
                </a:solidFill>
                <a:latin typeface="DejaVu Sans"/>
              </a:defRPr>
            </a:pPr>
            <a:r>
              <a:rPr lang="de-DE"/>
              <a:t>Ab Oktober 2023: Bombardierung und Bodenoffensive</a:t>
            </a:r>
          </a:p>
        </p:txBody>
      </p:sp>
      <p:sp>
        <p:nvSpPr>
          <p:cNvPr id="11" name="TextBox 10"/>
          <p:cNvSpPr txBox="1"/>
          <p:nvPr/>
        </p:nvSpPr>
        <p:spPr>
          <a:xfrm>
            <a:off x="731520" y="3227832"/>
            <a:ext cx="201168" cy="457200"/>
          </a:xfrm>
          <a:prstGeom prst="rect">
            <a:avLst/>
          </a:prstGeom>
          <a:noFill/>
        </p:spPr>
        <p:txBody>
          <a:bodyPr wrap="square" lIns="0" rIns="0" tIns="0" bIns="0">
            <a:spAutoFit/>
          </a:bodyPr>
          <a:lstStyle/>
          <a:p>
            <a:pPr algn="l">
              <a:lnSpc>
                <a:spcPct val="112000"/>
              </a:lnSpc>
              <a:spcAft>
                <a:spcPts val="500"/>
              </a:spcAft>
              <a:defRPr sz="1600" b="0">
                <a:solidFill>
                  <a:srgbClr val="2563EB"/>
                </a:solidFill>
                <a:latin typeface="DejaVu Sans"/>
              </a:defRPr>
            </a:pPr>
            <a:r>
              <a:rPr lang="de-DE"/>
              <a:t>•</a:t>
            </a:r>
          </a:p>
        </p:txBody>
      </p:sp>
      <p:sp>
        <p:nvSpPr>
          <p:cNvPr id="12" name="TextBox 11"/>
          <p:cNvSpPr txBox="1"/>
          <p:nvPr/>
        </p:nvSpPr>
        <p:spPr>
          <a:xfrm>
            <a:off x="1024128" y="3227832"/>
            <a:ext cx="4736592" cy="530352"/>
          </a:xfrm>
          <a:prstGeom prst="rect">
            <a:avLst/>
          </a:prstGeom>
          <a:noFill/>
        </p:spPr>
        <p:txBody>
          <a:bodyPr wrap="square" lIns="0" rIns="0" tIns="0" bIns="0">
            <a:spAutoFit/>
          </a:bodyPr>
          <a:lstStyle/>
          <a:p>
            <a:pPr algn="l">
              <a:lnSpc>
                <a:spcPct val="112000"/>
              </a:lnSpc>
              <a:spcAft>
                <a:spcPts val="500"/>
              </a:spcAft>
              <a:defRPr sz="1600" b="0">
                <a:solidFill>
                  <a:srgbClr val="0F172A"/>
                </a:solidFill>
                <a:latin typeface="DejaVu Sans"/>
              </a:defRPr>
            </a:pPr>
            <a:r>
              <a:rPr lang="de-DE"/>
              <a:t>Regionale Ausweitung: Hisbollah, Huthi und Iran</a:t>
            </a:r>
          </a:p>
        </p:txBody>
      </p:sp>
      <p:sp>
        <p:nvSpPr>
          <p:cNvPr id="13" name="TextBox 12"/>
          <p:cNvSpPr txBox="1"/>
          <p:nvPr/>
        </p:nvSpPr>
        <p:spPr>
          <a:xfrm>
            <a:off x="731520" y="3822191"/>
            <a:ext cx="201168" cy="457200"/>
          </a:xfrm>
          <a:prstGeom prst="rect">
            <a:avLst/>
          </a:prstGeom>
          <a:noFill/>
        </p:spPr>
        <p:txBody>
          <a:bodyPr wrap="square" lIns="0" rIns="0" tIns="0" bIns="0">
            <a:spAutoFit/>
          </a:bodyPr>
          <a:lstStyle/>
          <a:p>
            <a:pPr algn="l">
              <a:lnSpc>
                <a:spcPct val="112000"/>
              </a:lnSpc>
              <a:spcAft>
                <a:spcPts val="500"/>
              </a:spcAft>
              <a:defRPr sz="1600" b="0">
                <a:solidFill>
                  <a:srgbClr val="2563EB"/>
                </a:solidFill>
                <a:latin typeface="DejaVu Sans"/>
              </a:defRPr>
            </a:pPr>
            <a:r>
              <a:rPr lang="de-DE"/>
              <a:t>•</a:t>
            </a:r>
          </a:p>
        </p:txBody>
      </p:sp>
      <p:sp>
        <p:nvSpPr>
          <p:cNvPr id="14" name="TextBox 13"/>
          <p:cNvSpPr txBox="1"/>
          <p:nvPr/>
        </p:nvSpPr>
        <p:spPr>
          <a:xfrm>
            <a:off x="1024128" y="3822191"/>
            <a:ext cx="4736592" cy="530352"/>
          </a:xfrm>
          <a:prstGeom prst="rect">
            <a:avLst/>
          </a:prstGeom>
          <a:noFill/>
        </p:spPr>
        <p:txBody>
          <a:bodyPr wrap="square" lIns="0" rIns="0" tIns="0" bIns="0">
            <a:spAutoFit/>
          </a:bodyPr>
          <a:lstStyle/>
          <a:p>
            <a:pPr algn="l">
              <a:lnSpc>
                <a:spcPct val="112000"/>
              </a:lnSpc>
              <a:spcAft>
                <a:spcPts val="500"/>
              </a:spcAft>
              <a:defRPr sz="1600" b="0">
                <a:solidFill>
                  <a:srgbClr val="0F172A"/>
                </a:solidFill>
                <a:latin typeface="DejaVu Sans"/>
              </a:defRPr>
            </a:pPr>
            <a:r>
              <a:rPr lang="de-DE"/>
              <a:t>Seit Oktober 2025: Waffenruhe mit fortdauernder Gewalt</a:t>
            </a:r>
          </a:p>
        </p:txBody>
      </p:sp>
      <p:sp>
        <p:nvSpPr>
          <p:cNvPr id="15" name="TextBox 14"/>
          <p:cNvSpPr txBox="1"/>
          <p:nvPr/>
        </p:nvSpPr>
        <p:spPr>
          <a:xfrm>
            <a:off x="731520" y="4645152"/>
            <a:ext cx="2286000" cy="731520"/>
          </a:xfrm>
          <a:prstGeom prst="rect">
            <a:avLst/>
          </a:prstGeom>
          <a:noFill/>
        </p:spPr>
        <p:txBody>
          <a:bodyPr wrap="square" lIns="0" rIns="0" tIns="0" bIns="0">
            <a:spAutoFit/>
          </a:bodyPr>
          <a:lstStyle/>
          <a:p>
            <a:pPr algn="l">
              <a:lnSpc>
                <a:spcPct val="112000"/>
              </a:lnSpc>
              <a:spcAft>
                <a:spcPts val="500"/>
              </a:spcAft>
              <a:defRPr sz="4200" b="1">
                <a:solidFill>
                  <a:srgbClr val="2563EB"/>
                </a:solidFill>
                <a:latin typeface="DejaVu Sans"/>
              </a:defRPr>
            </a:pPr>
            <a:r>
              <a:rPr lang="de-DE"/>
              <a:t>78 %</a:t>
            </a:r>
          </a:p>
        </p:txBody>
      </p:sp>
      <p:sp>
        <p:nvSpPr>
          <p:cNvPr id="16" name="TextBox 15"/>
          <p:cNvSpPr txBox="1"/>
          <p:nvPr/>
        </p:nvSpPr>
        <p:spPr>
          <a:xfrm>
            <a:off x="2807208" y="4736592"/>
            <a:ext cx="3099816" cy="640080"/>
          </a:xfrm>
          <a:prstGeom prst="rect">
            <a:avLst/>
          </a:prstGeom>
          <a:noFill/>
        </p:spPr>
        <p:txBody>
          <a:bodyPr wrap="square" lIns="0" rIns="0" tIns="0" bIns="0">
            <a:spAutoFit/>
          </a:bodyPr>
          <a:lstStyle/>
          <a:p>
            <a:pPr algn="l">
              <a:lnSpc>
                <a:spcPct val="112000"/>
              </a:lnSpc>
              <a:spcAft>
                <a:spcPts val="500"/>
              </a:spcAft>
              <a:defRPr sz="1400" b="1">
                <a:solidFill>
                  <a:srgbClr val="0F172A"/>
                </a:solidFill>
                <a:latin typeface="DejaVu Sans"/>
              </a:defRPr>
            </a:pPr>
            <a:r>
              <a:rPr lang="de-DE"/>
              <a:t>Bauwerke betroffen*</a:t>
            </a:r>
          </a:p>
          <a:p>
            <a:pPr algn="l">
              <a:lnSpc>
                <a:spcPct val="112000"/>
              </a:lnSpc>
              <a:spcAft>
                <a:spcPts val="500"/>
              </a:spcAft>
              <a:defRPr sz="1400" b="1">
                <a:solidFill>
                  <a:srgbClr val="0F172A"/>
                </a:solidFill>
                <a:latin typeface="DejaVu Sans"/>
              </a:defRPr>
            </a:pPr>
            <a:r>
              <a:rPr lang="de-DE"/>
              <a:t>102.067 davon zerstört</a:t>
            </a:r>
          </a:p>
        </p:txBody>
      </p:sp>
      <p:sp>
        <p:nvSpPr>
          <p:cNvPr id="17" name="TextBox 16"/>
          <p:cNvSpPr txBox="1"/>
          <p:nvPr/>
        </p:nvSpPr>
        <p:spPr>
          <a:xfrm>
            <a:off x="731520" y="5660136"/>
            <a:ext cx="5056632" cy="502920"/>
          </a:xfrm>
          <a:prstGeom prst="rect">
            <a:avLst/>
          </a:prstGeom>
          <a:noFill/>
        </p:spPr>
        <p:txBody>
          <a:bodyPr wrap="square" lIns="0" rIns="0" tIns="0" bIns="0">
            <a:spAutoFit/>
          </a:bodyPr>
          <a:lstStyle/>
          <a:p>
            <a:pPr algn="l">
              <a:lnSpc>
                <a:spcPct val="112000"/>
              </a:lnSpc>
              <a:spcAft>
                <a:spcPts val="500"/>
              </a:spcAft>
              <a:defRPr sz="1000" b="0">
                <a:solidFill>
                  <a:srgbClr val="475569"/>
                </a:solidFill>
                <a:latin typeface="DejaVu Sans"/>
              </a:defRPr>
            </a:pPr>
            <a:r>
              <a:rPr lang="de-DE"/>
              <a:t>* Einschließlich möglicher Schäden; vorläufige Auswertung.</a:t>
            </a:r>
          </a:p>
          <a:p>
            <a:pPr algn="l">
              <a:lnSpc>
                <a:spcPct val="112000"/>
              </a:lnSpc>
              <a:spcAft>
                <a:spcPts val="500"/>
              </a:spcAft>
              <a:defRPr sz="1000" b="0">
                <a:solidFill>
                  <a:srgbClr val="475569"/>
                </a:solidFill>
                <a:latin typeface="DejaVu Sans"/>
              </a:defRPr>
            </a:pPr>
            <a:r>
              <a:rPr lang="de-DE"/>
              <a:t>Nicht vor Ort verifiziert; keine Aussage zu Opferzahlen oder Tätern.</a:t>
            </a:r>
          </a:p>
        </p:txBody>
      </p:sp>
      <p:pic>
        <p:nvPicPr>
          <p:cNvPr id="18" name="Picture 17" descr="image.png"/>
          <p:cNvPicPr>
            <a:picLocks noChangeAspect="1"/>
          </p:cNvPicPr>
          <p:nvPr/>
        </p:nvPicPr>
        <p:blipFill>
          <a:blip r:embed="rId2"/>
          <a:stretch>
            <a:fillRect/>
          </a:stretch>
        </p:blipFill>
        <p:spPr>
          <a:xfrm>
            <a:off x="7332866" y="1554480"/>
            <a:ext cx="2909036" cy="4114800"/>
          </a:xfrm>
          <a:prstGeom prst="rect">
            <a:avLst/>
          </a:prstGeom>
        </p:spPr>
      </p:pic>
      <p:sp>
        <p:nvSpPr>
          <p:cNvPr id="19" name="TextBox 18"/>
          <p:cNvSpPr txBox="1"/>
          <p:nvPr/>
        </p:nvSpPr>
        <p:spPr>
          <a:xfrm>
            <a:off x="6318504" y="5760720"/>
            <a:ext cx="4937760" cy="566928"/>
          </a:xfrm>
          <a:prstGeom prst="rect">
            <a:avLst/>
          </a:prstGeom>
          <a:noFill/>
        </p:spPr>
        <p:txBody>
          <a:bodyPr wrap="square" lIns="0" rIns="0" tIns="0" bIns="0">
            <a:spAutoFit/>
          </a:bodyPr>
          <a:lstStyle/>
          <a:p>
            <a:pPr algn="l">
              <a:lnSpc>
                <a:spcPct val="112000"/>
              </a:lnSpc>
              <a:spcAft>
                <a:spcPts val="500"/>
              </a:spcAft>
              <a:defRPr sz="1000" b="0">
                <a:solidFill>
                  <a:srgbClr val="475569"/>
                </a:solidFill>
                <a:latin typeface="DejaVu Sans"/>
              </a:defRPr>
            </a:pPr>
            <a:r>
              <a:rPr lang="de-DE"/>
              <a:t>Quelle: UNOSAT, 08.07.2025; Satellitendaten:</a:t>
            </a:r>
          </a:p>
          <a:p>
            <a:pPr algn="l">
              <a:lnSpc>
                <a:spcPct val="112000"/>
              </a:lnSpc>
              <a:spcAft>
                <a:spcPts val="500"/>
              </a:spcAft>
              <a:defRPr sz="1000" b="0">
                <a:solidFill>
                  <a:srgbClr val="475569"/>
                </a:solidFill>
                <a:latin typeface="DejaVu Sans"/>
              </a:defRPr>
            </a:pPr>
            <a:r>
              <a:rPr lang="de-DE"/>
              <a:t>WorldView-2/-3 (Maxar), Pléiades-NEO (CNES)</a:t>
            </a:r>
          </a:p>
          <a:p>
            <a:pPr algn="l">
              <a:lnSpc>
                <a:spcPct val="112000"/>
              </a:lnSpc>
              <a:spcAft>
                <a:spcPts val="500"/>
              </a:spcAft>
              <a:defRPr sz="1000" b="0">
                <a:solidFill>
                  <a:srgbClr val="475569"/>
                </a:solidFill>
                <a:latin typeface="DejaVu Sans"/>
              </a:defRPr>
            </a:pPr>
            <a:r>
              <a:rPr lang="de-DE"/>
              <a:t>Rot zeigt die Dichte erfasster Schäden.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566928"/>
            <a:ext cx="10725912" cy="676656"/>
          </a:xfrm>
          <a:prstGeom prst="rect">
            <a:avLst/>
          </a:prstGeom>
          <a:noFill/>
        </p:spPr>
        <p:txBody>
          <a:bodyPr wrap="square" lIns="0" rIns="0" tIns="0" bIns="0">
            <a:spAutoFit/>
          </a:bodyPr>
          <a:lstStyle/>
          <a:p>
            <a:pPr algn="l">
              <a:lnSpc>
                <a:spcPct val="112000"/>
              </a:lnSpc>
              <a:spcAft>
                <a:spcPts val="500"/>
              </a:spcAft>
              <a:defRPr sz="3000" b="1">
                <a:solidFill>
                  <a:srgbClr val="0F172A"/>
                </a:solidFill>
                <a:latin typeface="DejaVu Sans"/>
              </a:defRPr>
            </a:pPr>
            <a:r>
              <a:rPr lang="de-DE"/>
              <a:t>AKUF-Typologie: eine begründete Einordnung</a:t>
            </a:r>
          </a:p>
        </p:txBody>
      </p:sp>
      <p:sp>
        <p:nvSpPr>
          <p:cNvPr id="3" name="Rectangle 2"/>
          <p:cNvSpPr/>
          <p:nvPr/>
        </p:nvSpPr>
        <p:spPr>
          <a:xfrm>
            <a:off x="731520" y="6419088"/>
            <a:ext cx="10725912" cy="11887"/>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31520" y="6492240"/>
            <a:ext cx="2834640" cy="201168"/>
          </a:xfrm>
          <a:prstGeom prst="rect">
            <a:avLst/>
          </a:prstGeom>
          <a:noFill/>
        </p:spPr>
        <p:txBody>
          <a:bodyPr wrap="square" lIns="0" rIns="0" tIns="0" bIns="0">
            <a:spAutoFit/>
          </a:bodyPr>
          <a:lstStyle/>
          <a:p>
            <a:pPr algn="l">
              <a:lnSpc>
                <a:spcPct val="112000"/>
              </a:lnSpc>
              <a:spcAft>
                <a:spcPts val="500"/>
              </a:spcAft>
              <a:defRPr sz="1000" b="0">
                <a:solidFill>
                  <a:srgbClr val="475569"/>
                </a:solidFill>
                <a:latin typeface="DejaVu Sans"/>
              </a:defRPr>
            </a:pPr>
            <a:r>
              <a:rPr lang="de-DE"/>
              <a:t>[Name 2]  /  Folie 08</a:t>
            </a:r>
          </a:p>
        </p:txBody>
      </p:sp>
      <p:sp>
        <p:nvSpPr>
          <p:cNvPr id="5" name="TextBox 4"/>
          <p:cNvSpPr txBox="1"/>
          <p:nvPr/>
        </p:nvSpPr>
        <p:spPr>
          <a:xfrm>
            <a:off x="3657600" y="6492240"/>
            <a:ext cx="7799831" cy="201168"/>
          </a:xfrm>
          <a:prstGeom prst="rect">
            <a:avLst/>
          </a:prstGeom>
          <a:noFill/>
        </p:spPr>
        <p:txBody>
          <a:bodyPr wrap="square" lIns="0" rIns="0" tIns="0" bIns="0">
            <a:spAutoFit/>
          </a:bodyPr>
          <a:lstStyle/>
          <a:p>
            <a:pPr algn="r">
              <a:lnSpc>
                <a:spcPct val="112000"/>
              </a:lnSpc>
              <a:spcAft>
                <a:spcPts val="500"/>
              </a:spcAft>
              <a:defRPr sz="900" b="0">
                <a:solidFill>
                  <a:srgbClr val="475569"/>
                </a:solidFill>
                <a:latin typeface="DejaVu Sans"/>
              </a:defRPr>
            </a:pPr>
            <a:r>
              <a:rPr lang="de-DE"/>
              <a:t>Eigene Analyse nach AKUF; keine offizielle AKUF-Fallcodierung</a:t>
            </a:r>
          </a:p>
        </p:txBody>
      </p:sp>
      <p:sp>
        <p:nvSpPr>
          <p:cNvPr id="6" name="TextBox 5"/>
          <p:cNvSpPr txBox="1"/>
          <p:nvPr/>
        </p:nvSpPr>
        <p:spPr>
          <a:xfrm>
            <a:off x="731520" y="1508760"/>
            <a:ext cx="4663440" cy="365760"/>
          </a:xfrm>
          <a:prstGeom prst="rect">
            <a:avLst/>
          </a:prstGeom>
          <a:noFill/>
        </p:spPr>
        <p:txBody>
          <a:bodyPr wrap="square" lIns="0" rIns="0" tIns="0" bIns="0">
            <a:spAutoFit/>
          </a:bodyPr>
          <a:lstStyle/>
          <a:p>
            <a:pPr algn="l">
              <a:lnSpc>
                <a:spcPct val="112000"/>
              </a:lnSpc>
              <a:spcAft>
                <a:spcPts val="500"/>
              </a:spcAft>
              <a:defRPr sz="2100" b="1">
                <a:solidFill>
                  <a:srgbClr val="2563EB"/>
                </a:solidFill>
                <a:latin typeface="DejaVu Sans"/>
              </a:defRPr>
            </a:pPr>
            <a:r>
              <a:rPr lang="de-DE"/>
              <a:t>Die fünf Typen</a:t>
            </a:r>
          </a:p>
        </p:txBody>
      </p:sp>
      <p:sp>
        <p:nvSpPr>
          <p:cNvPr id="7" name="TextBox 6"/>
          <p:cNvSpPr txBox="1"/>
          <p:nvPr/>
        </p:nvSpPr>
        <p:spPr>
          <a:xfrm>
            <a:off x="731520" y="2121408"/>
            <a:ext cx="411480" cy="365760"/>
          </a:xfrm>
          <a:prstGeom prst="rect">
            <a:avLst/>
          </a:prstGeom>
          <a:noFill/>
        </p:spPr>
        <p:txBody>
          <a:bodyPr wrap="square" lIns="0" rIns="0" tIns="0" bIns="0">
            <a:spAutoFit/>
          </a:bodyPr>
          <a:lstStyle/>
          <a:p>
            <a:pPr algn="l">
              <a:lnSpc>
                <a:spcPct val="112000"/>
              </a:lnSpc>
              <a:spcAft>
                <a:spcPts val="500"/>
              </a:spcAft>
              <a:defRPr sz="2100" b="1">
                <a:solidFill>
                  <a:srgbClr val="2563EB"/>
                </a:solidFill>
                <a:latin typeface="DejaVu Sans"/>
              </a:defRPr>
            </a:pPr>
            <a:r>
              <a:rPr lang="de-DE"/>
              <a:t>A</a:t>
            </a:r>
          </a:p>
        </p:txBody>
      </p:sp>
      <p:sp>
        <p:nvSpPr>
          <p:cNvPr id="8" name="TextBox 7"/>
          <p:cNvSpPr txBox="1"/>
          <p:nvPr/>
        </p:nvSpPr>
        <p:spPr>
          <a:xfrm>
            <a:off x="1298448" y="2139696"/>
            <a:ext cx="4297680" cy="356616"/>
          </a:xfrm>
          <a:prstGeom prst="rect">
            <a:avLst/>
          </a:prstGeom>
          <a:noFill/>
        </p:spPr>
        <p:txBody>
          <a:bodyPr wrap="square" lIns="0" rIns="0" tIns="0" bIns="0">
            <a:spAutoFit/>
          </a:bodyPr>
          <a:lstStyle/>
          <a:p>
            <a:pPr algn="l">
              <a:lnSpc>
                <a:spcPct val="112000"/>
              </a:lnSpc>
              <a:spcAft>
                <a:spcPts val="500"/>
              </a:spcAft>
              <a:defRPr sz="1700" b="0">
                <a:solidFill>
                  <a:srgbClr val="0F172A"/>
                </a:solidFill>
                <a:latin typeface="DejaVu Sans"/>
              </a:defRPr>
            </a:pPr>
            <a:r>
              <a:rPr lang="de-DE"/>
              <a:t>Antiregimekrieg</a:t>
            </a:r>
          </a:p>
        </p:txBody>
      </p:sp>
      <p:sp>
        <p:nvSpPr>
          <p:cNvPr id="9" name="TextBox 8"/>
          <p:cNvSpPr txBox="1"/>
          <p:nvPr/>
        </p:nvSpPr>
        <p:spPr>
          <a:xfrm>
            <a:off x="731520" y="2679191"/>
            <a:ext cx="411480" cy="365760"/>
          </a:xfrm>
          <a:prstGeom prst="rect">
            <a:avLst/>
          </a:prstGeom>
          <a:noFill/>
        </p:spPr>
        <p:txBody>
          <a:bodyPr wrap="square" lIns="0" rIns="0" tIns="0" bIns="0">
            <a:spAutoFit/>
          </a:bodyPr>
          <a:lstStyle/>
          <a:p>
            <a:pPr algn="l">
              <a:lnSpc>
                <a:spcPct val="112000"/>
              </a:lnSpc>
              <a:spcAft>
                <a:spcPts val="500"/>
              </a:spcAft>
              <a:defRPr sz="2100" b="1">
                <a:solidFill>
                  <a:srgbClr val="2563EB"/>
                </a:solidFill>
                <a:latin typeface="DejaVu Sans"/>
              </a:defRPr>
            </a:pPr>
            <a:r>
              <a:rPr lang="de-DE"/>
              <a:t>B</a:t>
            </a:r>
          </a:p>
        </p:txBody>
      </p:sp>
      <p:sp>
        <p:nvSpPr>
          <p:cNvPr id="10" name="TextBox 9"/>
          <p:cNvSpPr txBox="1"/>
          <p:nvPr/>
        </p:nvSpPr>
        <p:spPr>
          <a:xfrm>
            <a:off x="1298448" y="2697479"/>
            <a:ext cx="4297680" cy="356616"/>
          </a:xfrm>
          <a:prstGeom prst="rect">
            <a:avLst/>
          </a:prstGeom>
          <a:noFill/>
        </p:spPr>
        <p:txBody>
          <a:bodyPr wrap="square" lIns="0" rIns="0" tIns="0" bIns="0">
            <a:spAutoFit/>
          </a:bodyPr>
          <a:lstStyle/>
          <a:p>
            <a:pPr algn="l">
              <a:lnSpc>
                <a:spcPct val="112000"/>
              </a:lnSpc>
              <a:spcAft>
                <a:spcPts val="500"/>
              </a:spcAft>
              <a:defRPr sz="1700" b="0">
                <a:solidFill>
                  <a:srgbClr val="0F172A"/>
                </a:solidFill>
                <a:latin typeface="DejaVu Sans"/>
              </a:defRPr>
            </a:pPr>
            <a:r>
              <a:rPr lang="de-DE"/>
              <a:t>Autonomie- / Sezessionskrieg</a:t>
            </a:r>
          </a:p>
        </p:txBody>
      </p:sp>
      <p:sp>
        <p:nvSpPr>
          <p:cNvPr id="11" name="TextBox 10"/>
          <p:cNvSpPr txBox="1"/>
          <p:nvPr/>
        </p:nvSpPr>
        <p:spPr>
          <a:xfrm>
            <a:off x="731520" y="3236976"/>
            <a:ext cx="411480" cy="365760"/>
          </a:xfrm>
          <a:prstGeom prst="rect">
            <a:avLst/>
          </a:prstGeom>
          <a:noFill/>
        </p:spPr>
        <p:txBody>
          <a:bodyPr wrap="square" lIns="0" rIns="0" tIns="0" bIns="0">
            <a:spAutoFit/>
          </a:bodyPr>
          <a:lstStyle/>
          <a:p>
            <a:pPr algn="l">
              <a:lnSpc>
                <a:spcPct val="112000"/>
              </a:lnSpc>
              <a:spcAft>
                <a:spcPts val="500"/>
              </a:spcAft>
              <a:defRPr sz="2100" b="1">
                <a:solidFill>
                  <a:srgbClr val="2563EB"/>
                </a:solidFill>
                <a:latin typeface="DejaVu Sans"/>
              </a:defRPr>
            </a:pPr>
            <a:r>
              <a:rPr lang="de-DE"/>
              <a:t>C</a:t>
            </a:r>
          </a:p>
        </p:txBody>
      </p:sp>
      <p:sp>
        <p:nvSpPr>
          <p:cNvPr id="12" name="TextBox 11"/>
          <p:cNvSpPr txBox="1"/>
          <p:nvPr/>
        </p:nvSpPr>
        <p:spPr>
          <a:xfrm>
            <a:off x="1298448" y="3255263"/>
            <a:ext cx="4297680" cy="356616"/>
          </a:xfrm>
          <a:prstGeom prst="rect">
            <a:avLst/>
          </a:prstGeom>
          <a:noFill/>
        </p:spPr>
        <p:txBody>
          <a:bodyPr wrap="square" lIns="0" rIns="0" tIns="0" bIns="0">
            <a:spAutoFit/>
          </a:bodyPr>
          <a:lstStyle/>
          <a:p>
            <a:pPr algn="l">
              <a:lnSpc>
                <a:spcPct val="112000"/>
              </a:lnSpc>
              <a:spcAft>
                <a:spcPts val="500"/>
              </a:spcAft>
              <a:defRPr sz="1700" b="0">
                <a:solidFill>
                  <a:srgbClr val="0F172A"/>
                </a:solidFill>
                <a:latin typeface="DejaVu Sans"/>
              </a:defRPr>
            </a:pPr>
            <a:r>
              <a:rPr lang="de-DE"/>
              <a:t>Zwischenstaatlicher Krieg</a:t>
            </a:r>
          </a:p>
        </p:txBody>
      </p:sp>
      <p:sp>
        <p:nvSpPr>
          <p:cNvPr id="13" name="TextBox 12"/>
          <p:cNvSpPr txBox="1"/>
          <p:nvPr/>
        </p:nvSpPr>
        <p:spPr>
          <a:xfrm>
            <a:off x="731520" y="3794760"/>
            <a:ext cx="411480" cy="365760"/>
          </a:xfrm>
          <a:prstGeom prst="rect">
            <a:avLst/>
          </a:prstGeom>
          <a:noFill/>
        </p:spPr>
        <p:txBody>
          <a:bodyPr wrap="square" lIns="0" rIns="0" tIns="0" bIns="0">
            <a:spAutoFit/>
          </a:bodyPr>
          <a:lstStyle/>
          <a:p>
            <a:pPr algn="l">
              <a:lnSpc>
                <a:spcPct val="112000"/>
              </a:lnSpc>
              <a:spcAft>
                <a:spcPts val="500"/>
              </a:spcAft>
              <a:defRPr sz="2100" b="1">
                <a:solidFill>
                  <a:srgbClr val="2563EB"/>
                </a:solidFill>
                <a:latin typeface="DejaVu Sans"/>
              </a:defRPr>
            </a:pPr>
            <a:r>
              <a:rPr lang="de-DE"/>
              <a:t>D</a:t>
            </a:r>
          </a:p>
        </p:txBody>
      </p:sp>
      <p:sp>
        <p:nvSpPr>
          <p:cNvPr id="14" name="TextBox 13"/>
          <p:cNvSpPr txBox="1"/>
          <p:nvPr/>
        </p:nvSpPr>
        <p:spPr>
          <a:xfrm>
            <a:off x="1298448" y="3813048"/>
            <a:ext cx="4297680" cy="356616"/>
          </a:xfrm>
          <a:prstGeom prst="rect">
            <a:avLst/>
          </a:prstGeom>
          <a:noFill/>
        </p:spPr>
        <p:txBody>
          <a:bodyPr wrap="square" lIns="0" rIns="0" tIns="0" bIns="0">
            <a:spAutoFit/>
          </a:bodyPr>
          <a:lstStyle/>
          <a:p>
            <a:pPr algn="l">
              <a:lnSpc>
                <a:spcPct val="112000"/>
              </a:lnSpc>
              <a:spcAft>
                <a:spcPts val="500"/>
              </a:spcAft>
              <a:defRPr sz="1700" b="0">
                <a:solidFill>
                  <a:srgbClr val="0F172A"/>
                </a:solidFill>
                <a:latin typeface="DejaVu Sans"/>
              </a:defRPr>
            </a:pPr>
            <a:r>
              <a:rPr lang="de-DE"/>
              <a:t>Dekolonisationskrieg</a:t>
            </a:r>
          </a:p>
        </p:txBody>
      </p:sp>
      <p:sp>
        <p:nvSpPr>
          <p:cNvPr id="15" name="TextBox 14"/>
          <p:cNvSpPr txBox="1"/>
          <p:nvPr/>
        </p:nvSpPr>
        <p:spPr>
          <a:xfrm>
            <a:off x="731520" y="4352544"/>
            <a:ext cx="411480" cy="365760"/>
          </a:xfrm>
          <a:prstGeom prst="rect">
            <a:avLst/>
          </a:prstGeom>
          <a:noFill/>
        </p:spPr>
        <p:txBody>
          <a:bodyPr wrap="square" lIns="0" rIns="0" tIns="0" bIns="0">
            <a:spAutoFit/>
          </a:bodyPr>
          <a:lstStyle/>
          <a:p>
            <a:pPr algn="l">
              <a:lnSpc>
                <a:spcPct val="112000"/>
              </a:lnSpc>
              <a:spcAft>
                <a:spcPts val="500"/>
              </a:spcAft>
              <a:defRPr sz="2100" b="1">
                <a:solidFill>
                  <a:srgbClr val="2563EB"/>
                </a:solidFill>
                <a:latin typeface="DejaVu Sans"/>
              </a:defRPr>
            </a:pPr>
            <a:r>
              <a:rPr lang="de-DE"/>
              <a:t>E</a:t>
            </a:r>
          </a:p>
        </p:txBody>
      </p:sp>
      <p:sp>
        <p:nvSpPr>
          <p:cNvPr id="16" name="TextBox 15"/>
          <p:cNvSpPr txBox="1"/>
          <p:nvPr/>
        </p:nvSpPr>
        <p:spPr>
          <a:xfrm>
            <a:off x="1298448" y="4370831"/>
            <a:ext cx="4297680" cy="356616"/>
          </a:xfrm>
          <a:prstGeom prst="rect">
            <a:avLst/>
          </a:prstGeom>
          <a:noFill/>
        </p:spPr>
        <p:txBody>
          <a:bodyPr wrap="square" lIns="0" rIns="0" tIns="0" bIns="0">
            <a:spAutoFit/>
          </a:bodyPr>
          <a:lstStyle/>
          <a:p>
            <a:pPr algn="l">
              <a:lnSpc>
                <a:spcPct val="112000"/>
              </a:lnSpc>
              <a:spcAft>
                <a:spcPts val="500"/>
              </a:spcAft>
              <a:defRPr sz="1700" b="0">
                <a:solidFill>
                  <a:srgbClr val="0F172A"/>
                </a:solidFill>
                <a:latin typeface="DejaVu Sans"/>
              </a:defRPr>
            </a:pPr>
            <a:r>
              <a:rPr lang="de-DE"/>
              <a:t>Sonstige Kriege</a:t>
            </a:r>
          </a:p>
        </p:txBody>
      </p:sp>
      <p:sp>
        <p:nvSpPr>
          <p:cNvPr id="17" name="Rectangle 16"/>
          <p:cNvSpPr/>
          <p:nvPr/>
        </p:nvSpPr>
        <p:spPr>
          <a:xfrm>
            <a:off x="6108192" y="1527048"/>
            <a:ext cx="5349240" cy="4069080"/>
          </a:xfrm>
          <a:prstGeom prst="rect">
            <a:avLst/>
          </a:prstGeom>
          <a:solidFill>
            <a:srgbClr val="FFFFFF"/>
          </a:solidFill>
          <a:ln w="889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345936" y="1764792"/>
            <a:ext cx="4846320" cy="685800"/>
          </a:xfrm>
          <a:prstGeom prst="rect">
            <a:avLst/>
          </a:prstGeom>
          <a:noFill/>
        </p:spPr>
        <p:txBody>
          <a:bodyPr wrap="square" lIns="0" rIns="0" tIns="0" bIns="0">
            <a:spAutoFit/>
          </a:bodyPr>
          <a:lstStyle/>
          <a:p>
            <a:pPr algn="l">
              <a:lnSpc>
                <a:spcPct val="112000"/>
              </a:lnSpc>
              <a:spcAft>
                <a:spcPts val="500"/>
              </a:spcAft>
              <a:defRPr sz="2200" b="1">
                <a:solidFill>
                  <a:srgbClr val="0F172A"/>
                </a:solidFill>
                <a:latin typeface="DejaVu Sans"/>
              </a:defRPr>
            </a:pPr>
            <a:r>
              <a:rPr lang="de-DE"/>
              <a:t>Mischtyp als Arbeitsthese</a:t>
            </a:r>
          </a:p>
        </p:txBody>
      </p:sp>
      <p:sp>
        <p:nvSpPr>
          <p:cNvPr id="19" name="TextBox 18"/>
          <p:cNvSpPr txBox="1"/>
          <p:nvPr/>
        </p:nvSpPr>
        <p:spPr>
          <a:xfrm>
            <a:off x="6345936" y="2743200"/>
            <a:ext cx="4681728" cy="1463040"/>
          </a:xfrm>
          <a:prstGeom prst="rect">
            <a:avLst/>
          </a:prstGeom>
          <a:noFill/>
        </p:spPr>
        <p:txBody>
          <a:bodyPr wrap="square" lIns="0" rIns="0" tIns="0" bIns="0">
            <a:spAutoFit/>
          </a:bodyPr>
          <a:lstStyle/>
          <a:p>
            <a:pPr algn="l">
              <a:lnSpc>
                <a:spcPct val="112000"/>
              </a:lnSpc>
              <a:spcAft>
                <a:spcPts val="500"/>
              </a:spcAft>
              <a:defRPr sz="1700" b="0">
                <a:solidFill>
                  <a:srgbClr val="475569"/>
                </a:solidFill>
                <a:latin typeface="DejaVu Sans"/>
              </a:defRPr>
            </a:pPr>
            <a:r>
              <a:rPr lang="de-DE"/>
              <a:t>A: Kampf um die Herrschaft der Hamas</a:t>
            </a:r>
          </a:p>
          <a:p>
            <a:pPr algn="l">
              <a:lnSpc>
                <a:spcPct val="112000"/>
              </a:lnSpc>
              <a:spcAft>
                <a:spcPts val="500"/>
              </a:spcAft>
              <a:defRPr sz="1700" b="0">
                <a:solidFill>
                  <a:srgbClr val="475569"/>
                </a:solidFill>
                <a:latin typeface="DejaVu Sans"/>
              </a:defRPr>
            </a:pPr>
            <a:r>
              <a:rPr lang="de-DE"/>
              <a:t>B: Dimension politischer Selbstbestimmung</a:t>
            </a:r>
          </a:p>
          <a:p>
            <a:pPr algn="l">
              <a:lnSpc>
                <a:spcPct val="112000"/>
              </a:lnSpc>
              <a:spcAft>
                <a:spcPts val="500"/>
              </a:spcAft>
              <a:defRPr sz="1700" b="0">
                <a:solidFill>
                  <a:srgbClr val="475569"/>
                </a:solidFill>
                <a:latin typeface="DejaVu Sans"/>
              </a:defRPr>
            </a:pPr>
            <a:r>
              <a:rPr lang="de-DE"/>
              <a:t>C: besonders bei direktem Israel–Iran-Krieg</a:t>
            </a:r>
          </a:p>
        </p:txBody>
      </p:sp>
      <p:sp>
        <p:nvSpPr>
          <p:cNvPr id="20" name="TextBox 19"/>
          <p:cNvSpPr txBox="1"/>
          <p:nvPr/>
        </p:nvSpPr>
        <p:spPr>
          <a:xfrm>
            <a:off x="6345936" y="4553712"/>
            <a:ext cx="4690872" cy="795528"/>
          </a:xfrm>
          <a:prstGeom prst="rect">
            <a:avLst/>
          </a:prstGeom>
          <a:noFill/>
        </p:spPr>
        <p:txBody>
          <a:bodyPr wrap="square" lIns="0" rIns="0" tIns="0" bIns="0">
            <a:spAutoFit/>
          </a:bodyPr>
          <a:lstStyle/>
          <a:p>
            <a:pPr algn="l">
              <a:lnSpc>
                <a:spcPct val="112000"/>
              </a:lnSpc>
              <a:spcAft>
                <a:spcPts val="500"/>
              </a:spcAft>
              <a:defRPr sz="1400" b="1">
                <a:solidFill>
                  <a:srgbClr val="0F172A"/>
                </a:solidFill>
                <a:latin typeface="DejaVu Sans"/>
              </a:defRPr>
            </a:pPr>
            <a:r>
              <a:rPr lang="de-DE"/>
              <a:t>Besatzung ist kein eigener AKUF-Typ.</a:t>
            </a:r>
          </a:p>
          <a:p>
            <a:pPr algn="l">
              <a:lnSpc>
                <a:spcPct val="112000"/>
              </a:lnSpc>
              <a:spcAft>
                <a:spcPts val="500"/>
              </a:spcAft>
              <a:defRPr sz="1400" b="1">
                <a:solidFill>
                  <a:srgbClr val="0F172A"/>
                </a:solidFill>
                <a:latin typeface="DejaVu Sans"/>
              </a:defRPr>
            </a:pPr>
            <a:r>
              <a:rPr lang="de-DE"/>
              <a:t>Die Einordnung hängt von Zeitraum und Konfliktebene ab.</a:t>
            </a:r>
          </a:p>
        </p:txBody>
      </p:sp>
      <p:sp>
        <p:nvSpPr>
          <p:cNvPr id="21" name="TextBox 20"/>
          <p:cNvSpPr txBox="1"/>
          <p:nvPr/>
        </p:nvSpPr>
        <p:spPr>
          <a:xfrm>
            <a:off x="731520" y="5824728"/>
            <a:ext cx="10725912" cy="420624"/>
          </a:xfrm>
          <a:prstGeom prst="rect">
            <a:avLst/>
          </a:prstGeom>
          <a:noFill/>
        </p:spPr>
        <p:txBody>
          <a:bodyPr wrap="square" lIns="0" rIns="0" tIns="0" bIns="0">
            <a:spAutoFit/>
          </a:bodyPr>
          <a:lstStyle/>
          <a:p>
            <a:pPr algn="l">
              <a:lnSpc>
                <a:spcPct val="112000"/>
              </a:lnSpc>
              <a:spcAft>
                <a:spcPts val="500"/>
              </a:spcAft>
              <a:defRPr sz="1400" b="0">
                <a:solidFill>
                  <a:srgbClr val="475569"/>
                </a:solidFill>
                <a:latin typeface="DejaVu Sans"/>
              </a:defRPr>
            </a:pPr>
            <a:r>
              <a:rPr lang="de-DE"/>
              <a:t>Fremdbeteiligung: direkte Kämpfe fremder staatlicher Truppen; Waffen oder Geld allein reichen nicht.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566928"/>
            <a:ext cx="10725912" cy="676656"/>
          </a:xfrm>
          <a:prstGeom prst="rect">
            <a:avLst/>
          </a:prstGeom>
          <a:noFill/>
        </p:spPr>
        <p:txBody>
          <a:bodyPr wrap="square" lIns="0" rIns="0" tIns="0" bIns="0">
            <a:spAutoFit/>
          </a:bodyPr>
          <a:lstStyle/>
          <a:p>
            <a:pPr algn="l">
              <a:lnSpc>
                <a:spcPct val="112000"/>
              </a:lnSpc>
              <a:spcAft>
                <a:spcPts val="500"/>
              </a:spcAft>
              <a:defRPr sz="3000" b="1">
                <a:solidFill>
                  <a:srgbClr val="0F172A"/>
                </a:solidFill>
                <a:latin typeface="DejaVu Sans"/>
              </a:defRPr>
            </a:pPr>
            <a:r>
              <a:rPr lang="de-DE"/>
              <a:t>UN-Sicherheitsrat: Blockaden und Beschlüsse</a:t>
            </a:r>
          </a:p>
        </p:txBody>
      </p:sp>
      <p:sp>
        <p:nvSpPr>
          <p:cNvPr id="3" name="Rectangle 2"/>
          <p:cNvSpPr/>
          <p:nvPr/>
        </p:nvSpPr>
        <p:spPr>
          <a:xfrm>
            <a:off x="731520" y="6419088"/>
            <a:ext cx="10725912" cy="11887"/>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31520" y="6492240"/>
            <a:ext cx="2834640" cy="201168"/>
          </a:xfrm>
          <a:prstGeom prst="rect">
            <a:avLst/>
          </a:prstGeom>
          <a:noFill/>
        </p:spPr>
        <p:txBody>
          <a:bodyPr wrap="square" lIns="0" rIns="0" tIns="0" bIns="0">
            <a:spAutoFit/>
          </a:bodyPr>
          <a:lstStyle/>
          <a:p>
            <a:pPr algn="l">
              <a:lnSpc>
                <a:spcPct val="112000"/>
              </a:lnSpc>
              <a:spcAft>
                <a:spcPts val="500"/>
              </a:spcAft>
              <a:defRPr sz="1000" b="0">
                <a:solidFill>
                  <a:srgbClr val="475569"/>
                </a:solidFill>
                <a:latin typeface="DejaVu Sans"/>
              </a:defRPr>
            </a:pPr>
            <a:r>
              <a:rPr lang="de-DE"/>
              <a:t>[Name 3]  /  Folie 09</a:t>
            </a:r>
          </a:p>
        </p:txBody>
      </p:sp>
      <p:sp>
        <p:nvSpPr>
          <p:cNvPr id="5" name="TextBox 4"/>
          <p:cNvSpPr txBox="1"/>
          <p:nvPr/>
        </p:nvSpPr>
        <p:spPr>
          <a:xfrm>
            <a:off x="3657600" y="6492240"/>
            <a:ext cx="7799831" cy="201168"/>
          </a:xfrm>
          <a:prstGeom prst="rect">
            <a:avLst/>
          </a:prstGeom>
          <a:noFill/>
        </p:spPr>
        <p:txBody>
          <a:bodyPr wrap="square" lIns="0" rIns="0" tIns="0" bIns="0">
            <a:spAutoFit/>
          </a:bodyPr>
          <a:lstStyle/>
          <a:p>
            <a:pPr algn="r">
              <a:lnSpc>
                <a:spcPct val="112000"/>
              </a:lnSpc>
              <a:spcAft>
                <a:spcPts val="500"/>
              </a:spcAft>
              <a:defRPr sz="900" b="0">
                <a:solidFill>
                  <a:srgbClr val="475569"/>
                </a:solidFill>
                <a:latin typeface="DejaVu Sans"/>
              </a:defRPr>
            </a:pPr>
            <a:r>
              <a:rPr lang="de-DE"/>
              <a:t>UN-Sicherheitsrat: 2728 / 2735 / 2803; Abstimmungen 2023–2025</a:t>
            </a:r>
          </a:p>
        </p:txBody>
      </p:sp>
      <p:sp>
        <p:nvSpPr>
          <p:cNvPr id="6" name="TextBox 5"/>
          <p:cNvSpPr txBox="1"/>
          <p:nvPr/>
        </p:nvSpPr>
        <p:spPr>
          <a:xfrm>
            <a:off x="731520" y="1371600"/>
            <a:ext cx="10725912" cy="448056"/>
          </a:xfrm>
          <a:prstGeom prst="rect">
            <a:avLst/>
          </a:prstGeom>
          <a:noFill/>
        </p:spPr>
        <p:txBody>
          <a:bodyPr wrap="square" lIns="0" rIns="0" tIns="0" bIns="0">
            <a:spAutoFit/>
          </a:bodyPr>
          <a:lstStyle/>
          <a:p>
            <a:pPr algn="l">
              <a:lnSpc>
                <a:spcPct val="112000"/>
              </a:lnSpc>
              <a:spcAft>
                <a:spcPts val="500"/>
              </a:spcAft>
              <a:defRPr sz="1700" b="1">
                <a:solidFill>
                  <a:srgbClr val="0F172A"/>
                </a:solidFill>
                <a:latin typeface="DejaVu Sans"/>
              </a:defRPr>
            </a:pPr>
            <a:r>
              <a:rPr lang="de-DE"/>
              <a:t>18.10.2023: US-Veto  /  25.10.2023: Vetos Russlands und Chinas</a:t>
            </a:r>
          </a:p>
        </p:txBody>
      </p:sp>
      <p:sp>
        <p:nvSpPr>
          <p:cNvPr id="7" name="Rectangle 6"/>
          <p:cNvSpPr/>
          <p:nvPr/>
        </p:nvSpPr>
        <p:spPr>
          <a:xfrm>
            <a:off x="731520" y="2103120"/>
            <a:ext cx="3332378" cy="2962656"/>
          </a:xfrm>
          <a:prstGeom prst="rect">
            <a:avLst/>
          </a:prstGeom>
          <a:solidFill>
            <a:srgbClr val="FFFFFF"/>
          </a:solidFill>
          <a:ln w="889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50976" y="2322576"/>
            <a:ext cx="2893466" cy="502920"/>
          </a:xfrm>
          <a:prstGeom prst="rect">
            <a:avLst/>
          </a:prstGeom>
          <a:noFill/>
        </p:spPr>
        <p:txBody>
          <a:bodyPr wrap="square" lIns="0" rIns="0" tIns="0" bIns="0">
            <a:spAutoFit/>
          </a:bodyPr>
          <a:lstStyle/>
          <a:p>
            <a:pPr algn="l">
              <a:lnSpc>
                <a:spcPct val="112000"/>
              </a:lnSpc>
              <a:spcAft>
                <a:spcPts val="500"/>
              </a:spcAft>
              <a:defRPr sz="2800" b="1">
                <a:solidFill>
                  <a:srgbClr val="2563EB"/>
                </a:solidFill>
                <a:latin typeface="DejaVu Sans"/>
              </a:defRPr>
            </a:pPr>
            <a:r>
              <a:rPr lang="de-DE"/>
              <a:t>2728</a:t>
            </a:r>
          </a:p>
        </p:txBody>
      </p:sp>
      <p:sp>
        <p:nvSpPr>
          <p:cNvPr id="9" name="TextBox 8"/>
          <p:cNvSpPr txBox="1"/>
          <p:nvPr/>
        </p:nvSpPr>
        <p:spPr>
          <a:xfrm>
            <a:off x="950976" y="2871216"/>
            <a:ext cx="2893466" cy="274320"/>
          </a:xfrm>
          <a:prstGeom prst="rect">
            <a:avLst/>
          </a:prstGeom>
          <a:noFill/>
        </p:spPr>
        <p:txBody>
          <a:bodyPr wrap="square" lIns="0" rIns="0" tIns="0" bIns="0">
            <a:spAutoFit/>
          </a:bodyPr>
          <a:lstStyle/>
          <a:p>
            <a:pPr algn="l">
              <a:lnSpc>
                <a:spcPct val="112000"/>
              </a:lnSpc>
              <a:spcAft>
                <a:spcPts val="500"/>
              </a:spcAft>
              <a:defRPr sz="1200" b="0">
                <a:solidFill>
                  <a:srgbClr val="475569"/>
                </a:solidFill>
                <a:latin typeface="DejaVu Sans"/>
              </a:defRPr>
            </a:pPr>
            <a:r>
              <a:rPr lang="de-DE"/>
              <a:t>25.03.2024</a:t>
            </a:r>
          </a:p>
        </p:txBody>
      </p:sp>
      <p:sp>
        <p:nvSpPr>
          <p:cNvPr id="10" name="TextBox 9"/>
          <p:cNvSpPr txBox="1"/>
          <p:nvPr/>
        </p:nvSpPr>
        <p:spPr>
          <a:xfrm>
            <a:off x="950976" y="3401568"/>
            <a:ext cx="2893466" cy="640080"/>
          </a:xfrm>
          <a:prstGeom prst="rect">
            <a:avLst/>
          </a:prstGeom>
          <a:noFill/>
        </p:spPr>
        <p:txBody>
          <a:bodyPr wrap="square" lIns="0" rIns="0" tIns="0" bIns="0">
            <a:spAutoFit/>
          </a:bodyPr>
          <a:lstStyle/>
          <a:p>
            <a:pPr algn="l">
              <a:lnSpc>
                <a:spcPct val="112000"/>
              </a:lnSpc>
              <a:spcAft>
                <a:spcPts val="500"/>
              </a:spcAft>
              <a:defRPr sz="1800" b="1">
                <a:solidFill>
                  <a:srgbClr val="0F172A"/>
                </a:solidFill>
                <a:latin typeface="DejaVu Sans"/>
              </a:defRPr>
            </a:pPr>
            <a:r>
              <a:rPr lang="de-DE"/>
              <a:t>Ramadan-Waffenruhe</a:t>
            </a:r>
          </a:p>
        </p:txBody>
      </p:sp>
      <p:sp>
        <p:nvSpPr>
          <p:cNvPr id="11" name="TextBox 10"/>
          <p:cNvSpPr txBox="1"/>
          <p:nvPr/>
        </p:nvSpPr>
        <p:spPr>
          <a:xfrm>
            <a:off x="950976" y="4114800"/>
            <a:ext cx="2893466" cy="768096"/>
          </a:xfrm>
          <a:prstGeom prst="rect">
            <a:avLst/>
          </a:prstGeom>
          <a:noFill/>
        </p:spPr>
        <p:txBody>
          <a:bodyPr wrap="square" lIns="0" rIns="0" tIns="0" bIns="0">
            <a:spAutoFit/>
          </a:bodyPr>
          <a:lstStyle/>
          <a:p>
            <a:pPr algn="l">
              <a:lnSpc>
                <a:spcPct val="112000"/>
              </a:lnSpc>
              <a:spcAft>
                <a:spcPts val="500"/>
              </a:spcAft>
              <a:defRPr sz="1400" b="0">
                <a:solidFill>
                  <a:srgbClr val="475569"/>
                </a:solidFill>
                <a:latin typeface="DejaVu Sans"/>
              </a:defRPr>
            </a:pPr>
            <a:r>
              <a:rPr lang="de-DE"/>
              <a:t>Sofortige Waffenruhe und bedingungslose Freilassung aller Geiseln</a:t>
            </a:r>
          </a:p>
        </p:txBody>
      </p:sp>
      <p:sp>
        <p:nvSpPr>
          <p:cNvPr id="12" name="Rectangle 11"/>
          <p:cNvSpPr/>
          <p:nvPr/>
        </p:nvSpPr>
        <p:spPr>
          <a:xfrm>
            <a:off x="4429658" y="2103120"/>
            <a:ext cx="3332378" cy="2962656"/>
          </a:xfrm>
          <a:prstGeom prst="rect">
            <a:avLst/>
          </a:prstGeom>
          <a:solidFill>
            <a:srgbClr val="FFFFFF"/>
          </a:solidFill>
          <a:ln w="889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649114" y="2322576"/>
            <a:ext cx="2893466" cy="502920"/>
          </a:xfrm>
          <a:prstGeom prst="rect">
            <a:avLst/>
          </a:prstGeom>
          <a:noFill/>
        </p:spPr>
        <p:txBody>
          <a:bodyPr wrap="square" lIns="0" rIns="0" tIns="0" bIns="0">
            <a:spAutoFit/>
          </a:bodyPr>
          <a:lstStyle/>
          <a:p>
            <a:pPr algn="l">
              <a:lnSpc>
                <a:spcPct val="112000"/>
              </a:lnSpc>
              <a:spcAft>
                <a:spcPts val="500"/>
              </a:spcAft>
              <a:defRPr sz="2800" b="1">
                <a:solidFill>
                  <a:srgbClr val="2563EB"/>
                </a:solidFill>
                <a:latin typeface="DejaVu Sans"/>
              </a:defRPr>
            </a:pPr>
            <a:r>
              <a:rPr lang="de-DE"/>
              <a:t>2735</a:t>
            </a:r>
          </a:p>
        </p:txBody>
      </p:sp>
      <p:sp>
        <p:nvSpPr>
          <p:cNvPr id="14" name="TextBox 13"/>
          <p:cNvSpPr txBox="1"/>
          <p:nvPr/>
        </p:nvSpPr>
        <p:spPr>
          <a:xfrm>
            <a:off x="4649114" y="2871216"/>
            <a:ext cx="2893466" cy="274320"/>
          </a:xfrm>
          <a:prstGeom prst="rect">
            <a:avLst/>
          </a:prstGeom>
          <a:noFill/>
        </p:spPr>
        <p:txBody>
          <a:bodyPr wrap="square" lIns="0" rIns="0" tIns="0" bIns="0">
            <a:spAutoFit/>
          </a:bodyPr>
          <a:lstStyle/>
          <a:p>
            <a:pPr algn="l">
              <a:lnSpc>
                <a:spcPct val="112000"/>
              </a:lnSpc>
              <a:spcAft>
                <a:spcPts val="500"/>
              </a:spcAft>
              <a:defRPr sz="1200" b="0">
                <a:solidFill>
                  <a:srgbClr val="475569"/>
                </a:solidFill>
                <a:latin typeface="DejaVu Sans"/>
              </a:defRPr>
            </a:pPr>
            <a:r>
              <a:rPr lang="de-DE"/>
              <a:t>10.06.2024</a:t>
            </a:r>
          </a:p>
        </p:txBody>
      </p:sp>
      <p:sp>
        <p:nvSpPr>
          <p:cNvPr id="15" name="TextBox 14"/>
          <p:cNvSpPr txBox="1"/>
          <p:nvPr/>
        </p:nvSpPr>
        <p:spPr>
          <a:xfrm>
            <a:off x="4649114" y="3401568"/>
            <a:ext cx="2893466" cy="640080"/>
          </a:xfrm>
          <a:prstGeom prst="rect">
            <a:avLst/>
          </a:prstGeom>
          <a:noFill/>
        </p:spPr>
        <p:txBody>
          <a:bodyPr wrap="square" lIns="0" rIns="0" tIns="0" bIns="0">
            <a:spAutoFit/>
          </a:bodyPr>
          <a:lstStyle/>
          <a:p>
            <a:pPr algn="l">
              <a:lnSpc>
                <a:spcPct val="112000"/>
              </a:lnSpc>
              <a:spcAft>
                <a:spcPts val="500"/>
              </a:spcAft>
              <a:defRPr sz="1800" b="1">
                <a:solidFill>
                  <a:srgbClr val="0F172A"/>
                </a:solidFill>
                <a:latin typeface="DejaVu Sans"/>
              </a:defRPr>
            </a:pPr>
            <a:r>
              <a:rPr lang="de-DE"/>
              <a:t>Drei-Phasen-Plan</a:t>
            </a:r>
          </a:p>
        </p:txBody>
      </p:sp>
      <p:sp>
        <p:nvSpPr>
          <p:cNvPr id="16" name="TextBox 15"/>
          <p:cNvSpPr txBox="1"/>
          <p:nvPr/>
        </p:nvSpPr>
        <p:spPr>
          <a:xfrm>
            <a:off x="4649114" y="4114800"/>
            <a:ext cx="2893466" cy="768096"/>
          </a:xfrm>
          <a:prstGeom prst="rect">
            <a:avLst/>
          </a:prstGeom>
          <a:noFill/>
        </p:spPr>
        <p:txBody>
          <a:bodyPr wrap="square" lIns="0" rIns="0" tIns="0" bIns="0">
            <a:spAutoFit/>
          </a:bodyPr>
          <a:lstStyle/>
          <a:p>
            <a:pPr algn="l">
              <a:lnSpc>
                <a:spcPct val="112000"/>
              </a:lnSpc>
              <a:spcAft>
                <a:spcPts val="500"/>
              </a:spcAft>
              <a:defRPr sz="1400" b="0">
                <a:solidFill>
                  <a:srgbClr val="475569"/>
                </a:solidFill>
                <a:latin typeface="DejaVu Sans"/>
              </a:defRPr>
            </a:pPr>
            <a:r>
              <a:rPr lang="de-DE"/>
              <a:t>Waffenruhe und Austausch; dauerhaftes Ende der Kämpfe; Wiederaufbau</a:t>
            </a:r>
          </a:p>
        </p:txBody>
      </p:sp>
      <p:sp>
        <p:nvSpPr>
          <p:cNvPr id="17" name="Rectangle 16"/>
          <p:cNvSpPr/>
          <p:nvPr/>
        </p:nvSpPr>
        <p:spPr>
          <a:xfrm>
            <a:off x="8127796" y="2103120"/>
            <a:ext cx="3332378" cy="2962656"/>
          </a:xfrm>
          <a:prstGeom prst="rect">
            <a:avLst/>
          </a:prstGeom>
          <a:solidFill>
            <a:srgbClr val="FFFFFF"/>
          </a:solidFill>
          <a:ln w="889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347252" y="2322576"/>
            <a:ext cx="2893466" cy="502920"/>
          </a:xfrm>
          <a:prstGeom prst="rect">
            <a:avLst/>
          </a:prstGeom>
          <a:noFill/>
        </p:spPr>
        <p:txBody>
          <a:bodyPr wrap="square" lIns="0" rIns="0" tIns="0" bIns="0">
            <a:spAutoFit/>
          </a:bodyPr>
          <a:lstStyle/>
          <a:p>
            <a:pPr algn="l">
              <a:lnSpc>
                <a:spcPct val="112000"/>
              </a:lnSpc>
              <a:spcAft>
                <a:spcPts val="500"/>
              </a:spcAft>
              <a:defRPr sz="2800" b="1">
                <a:solidFill>
                  <a:srgbClr val="2563EB"/>
                </a:solidFill>
                <a:latin typeface="DejaVu Sans"/>
              </a:defRPr>
            </a:pPr>
            <a:r>
              <a:rPr lang="de-DE"/>
              <a:t>2803</a:t>
            </a:r>
          </a:p>
        </p:txBody>
      </p:sp>
      <p:sp>
        <p:nvSpPr>
          <p:cNvPr id="19" name="TextBox 18"/>
          <p:cNvSpPr txBox="1"/>
          <p:nvPr/>
        </p:nvSpPr>
        <p:spPr>
          <a:xfrm>
            <a:off x="8347252" y="2871216"/>
            <a:ext cx="2893466" cy="274320"/>
          </a:xfrm>
          <a:prstGeom prst="rect">
            <a:avLst/>
          </a:prstGeom>
          <a:noFill/>
        </p:spPr>
        <p:txBody>
          <a:bodyPr wrap="square" lIns="0" rIns="0" tIns="0" bIns="0">
            <a:spAutoFit/>
          </a:bodyPr>
          <a:lstStyle/>
          <a:p>
            <a:pPr algn="l">
              <a:lnSpc>
                <a:spcPct val="112000"/>
              </a:lnSpc>
              <a:spcAft>
                <a:spcPts val="500"/>
              </a:spcAft>
              <a:defRPr sz="1200" b="0">
                <a:solidFill>
                  <a:srgbClr val="475569"/>
                </a:solidFill>
                <a:latin typeface="DejaVu Sans"/>
              </a:defRPr>
            </a:pPr>
            <a:r>
              <a:rPr lang="de-DE"/>
              <a:t>17.11.2025</a:t>
            </a:r>
          </a:p>
        </p:txBody>
      </p:sp>
      <p:sp>
        <p:nvSpPr>
          <p:cNvPr id="20" name="TextBox 19"/>
          <p:cNvSpPr txBox="1"/>
          <p:nvPr/>
        </p:nvSpPr>
        <p:spPr>
          <a:xfrm>
            <a:off x="8347252" y="3401568"/>
            <a:ext cx="2893466" cy="640080"/>
          </a:xfrm>
          <a:prstGeom prst="rect">
            <a:avLst/>
          </a:prstGeom>
          <a:noFill/>
        </p:spPr>
        <p:txBody>
          <a:bodyPr wrap="square" lIns="0" rIns="0" tIns="0" bIns="0">
            <a:spAutoFit/>
          </a:bodyPr>
          <a:lstStyle/>
          <a:p>
            <a:pPr algn="l">
              <a:lnSpc>
                <a:spcPct val="112000"/>
              </a:lnSpc>
              <a:spcAft>
                <a:spcPts val="500"/>
              </a:spcAft>
              <a:defRPr sz="1800" b="1">
                <a:solidFill>
                  <a:srgbClr val="0F172A"/>
                </a:solidFill>
                <a:latin typeface="DejaVu Sans"/>
              </a:defRPr>
            </a:pPr>
            <a:r>
              <a:rPr lang="de-DE"/>
              <a:t>Übergangsordnung</a:t>
            </a:r>
          </a:p>
        </p:txBody>
      </p:sp>
      <p:sp>
        <p:nvSpPr>
          <p:cNvPr id="21" name="TextBox 20"/>
          <p:cNvSpPr txBox="1"/>
          <p:nvPr/>
        </p:nvSpPr>
        <p:spPr>
          <a:xfrm>
            <a:off x="8347252" y="4114800"/>
            <a:ext cx="2893466" cy="768096"/>
          </a:xfrm>
          <a:prstGeom prst="rect">
            <a:avLst/>
          </a:prstGeom>
          <a:noFill/>
        </p:spPr>
        <p:txBody>
          <a:bodyPr wrap="square" lIns="0" rIns="0" tIns="0" bIns="0">
            <a:spAutoFit/>
          </a:bodyPr>
          <a:lstStyle/>
          <a:p>
            <a:pPr algn="l">
              <a:lnSpc>
                <a:spcPct val="112000"/>
              </a:lnSpc>
              <a:spcAft>
                <a:spcPts val="500"/>
              </a:spcAft>
              <a:defRPr sz="1400" b="0">
                <a:solidFill>
                  <a:srgbClr val="475569"/>
                </a:solidFill>
                <a:latin typeface="DejaVu Sans"/>
              </a:defRPr>
            </a:pPr>
            <a:r>
              <a:rPr lang="de-DE"/>
              <a:t>Umfassender Plan; Board of Peace; internationale Stabilisierungstruppe (ISF)</a:t>
            </a:r>
          </a:p>
        </p:txBody>
      </p:sp>
      <p:sp>
        <p:nvSpPr>
          <p:cNvPr id="22" name="TextBox 21"/>
          <p:cNvSpPr txBox="1"/>
          <p:nvPr/>
        </p:nvSpPr>
        <p:spPr>
          <a:xfrm>
            <a:off x="731520" y="5440680"/>
            <a:ext cx="10698480" cy="329184"/>
          </a:xfrm>
          <a:prstGeom prst="rect">
            <a:avLst/>
          </a:prstGeom>
          <a:noFill/>
        </p:spPr>
        <p:txBody>
          <a:bodyPr wrap="square" lIns="0" rIns="0" tIns="0" bIns="0">
            <a:spAutoFit/>
          </a:bodyPr>
          <a:lstStyle/>
          <a:p>
            <a:pPr algn="l">
              <a:lnSpc>
                <a:spcPct val="112000"/>
              </a:lnSpc>
              <a:spcAft>
                <a:spcPts val="500"/>
              </a:spcAft>
              <a:defRPr sz="1700" b="1">
                <a:solidFill>
                  <a:srgbClr val="0F172A"/>
                </a:solidFill>
                <a:latin typeface="DejaVu Sans"/>
              </a:defRPr>
            </a:pPr>
            <a:r>
              <a:rPr lang="de-DE"/>
              <a:t>Vermittler: USA, Ägypten, Katar</a:t>
            </a:r>
          </a:p>
        </p:txBody>
      </p:sp>
      <p:sp>
        <p:nvSpPr>
          <p:cNvPr id="23" name="TextBox 22"/>
          <p:cNvSpPr txBox="1"/>
          <p:nvPr/>
        </p:nvSpPr>
        <p:spPr>
          <a:xfrm>
            <a:off x="731520" y="5907024"/>
            <a:ext cx="10725912" cy="329184"/>
          </a:xfrm>
          <a:prstGeom prst="rect">
            <a:avLst/>
          </a:prstGeom>
          <a:noFill/>
        </p:spPr>
        <p:txBody>
          <a:bodyPr wrap="square" lIns="0" rIns="0" tIns="0" bIns="0">
            <a:spAutoFit/>
          </a:bodyPr>
          <a:lstStyle/>
          <a:p>
            <a:pPr algn="l">
              <a:lnSpc>
                <a:spcPct val="112000"/>
              </a:lnSpc>
              <a:spcAft>
                <a:spcPts val="500"/>
              </a:spcAft>
              <a:defRPr sz="1400" b="0">
                <a:solidFill>
                  <a:srgbClr val="475569"/>
                </a:solidFill>
                <a:latin typeface="DejaVu Sans"/>
              </a:defRPr>
            </a:pPr>
            <a:r>
              <a:rPr lang="de-DE"/>
              <a:t>UNRWA: Versorgung und Bildung  /  OCHA: Koordination humanitärer Hilfe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566928"/>
            <a:ext cx="10725912" cy="676656"/>
          </a:xfrm>
          <a:prstGeom prst="rect">
            <a:avLst/>
          </a:prstGeom>
          <a:noFill/>
        </p:spPr>
        <p:txBody>
          <a:bodyPr wrap="square" lIns="0" rIns="0" tIns="0" bIns="0">
            <a:spAutoFit/>
          </a:bodyPr>
          <a:lstStyle/>
          <a:p>
            <a:pPr algn="l">
              <a:lnSpc>
                <a:spcPct val="112000"/>
              </a:lnSpc>
              <a:spcAft>
                <a:spcPts val="500"/>
              </a:spcAft>
              <a:defRPr sz="3000" b="1">
                <a:solidFill>
                  <a:srgbClr val="0F172A"/>
                </a:solidFill>
                <a:latin typeface="DejaVu Sans"/>
              </a:defRPr>
            </a:pPr>
            <a:r>
              <a:rPr lang="de-DE"/>
              <a:t>Kompromisse und Wege zu einer Lösung</a:t>
            </a:r>
          </a:p>
        </p:txBody>
      </p:sp>
      <p:sp>
        <p:nvSpPr>
          <p:cNvPr id="3" name="Rectangle 2"/>
          <p:cNvSpPr/>
          <p:nvPr/>
        </p:nvSpPr>
        <p:spPr>
          <a:xfrm>
            <a:off x="731520" y="6419088"/>
            <a:ext cx="10725912" cy="11887"/>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31520" y="6492240"/>
            <a:ext cx="2834640" cy="201168"/>
          </a:xfrm>
          <a:prstGeom prst="rect">
            <a:avLst/>
          </a:prstGeom>
          <a:noFill/>
        </p:spPr>
        <p:txBody>
          <a:bodyPr wrap="square" lIns="0" rIns="0" tIns="0" bIns="0">
            <a:spAutoFit/>
          </a:bodyPr>
          <a:lstStyle/>
          <a:p>
            <a:pPr algn="l">
              <a:lnSpc>
                <a:spcPct val="112000"/>
              </a:lnSpc>
              <a:spcAft>
                <a:spcPts val="500"/>
              </a:spcAft>
              <a:defRPr sz="1000" b="0">
                <a:solidFill>
                  <a:srgbClr val="475569"/>
                </a:solidFill>
                <a:latin typeface="DejaVu Sans"/>
              </a:defRPr>
            </a:pPr>
            <a:r>
              <a:rPr lang="de-DE"/>
              <a:t>[Name 3]  /  Folie 10</a:t>
            </a:r>
          </a:p>
        </p:txBody>
      </p:sp>
      <p:sp>
        <p:nvSpPr>
          <p:cNvPr id="5" name="TextBox 4"/>
          <p:cNvSpPr txBox="1"/>
          <p:nvPr/>
        </p:nvSpPr>
        <p:spPr>
          <a:xfrm>
            <a:off x="3657600" y="6492240"/>
            <a:ext cx="7799831" cy="201168"/>
          </a:xfrm>
          <a:prstGeom prst="rect">
            <a:avLst/>
          </a:prstGeom>
          <a:noFill/>
        </p:spPr>
        <p:txBody>
          <a:bodyPr wrap="square" lIns="0" rIns="0" tIns="0" bIns="0">
            <a:spAutoFit/>
          </a:bodyPr>
          <a:lstStyle/>
          <a:p>
            <a:pPr algn="r">
              <a:lnSpc>
                <a:spcPct val="112000"/>
              </a:lnSpc>
              <a:spcAft>
                <a:spcPts val="500"/>
              </a:spcAft>
              <a:defRPr sz="900" b="0">
                <a:solidFill>
                  <a:srgbClr val="475569"/>
                </a:solidFill>
                <a:latin typeface="DejaVu Sans"/>
              </a:defRPr>
            </a:pPr>
            <a:r>
              <a:rPr lang="de-DE"/>
              <a:t>Eigene Ableitung aus UN-Resolutionen, IKRK und SWP</a:t>
            </a:r>
          </a:p>
        </p:txBody>
      </p:sp>
      <p:sp>
        <p:nvSpPr>
          <p:cNvPr id="6" name="Rectangle 5"/>
          <p:cNvSpPr/>
          <p:nvPr/>
        </p:nvSpPr>
        <p:spPr>
          <a:xfrm>
            <a:off x="731520" y="1581912"/>
            <a:ext cx="5180990" cy="1920240"/>
          </a:xfrm>
          <a:prstGeom prst="rect">
            <a:avLst/>
          </a:prstGeom>
          <a:solidFill>
            <a:srgbClr val="FFFFFF"/>
          </a:solidFill>
          <a:ln w="889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50976" y="1792224"/>
            <a:ext cx="4736592" cy="640080"/>
          </a:xfrm>
          <a:prstGeom prst="rect">
            <a:avLst/>
          </a:prstGeom>
          <a:noFill/>
        </p:spPr>
        <p:txBody>
          <a:bodyPr wrap="square" lIns="0" rIns="0" tIns="0" bIns="0">
            <a:spAutoFit/>
          </a:bodyPr>
          <a:lstStyle/>
          <a:p>
            <a:pPr algn="l">
              <a:lnSpc>
                <a:spcPct val="112000"/>
              </a:lnSpc>
              <a:spcAft>
                <a:spcPts val="500"/>
              </a:spcAft>
              <a:defRPr sz="1800" b="1">
                <a:solidFill>
                  <a:srgbClr val="0F172A"/>
                </a:solidFill>
                <a:latin typeface="DejaVu Sans"/>
              </a:defRPr>
            </a:pPr>
            <a:r>
              <a:rPr lang="de-DE"/>
              <a:t>Anreize für Verhandlungen</a:t>
            </a:r>
          </a:p>
        </p:txBody>
      </p:sp>
      <p:sp>
        <p:nvSpPr>
          <p:cNvPr id="8" name="TextBox 7"/>
          <p:cNvSpPr txBox="1"/>
          <p:nvPr/>
        </p:nvSpPr>
        <p:spPr>
          <a:xfrm>
            <a:off x="950976" y="2532888"/>
            <a:ext cx="4736592" cy="795528"/>
          </a:xfrm>
          <a:prstGeom prst="rect">
            <a:avLst/>
          </a:prstGeom>
          <a:noFill/>
        </p:spPr>
        <p:txBody>
          <a:bodyPr wrap="square" lIns="0" rIns="0" tIns="0" bIns="0">
            <a:spAutoFit/>
          </a:bodyPr>
          <a:lstStyle/>
          <a:p>
            <a:pPr algn="l">
              <a:lnSpc>
                <a:spcPct val="112000"/>
              </a:lnSpc>
              <a:spcAft>
                <a:spcPts val="500"/>
              </a:spcAft>
              <a:defRPr sz="1400" b="0">
                <a:solidFill>
                  <a:srgbClr val="475569"/>
                </a:solidFill>
                <a:latin typeface="DejaVu Sans"/>
              </a:defRPr>
            </a:pPr>
            <a:r>
              <a:rPr lang="de-DE"/>
              <a:t>Geiselabkommen als bisheriger Hebel; humanitäre Not, militärische Kosten und internationaler Druck</a:t>
            </a:r>
          </a:p>
        </p:txBody>
      </p:sp>
      <p:sp>
        <p:nvSpPr>
          <p:cNvPr id="9" name="Rectangle 8"/>
          <p:cNvSpPr/>
          <p:nvPr/>
        </p:nvSpPr>
        <p:spPr>
          <a:xfrm>
            <a:off x="6279184" y="1581912"/>
            <a:ext cx="5180990" cy="1920240"/>
          </a:xfrm>
          <a:prstGeom prst="rect">
            <a:avLst/>
          </a:prstGeom>
          <a:solidFill>
            <a:srgbClr val="FFFFFF"/>
          </a:solidFill>
          <a:ln w="889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498640" y="1792224"/>
            <a:ext cx="4736592" cy="640080"/>
          </a:xfrm>
          <a:prstGeom prst="rect">
            <a:avLst/>
          </a:prstGeom>
          <a:noFill/>
        </p:spPr>
        <p:txBody>
          <a:bodyPr wrap="square" lIns="0" rIns="0" tIns="0" bIns="0">
            <a:spAutoFit/>
          </a:bodyPr>
          <a:lstStyle/>
          <a:p>
            <a:pPr algn="l">
              <a:lnSpc>
                <a:spcPct val="112000"/>
              </a:lnSpc>
              <a:spcAft>
                <a:spcPts val="500"/>
              </a:spcAft>
              <a:defRPr sz="1800" b="1">
                <a:solidFill>
                  <a:srgbClr val="0F172A"/>
                </a:solidFill>
                <a:latin typeface="DejaVu Sans"/>
              </a:defRPr>
            </a:pPr>
            <a:r>
              <a:rPr lang="de-DE"/>
              <a:t>Überprüfbare Vereinbarungen</a:t>
            </a:r>
          </a:p>
        </p:txBody>
      </p:sp>
      <p:sp>
        <p:nvSpPr>
          <p:cNvPr id="11" name="TextBox 10"/>
          <p:cNvSpPr txBox="1"/>
          <p:nvPr/>
        </p:nvSpPr>
        <p:spPr>
          <a:xfrm>
            <a:off x="6498640" y="2532888"/>
            <a:ext cx="4736592" cy="795528"/>
          </a:xfrm>
          <a:prstGeom prst="rect">
            <a:avLst/>
          </a:prstGeom>
          <a:noFill/>
        </p:spPr>
        <p:txBody>
          <a:bodyPr wrap="square" lIns="0" rIns="0" tIns="0" bIns="0">
            <a:spAutoFit/>
          </a:bodyPr>
          <a:lstStyle/>
          <a:p>
            <a:pPr algn="l">
              <a:lnSpc>
                <a:spcPct val="112000"/>
              </a:lnSpc>
              <a:spcAft>
                <a:spcPts val="500"/>
              </a:spcAft>
              <a:defRPr sz="1400" b="0">
                <a:solidFill>
                  <a:srgbClr val="475569"/>
                </a:solidFill>
                <a:latin typeface="DejaVu Sans"/>
              </a:defRPr>
            </a:pPr>
            <a:r>
              <a:rPr lang="de-DE"/>
              <a:t>Verlässliche Waffenruhe, Schutz von Zivilisten, Hilfe und überprüfte Sicherheitszusagen</a:t>
            </a:r>
          </a:p>
        </p:txBody>
      </p:sp>
      <p:sp>
        <p:nvSpPr>
          <p:cNvPr id="12" name="Rectangle 11"/>
          <p:cNvSpPr/>
          <p:nvPr/>
        </p:nvSpPr>
        <p:spPr>
          <a:xfrm>
            <a:off x="731520" y="3758184"/>
            <a:ext cx="5180990" cy="1920240"/>
          </a:xfrm>
          <a:prstGeom prst="rect">
            <a:avLst/>
          </a:prstGeom>
          <a:solidFill>
            <a:srgbClr val="FFFFFF"/>
          </a:solidFill>
          <a:ln w="889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50976" y="3968496"/>
            <a:ext cx="4736592" cy="640080"/>
          </a:xfrm>
          <a:prstGeom prst="rect">
            <a:avLst/>
          </a:prstGeom>
          <a:noFill/>
        </p:spPr>
        <p:txBody>
          <a:bodyPr wrap="square" lIns="0" rIns="0" tIns="0" bIns="0">
            <a:spAutoFit/>
          </a:bodyPr>
          <a:lstStyle/>
          <a:p>
            <a:pPr algn="l">
              <a:lnSpc>
                <a:spcPct val="112000"/>
              </a:lnSpc>
              <a:spcAft>
                <a:spcPts val="500"/>
              </a:spcAft>
              <a:defRPr sz="1800" b="1">
                <a:solidFill>
                  <a:srgbClr val="0F172A"/>
                </a:solidFill>
                <a:latin typeface="DejaVu Sans"/>
              </a:defRPr>
            </a:pPr>
            <a:r>
              <a:rPr lang="de-DE"/>
              <a:t>Politische Perspektive</a:t>
            </a:r>
          </a:p>
        </p:txBody>
      </p:sp>
      <p:sp>
        <p:nvSpPr>
          <p:cNvPr id="14" name="TextBox 13"/>
          <p:cNvSpPr txBox="1"/>
          <p:nvPr/>
        </p:nvSpPr>
        <p:spPr>
          <a:xfrm>
            <a:off x="950976" y="4709160"/>
            <a:ext cx="4736592" cy="795528"/>
          </a:xfrm>
          <a:prstGeom prst="rect">
            <a:avLst/>
          </a:prstGeom>
          <a:noFill/>
        </p:spPr>
        <p:txBody>
          <a:bodyPr wrap="square" lIns="0" rIns="0" tIns="0" bIns="0">
            <a:spAutoFit/>
          </a:bodyPr>
          <a:lstStyle/>
          <a:p>
            <a:pPr algn="l">
              <a:lnSpc>
                <a:spcPct val="112000"/>
              </a:lnSpc>
              <a:spcAft>
                <a:spcPts val="500"/>
              </a:spcAft>
              <a:defRPr sz="1400" b="0">
                <a:solidFill>
                  <a:srgbClr val="475569"/>
                </a:solidFill>
                <a:latin typeface="DejaVu Sans"/>
              </a:defRPr>
            </a:pPr>
            <a:r>
              <a:rPr lang="de-DE"/>
              <a:t>Legitime palästinensische Vertretung, Wiederaufbau und Sicherheit für Israel; Perspektive zweier Staaten</a:t>
            </a:r>
          </a:p>
        </p:txBody>
      </p:sp>
      <p:sp>
        <p:nvSpPr>
          <p:cNvPr id="15" name="Rectangle 14"/>
          <p:cNvSpPr/>
          <p:nvPr/>
        </p:nvSpPr>
        <p:spPr>
          <a:xfrm>
            <a:off x="6279184" y="3758184"/>
            <a:ext cx="5180990" cy="1920240"/>
          </a:xfrm>
          <a:prstGeom prst="rect">
            <a:avLst/>
          </a:prstGeom>
          <a:solidFill>
            <a:srgbClr val="FFFFFF"/>
          </a:solidFill>
          <a:ln w="889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98640" y="3968496"/>
            <a:ext cx="4736592" cy="640080"/>
          </a:xfrm>
          <a:prstGeom prst="rect">
            <a:avLst/>
          </a:prstGeom>
          <a:noFill/>
        </p:spPr>
        <p:txBody>
          <a:bodyPr wrap="square" lIns="0" rIns="0" tIns="0" bIns="0">
            <a:spAutoFit/>
          </a:bodyPr>
          <a:lstStyle/>
          <a:p>
            <a:pPr algn="l">
              <a:lnSpc>
                <a:spcPct val="112000"/>
              </a:lnSpc>
              <a:spcAft>
                <a:spcPts val="500"/>
              </a:spcAft>
              <a:defRPr sz="1800" b="1">
                <a:solidFill>
                  <a:srgbClr val="0F172A"/>
                </a:solidFill>
                <a:latin typeface="DejaVu Sans"/>
              </a:defRPr>
            </a:pPr>
            <a:r>
              <a:rPr lang="de-DE"/>
              <a:t>Zivilgesellschaft</a:t>
            </a:r>
          </a:p>
        </p:txBody>
      </p:sp>
      <p:sp>
        <p:nvSpPr>
          <p:cNvPr id="17" name="TextBox 16"/>
          <p:cNvSpPr txBox="1"/>
          <p:nvPr/>
        </p:nvSpPr>
        <p:spPr>
          <a:xfrm>
            <a:off x="6498640" y="4709160"/>
            <a:ext cx="4736592" cy="795528"/>
          </a:xfrm>
          <a:prstGeom prst="rect">
            <a:avLst/>
          </a:prstGeom>
          <a:noFill/>
        </p:spPr>
        <p:txBody>
          <a:bodyPr wrap="square" lIns="0" rIns="0" tIns="0" bIns="0">
            <a:spAutoFit/>
          </a:bodyPr>
          <a:lstStyle/>
          <a:p>
            <a:pPr algn="l">
              <a:lnSpc>
                <a:spcPct val="112000"/>
              </a:lnSpc>
              <a:spcAft>
                <a:spcPts val="500"/>
              </a:spcAft>
              <a:defRPr sz="1400" b="0">
                <a:solidFill>
                  <a:srgbClr val="475569"/>
                </a:solidFill>
                <a:latin typeface="DejaVu Sans"/>
              </a:defRPr>
            </a:pPr>
            <a:r>
              <a:rPr lang="de-DE"/>
              <a:t>Opferverbände, Friedensinitiativen und lokale Hilfsorganisationen einbeziehen; Gewalt und Entmenschlichung zurückweisen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566928"/>
            <a:ext cx="10725912" cy="676656"/>
          </a:xfrm>
          <a:prstGeom prst="rect">
            <a:avLst/>
          </a:prstGeom>
          <a:noFill/>
        </p:spPr>
        <p:txBody>
          <a:bodyPr wrap="square" lIns="0" rIns="0" tIns="0" bIns="0">
            <a:spAutoFit/>
          </a:bodyPr>
          <a:lstStyle/>
          <a:p>
            <a:pPr algn="l">
              <a:lnSpc>
                <a:spcPct val="112000"/>
              </a:lnSpc>
              <a:spcAft>
                <a:spcPts val="500"/>
              </a:spcAft>
              <a:defRPr sz="3000" b="1">
                <a:solidFill>
                  <a:srgbClr val="0F172A"/>
                </a:solidFill>
                <a:latin typeface="DejaVu Sans"/>
              </a:defRPr>
            </a:pPr>
            <a:r>
              <a:rPr lang="de-DE"/>
              <a:t>Unser Urteil: mehr als eine Waffenruhe</a:t>
            </a:r>
          </a:p>
        </p:txBody>
      </p:sp>
      <p:sp>
        <p:nvSpPr>
          <p:cNvPr id="3" name="Rectangle 2"/>
          <p:cNvSpPr/>
          <p:nvPr/>
        </p:nvSpPr>
        <p:spPr>
          <a:xfrm>
            <a:off x="731520" y="6419088"/>
            <a:ext cx="10725912" cy="11887"/>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31520" y="6492240"/>
            <a:ext cx="2834640" cy="201168"/>
          </a:xfrm>
          <a:prstGeom prst="rect">
            <a:avLst/>
          </a:prstGeom>
          <a:noFill/>
        </p:spPr>
        <p:txBody>
          <a:bodyPr wrap="square" lIns="0" rIns="0" tIns="0" bIns="0">
            <a:spAutoFit/>
          </a:bodyPr>
          <a:lstStyle/>
          <a:p>
            <a:pPr algn="l">
              <a:lnSpc>
                <a:spcPct val="112000"/>
              </a:lnSpc>
              <a:spcAft>
                <a:spcPts val="500"/>
              </a:spcAft>
              <a:defRPr sz="1000" b="0">
                <a:solidFill>
                  <a:srgbClr val="475569"/>
                </a:solidFill>
                <a:latin typeface="DejaVu Sans"/>
              </a:defRPr>
            </a:pPr>
            <a:r>
              <a:rPr lang="de-DE"/>
              <a:t>[Name 3]  /  Folie 11</a:t>
            </a:r>
          </a:p>
        </p:txBody>
      </p:sp>
      <p:sp>
        <p:nvSpPr>
          <p:cNvPr id="5" name="TextBox 4"/>
          <p:cNvSpPr txBox="1"/>
          <p:nvPr/>
        </p:nvSpPr>
        <p:spPr>
          <a:xfrm>
            <a:off x="3657600" y="6492240"/>
            <a:ext cx="7799831" cy="201168"/>
          </a:xfrm>
          <a:prstGeom prst="rect">
            <a:avLst/>
          </a:prstGeom>
          <a:noFill/>
        </p:spPr>
        <p:txBody>
          <a:bodyPr wrap="square" lIns="0" rIns="0" tIns="0" bIns="0">
            <a:spAutoFit/>
          </a:bodyPr>
          <a:lstStyle/>
          <a:p>
            <a:pPr algn="r">
              <a:lnSpc>
                <a:spcPct val="112000"/>
              </a:lnSpc>
              <a:spcAft>
                <a:spcPts val="500"/>
              </a:spcAft>
              <a:defRPr sz="900" b="0">
                <a:solidFill>
                  <a:srgbClr val="475569"/>
                </a:solidFill>
                <a:latin typeface="DejaVu Sans"/>
              </a:defRPr>
            </a:pPr>
            <a:r>
              <a:rPr lang="de-DE"/>
              <a:t>Eigene Bewertung nach Galtung und Senghaas / Lagebericht: Reuters, 12.10.2026</a:t>
            </a:r>
          </a:p>
        </p:txBody>
      </p:sp>
      <p:sp>
        <p:nvSpPr>
          <p:cNvPr id="6" name="TextBox 5"/>
          <p:cNvSpPr txBox="1"/>
          <p:nvPr/>
        </p:nvSpPr>
        <p:spPr>
          <a:xfrm>
            <a:off x="731520" y="1435608"/>
            <a:ext cx="5074920" cy="384048"/>
          </a:xfrm>
          <a:prstGeom prst="rect">
            <a:avLst/>
          </a:prstGeom>
          <a:noFill/>
        </p:spPr>
        <p:txBody>
          <a:bodyPr wrap="square" lIns="0" rIns="0" tIns="0" bIns="0">
            <a:spAutoFit/>
          </a:bodyPr>
          <a:lstStyle/>
          <a:p>
            <a:pPr algn="l">
              <a:lnSpc>
                <a:spcPct val="112000"/>
              </a:lnSpc>
              <a:spcAft>
                <a:spcPts val="500"/>
              </a:spcAft>
              <a:defRPr sz="2100" b="1">
                <a:solidFill>
                  <a:srgbClr val="2563EB"/>
                </a:solidFill>
                <a:latin typeface="DejaVu Sans"/>
              </a:defRPr>
            </a:pPr>
            <a:r>
              <a:rPr lang="de-DE"/>
              <a:t>Galtung: Maßstab Frieden</a:t>
            </a:r>
          </a:p>
        </p:txBody>
      </p:sp>
      <p:sp>
        <p:nvSpPr>
          <p:cNvPr id="7" name="TextBox 6"/>
          <p:cNvSpPr txBox="1"/>
          <p:nvPr/>
        </p:nvSpPr>
        <p:spPr>
          <a:xfrm>
            <a:off x="731520" y="2039112"/>
            <a:ext cx="5074920" cy="347472"/>
          </a:xfrm>
          <a:prstGeom prst="rect">
            <a:avLst/>
          </a:prstGeom>
          <a:noFill/>
        </p:spPr>
        <p:txBody>
          <a:bodyPr wrap="square" lIns="0" rIns="0" tIns="0" bIns="0">
            <a:spAutoFit/>
          </a:bodyPr>
          <a:lstStyle/>
          <a:p>
            <a:pPr algn="l">
              <a:lnSpc>
                <a:spcPct val="112000"/>
              </a:lnSpc>
              <a:spcAft>
                <a:spcPts val="500"/>
              </a:spcAft>
              <a:defRPr sz="1900" b="1">
                <a:solidFill>
                  <a:srgbClr val="0F172A"/>
                </a:solidFill>
                <a:latin typeface="DejaVu Sans"/>
              </a:defRPr>
            </a:pPr>
            <a:r>
              <a:rPr lang="de-DE"/>
              <a:t>Negativer Frieden</a:t>
            </a:r>
          </a:p>
        </p:txBody>
      </p:sp>
      <p:sp>
        <p:nvSpPr>
          <p:cNvPr id="8" name="TextBox 7"/>
          <p:cNvSpPr txBox="1"/>
          <p:nvPr/>
        </p:nvSpPr>
        <p:spPr>
          <a:xfrm>
            <a:off x="731520" y="2560320"/>
            <a:ext cx="5010912" cy="768096"/>
          </a:xfrm>
          <a:prstGeom prst="rect">
            <a:avLst/>
          </a:prstGeom>
          <a:noFill/>
        </p:spPr>
        <p:txBody>
          <a:bodyPr wrap="square" lIns="0" rIns="0" tIns="0" bIns="0">
            <a:spAutoFit/>
          </a:bodyPr>
          <a:lstStyle/>
          <a:p>
            <a:pPr algn="l">
              <a:lnSpc>
                <a:spcPct val="112000"/>
              </a:lnSpc>
              <a:spcAft>
                <a:spcPts val="500"/>
              </a:spcAft>
              <a:defRPr sz="1700" b="0">
                <a:solidFill>
                  <a:srgbClr val="475569"/>
                </a:solidFill>
                <a:latin typeface="DejaVu Sans"/>
              </a:defRPr>
            </a:pPr>
            <a:r>
              <a:rPr lang="de-DE"/>
              <a:t>Direkte Gewalt endet. Eine verletzte Waffenruhe erfüllt dieses Ziel nur unvollständig.</a:t>
            </a:r>
          </a:p>
        </p:txBody>
      </p:sp>
      <p:sp>
        <p:nvSpPr>
          <p:cNvPr id="9" name="TextBox 8"/>
          <p:cNvSpPr txBox="1"/>
          <p:nvPr/>
        </p:nvSpPr>
        <p:spPr>
          <a:xfrm>
            <a:off x="731520" y="3566160"/>
            <a:ext cx="5074920" cy="356616"/>
          </a:xfrm>
          <a:prstGeom prst="rect">
            <a:avLst/>
          </a:prstGeom>
          <a:noFill/>
        </p:spPr>
        <p:txBody>
          <a:bodyPr wrap="square" lIns="0" rIns="0" tIns="0" bIns="0">
            <a:spAutoFit/>
          </a:bodyPr>
          <a:lstStyle/>
          <a:p>
            <a:pPr algn="l">
              <a:lnSpc>
                <a:spcPct val="112000"/>
              </a:lnSpc>
              <a:spcAft>
                <a:spcPts val="500"/>
              </a:spcAft>
              <a:defRPr sz="1900" b="1">
                <a:solidFill>
                  <a:srgbClr val="0F172A"/>
                </a:solidFill>
                <a:latin typeface="DejaVu Sans"/>
              </a:defRPr>
            </a:pPr>
            <a:r>
              <a:rPr lang="de-DE"/>
              <a:t>Positiver Frieden</a:t>
            </a:r>
          </a:p>
        </p:txBody>
      </p:sp>
      <p:sp>
        <p:nvSpPr>
          <p:cNvPr id="10" name="TextBox 9"/>
          <p:cNvSpPr txBox="1"/>
          <p:nvPr/>
        </p:nvSpPr>
        <p:spPr>
          <a:xfrm>
            <a:off x="731520" y="4078224"/>
            <a:ext cx="5010912" cy="768096"/>
          </a:xfrm>
          <a:prstGeom prst="rect">
            <a:avLst/>
          </a:prstGeom>
          <a:noFill/>
        </p:spPr>
        <p:txBody>
          <a:bodyPr wrap="square" lIns="0" rIns="0" tIns="0" bIns="0">
            <a:spAutoFit/>
          </a:bodyPr>
          <a:lstStyle/>
          <a:p>
            <a:pPr algn="l">
              <a:lnSpc>
                <a:spcPct val="112000"/>
              </a:lnSpc>
              <a:spcAft>
                <a:spcPts val="500"/>
              </a:spcAft>
              <a:defRPr sz="1700" b="0">
                <a:solidFill>
                  <a:srgbClr val="475569"/>
                </a:solidFill>
                <a:latin typeface="DejaVu Sans"/>
              </a:defRPr>
            </a:pPr>
            <a:r>
              <a:rPr lang="de-DE"/>
              <a:t>Sicherheit, Rechte und Selbstbestimmung; Abbau struktureller Gewalt.</a:t>
            </a:r>
          </a:p>
        </p:txBody>
      </p:sp>
      <p:sp>
        <p:nvSpPr>
          <p:cNvPr id="11" name="TextBox 10"/>
          <p:cNvSpPr txBox="1"/>
          <p:nvPr/>
        </p:nvSpPr>
        <p:spPr>
          <a:xfrm>
            <a:off x="6291072" y="1435608"/>
            <a:ext cx="5074920" cy="384048"/>
          </a:xfrm>
          <a:prstGeom prst="rect">
            <a:avLst/>
          </a:prstGeom>
          <a:noFill/>
        </p:spPr>
        <p:txBody>
          <a:bodyPr wrap="square" lIns="0" rIns="0" tIns="0" bIns="0">
            <a:spAutoFit/>
          </a:bodyPr>
          <a:lstStyle/>
          <a:p>
            <a:pPr algn="l">
              <a:lnSpc>
                <a:spcPct val="112000"/>
              </a:lnSpc>
              <a:spcAft>
                <a:spcPts val="500"/>
              </a:spcAft>
              <a:defRPr sz="2100" b="1">
                <a:solidFill>
                  <a:srgbClr val="2563EB"/>
                </a:solidFill>
                <a:latin typeface="DejaVu Sans"/>
              </a:defRPr>
            </a:pPr>
            <a:r>
              <a:rPr lang="de-DE"/>
              <a:t>Senghaas: offene Bedingungen</a:t>
            </a:r>
          </a:p>
        </p:txBody>
      </p:sp>
      <p:sp>
        <p:nvSpPr>
          <p:cNvPr id="12" name="TextBox 11"/>
          <p:cNvSpPr txBox="1"/>
          <p:nvPr/>
        </p:nvSpPr>
        <p:spPr>
          <a:xfrm>
            <a:off x="6291072" y="2039112"/>
            <a:ext cx="5074920" cy="566928"/>
          </a:xfrm>
          <a:prstGeom prst="rect">
            <a:avLst/>
          </a:prstGeom>
          <a:noFill/>
        </p:spPr>
        <p:txBody>
          <a:bodyPr wrap="square" lIns="0" rIns="0" tIns="0" bIns="0">
            <a:spAutoFit/>
          </a:bodyPr>
          <a:lstStyle/>
          <a:p>
            <a:pPr algn="l">
              <a:lnSpc>
                <a:spcPct val="112000"/>
              </a:lnSpc>
              <a:spcAft>
                <a:spcPts val="500"/>
              </a:spcAft>
              <a:defRPr sz="1600" b="0">
                <a:solidFill>
                  <a:srgbClr val="475569"/>
                </a:solidFill>
                <a:latin typeface="DejaVu Sans"/>
              </a:defRPr>
            </a:pPr>
            <a:r>
              <a:rPr lang="de-DE"/>
              <a:t>Gewaltmonopol mit rechtsstaatlicher Kontrolle</a:t>
            </a:r>
          </a:p>
        </p:txBody>
      </p:sp>
      <p:sp>
        <p:nvSpPr>
          <p:cNvPr id="13" name="TextBox 12"/>
          <p:cNvSpPr txBox="1"/>
          <p:nvPr/>
        </p:nvSpPr>
        <p:spPr>
          <a:xfrm>
            <a:off x="6291072" y="2715768"/>
            <a:ext cx="5074920" cy="566928"/>
          </a:xfrm>
          <a:prstGeom prst="rect">
            <a:avLst/>
          </a:prstGeom>
          <a:noFill/>
        </p:spPr>
        <p:txBody>
          <a:bodyPr wrap="square" lIns="0" rIns="0" tIns="0" bIns="0">
            <a:spAutoFit/>
          </a:bodyPr>
          <a:lstStyle/>
          <a:p>
            <a:pPr algn="l">
              <a:lnSpc>
                <a:spcPct val="112000"/>
              </a:lnSpc>
              <a:spcAft>
                <a:spcPts val="500"/>
              </a:spcAft>
              <a:defRPr sz="1600" b="0">
                <a:solidFill>
                  <a:srgbClr val="475569"/>
                </a:solidFill>
                <a:latin typeface="DejaVu Sans"/>
              </a:defRPr>
            </a:pPr>
            <a:r>
              <a:rPr lang="de-DE"/>
              <a:t>Rechtsstaatlichkeit und politische Teilhabe</a:t>
            </a:r>
          </a:p>
        </p:txBody>
      </p:sp>
      <p:sp>
        <p:nvSpPr>
          <p:cNvPr id="14" name="TextBox 13"/>
          <p:cNvSpPr txBox="1"/>
          <p:nvPr/>
        </p:nvSpPr>
        <p:spPr>
          <a:xfrm>
            <a:off x="6291072" y="3392424"/>
            <a:ext cx="5074920" cy="566928"/>
          </a:xfrm>
          <a:prstGeom prst="rect">
            <a:avLst/>
          </a:prstGeom>
          <a:noFill/>
        </p:spPr>
        <p:txBody>
          <a:bodyPr wrap="square" lIns="0" rIns="0" tIns="0" bIns="0">
            <a:spAutoFit/>
          </a:bodyPr>
          <a:lstStyle/>
          <a:p>
            <a:pPr algn="l">
              <a:lnSpc>
                <a:spcPct val="112000"/>
              </a:lnSpc>
              <a:spcAft>
                <a:spcPts val="500"/>
              </a:spcAft>
              <a:defRPr sz="1600" b="0">
                <a:solidFill>
                  <a:srgbClr val="475569"/>
                </a:solidFill>
                <a:latin typeface="DejaVu Sans"/>
              </a:defRPr>
            </a:pPr>
            <a:r>
              <a:rPr lang="de-DE"/>
              <a:t>Soziale Gerechtigkeit und Wiederaufbau</a:t>
            </a:r>
          </a:p>
        </p:txBody>
      </p:sp>
      <p:sp>
        <p:nvSpPr>
          <p:cNvPr id="15" name="TextBox 14"/>
          <p:cNvSpPr txBox="1"/>
          <p:nvPr/>
        </p:nvSpPr>
        <p:spPr>
          <a:xfrm>
            <a:off x="6291072" y="4069079"/>
            <a:ext cx="5074920" cy="566928"/>
          </a:xfrm>
          <a:prstGeom prst="rect">
            <a:avLst/>
          </a:prstGeom>
          <a:noFill/>
        </p:spPr>
        <p:txBody>
          <a:bodyPr wrap="square" lIns="0" rIns="0" tIns="0" bIns="0">
            <a:spAutoFit/>
          </a:bodyPr>
          <a:lstStyle/>
          <a:p>
            <a:pPr algn="l">
              <a:lnSpc>
                <a:spcPct val="112000"/>
              </a:lnSpc>
              <a:spcAft>
                <a:spcPts val="500"/>
              </a:spcAft>
              <a:defRPr sz="1600" b="0">
                <a:solidFill>
                  <a:srgbClr val="475569"/>
                </a:solidFill>
                <a:latin typeface="DejaVu Sans"/>
              </a:defRPr>
            </a:pPr>
            <a:r>
              <a:rPr lang="de-DE"/>
              <a:t>Konfliktkultur, Interdependenz und Affektkontrolle</a:t>
            </a:r>
          </a:p>
        </p:txBody>
      </p:sp>
      <p:sp>
        <p:nvSpPr>
          <p:cNvPr id="16" name="Rectangle 15"/>
          <p:cNvSpPr/>
          <p:nvPr/>
        </p:nvSpPr>
        <p:spPr>
          <a:xfrm>
            <a:off x="731520" y="5367528"/>
            <a:ext cx="10725912" cy="804672"/>
          </a:xfrm>
          <a:prstGeom prst="rect">
            <a:avLst/>
          </a:prstGeom>
          <a:solidFill>
            <a:srgbClr val="FFFFFF"/>
          </a:solidFill>
          <a:ln w="889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50976" y="5541264"/>
            <a:ext cx="10277856" cy="521207"/>
          </a:xfrm>
          <a:prstGeom prst="rect">
            <a:avLst/>
          </a:prstGeom>
          <a:noFill/>
        </p:spPr>
        <p:txBody>
          <a:bodyPr wrap="square" lIns="0" rIns="0" tIns="0" bIns="0">
            <a:spAutoFit/>
          </a:bodyPr>
          <a:lstStyle/>
          <a:p>
            <a:pPr algn="l">
              <a:lnSpc>
                <a:spcPct val="112000"/>
              </a:lnSpc>
              <a:spcAft>
                <a:spcPts val="500"/>
              </a:spcAft>
              <a:defRPr sz="1600" b="1">
                <a:solidFill>
                  <a:srgbClr val="0F172A"/>
                </a:solidFill>
                <a:latin typeface="DejaVu Sans"/>
              </a:defRPr>
            </a:pPr>
            <a:r>
              <a:rPr lang="de-DE"/>
              <a:t>Unser Urteil: Resolution 2803 bietet einen Übergangsrahmen.</a:t>
            </a:r>
          </a:p>
          <a:p>
            <a:pPr algn="l">
              <a:lnSpc>
                <a:spcPct val="112000"/>
              </a:lnSpc>
              <a:spcAft>
                <a:spcPts val="500"/>
              </a:spcAft>
              <a:defRPr sz="1600" b="1">
                <a:solidFill>
                  <a:srgbClr val="0F172A"/>
                </a:solidFill>
                <a:latin typeface="DejaVu Sans"/>
              </a:defRPr>
            </a:pPr>
            <a:r>
              <a:rPr lang="de-DE"/>
              <a:t>Dauerhafter Frieden braucht gleiche Rechte und verlässlichen Schutz für alle.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566928"/>
            <a:ext cx="10725912" cy="676656"/>
          </a:xfrm>
          <a:prstGeom prst="rect">
            <a:avLst/>
          </a:prstGeom>
          <a:noFill/>
        </p:spPr>
        <p:txBody>
          <a:bodyPr wrap="square" lIns="0" rIns="0" tIns="0" bIns="0">
            <a:spAutoFit/>
          </a:bodyPr>
          <a:lstStyle/>
          <a:p>
            <a:pPr algn="l">
              <a:lnSpc>
                <a:spcPct val="112000"/>
              </a:lnSpc>
              <a:spcAft>
                <a:spcPts val="500"/>
              </a:spcAft>
              <a:defRPr sz="3000" b="1">
                <a:solidFill>
                  <a:srgbClr val="0F172A"/>
                </a:solidFill>
                <a:latin typeface="DejaVu Sans"/>
              </a:defRPr>
            </a:pPr>
            <a:r>
              <a:rPr lang="de-DE"/>
              <a:t>Quellen und Nachweise</a:t>
            </a:r>
          </a:p>
        </p:txBody>
      </p:sp>
      <p:sp>
        <p:nvSpPr>
          <p:cNvPr id="3" name="Rectangle 2"/>
          <p:cNvSpPr/>
          <p:nvPr/>
        </p:nvSpPr>
        <p:spPr>
          <a:xfrm>
            <a:off x="731520" y="6419088"/>
            <a:ext cx="10725912" cy="11887"/>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31520" y="6492240"/>
            <a:ext cx="2834640" cy="201168"/>
          </a:xfrm>
          <a:prstGeom prst="rect">
            <a:avLst/>
          </a:prstGeom>
          <a:noFill/>
        </p:spPr>
        <p:txBody>
          <a:bodyPr wrap="square" lIns="0" rIns="0" tIns="0" bIns="0">
            <a:spAutoFit/>
          </a:bodyPr>
          <a:lstStyle/>
          <a:p>
            <a:pPr algn="l">
              <a:lnSpc>
                <a:spcPct val="112000"/>
              </a:lnSpc>
              <a:spcAft>
                <a:spcPts val="500"/>
              </a:spcAft>
              <a:defRPr sz="1000" b="0">
                <a:solidFill>
                  <a:srgbClr val="475569"/>
                </a:solidFill>
                <a:latin typeface="DejaVu Sans"/>
              </a:defRPr>
            </a:pPr>
            <a:r>
              <a:rPr lang="de-DE"/>
              <a:t>[Name 3]  /  Folie 12</a:t>
            </a:r>
          </a:p>
        </p:txBody>
      </p:sp>
      <p:sp>
        <p:nvSpPr>
          <p:cNvPr id="5" name="TextBox 4"/>
          <p:cNvSpPr txBox="1"/>
          <p:nvPr/>
        </p:nvSpPr>
        <p:spPr>
          <a:xfrm>
            <a:off x="3657600" y="6492240"/>
            <a:ext cx="7799831" cy="201168"/>
          </a:xfrm>
          <a:prstGeom prst="rect">
            <a:avLst/>
          </a:prstGeom>
          <a:noFill/>
        </p:spPr>
        <p:txBody>
          <a:bodyPr wrap="square" lIns="0" rIns="0" tIns="0" bIns="0">
            <a:spAutoFit/>
          </a:bodyPr>
          <a:lstStyle/>
          <a:p>
            <a:pPr algn="r">
              <a:lnSpc>
                <a:spcPct val="112000"/>
              </a:lnSpc>
              <a:spcAft>
                <a:spcPts val="500"/>
              </a:spcAft>
              <a:defRPr sz="900" b="0">
                <a:solidFill>
                  <a:srgbClr val="475569"/>
                </a:solidFill>
                <a:latin typeface="DejaVu Sans"/>
              </a:defRPr>
            </a:pPr>
            <a:r>
              <a:rPr lang="de-DE"/>
              <a:t>[Zugriff am: 14.10.2026] / Ergänzende Belege in den Sprechernotizen</a:t>
            </a:r>
          </a:p>
        </p:txBody>
      </p:sp>
      <p:sp>
        <p:nvSpPr>
          <p:cNvPr id="6" name="TextBox 5"/>
          <p:cNvSpPr txBox="1"/>
          <p:nvPr/>
        </p:nvSpPr>
        <p:spPr>
          <a:xfrm>
            <a:off x="731520" y="1344168"/>
            <a:ext cx="10725912" cy="365760"/>
          </a:xfrm>
          <a:prstGeom prst="rect">
            <a:avLst/>
          </a:prstGeom>
          <a:noFill/>
        </p:spPr>
        <p:txBody>
          <a:bodyPr wrap="square" lIns="0" rIns="0" tIns="0" bIns="0">
            <a:spAutoFit/>
          </a:bodyPr>
          <a:lstStyle/>
          <a:p>
            <a:pPr algn="l">
              <a:lnSpc>
                <a:spcPct val="112000"/>
              </a:lnSpc>
              <a:spcAft>
                <a:spcPts val="500"/>
              </a:spcAft>
              <a:defRPr sz="1500" b="1">
                <a:solidFill>
                  <a:srgbClr val="2563EB"/>
                </a:solidFill>
                <a:latin typeface="DejaVu Sans"/>
              </a:defRPr>
            </a:pPr>
            <a:r>
              <a:rPr lang="de-DE"/>
              <a:t>Alle folgenden Quellen: [Zugriff am: 14.10.2026]</a:t>
            </a:r>
          </a:p>
        </p:txBody>
      </p:sp>
      <p:sp>
        <p:nvSpPr>
          <p:cNvPr id="7" name="TextBox 6"/>
          <p:cNvSpPr txBox="1"/>
          <p:nvPr/>
        </p:nvSpPr>
        <p:spPr>
          <a:xfrm>
            <a:off x="731520" y="1920240"/>
            <a:ext cx="5166360" cy="265176"/>
          </a:xfrm>
          <a:prstGeom prst="rect">
            <a:avLst/>
          </a:prstGeom>
          <a:noFill/>
        </p:spPr>
        <p:txBody>
          <a:bodyPr wrap="square" lIns="0" rIns="0" tIns="0" bIns="0">
            <a:spAutoFit/>
          </a:bodyPr>
          <a:lstStyle/>
          <a:p>
            <a:pPr algn="l">
              <a:lnSpc>
                <a:spcPct val="112000"/>
              </a:lnSpc>
              <a:spcAft>
                <a:spcPts val="500"/>
              </a:spcAft>
              <a:defRPr sz="1200" b="1">
                <a:solidFill>
                  <a:srgbClr val="0F172A"/>
                </a:solidFill>
                <a:latin typeface="DejaVu Sans"/>
              </a:defRPr>
            </a:pPr>
            <a:r>
              <a:rPr lang="de-DE"/>
              <a:t>UN-Sicherheitsrat: Resolutionen</a:t>
            </a:r>
          </a:p>
        </p:txBody>
      </p:sp>
      <p:sp>
        <p:nvSpPr>
          <p:cNvPr id="8" name="TextBox 7"/>
          <p:cNvSpPr txBox="1"/>
          <p:nvPr/>
        </p:nvSpPr>
        <p:spPr>
          <a:xfrm>
            <a:off x="731520" y="2221992"/>
            <a:ext cx="5166360" cy="438912"/>
          </a:xfrm>
          <a:prstGeom prst="rect">
            <a:avLst/>
          </a:prstGeom>
          <a:noFill/>
        </p:spPr>
        <p:txBody>
          <a:bodyPr wrap="square" lIns="0" rIns="0" tIns="0" bIns="0">
            <a:spAutoFit/>
          </a:bodyPr>
          <a:lstStyle/>
          <a:p>
            <a:pPr algn="l">
              <a:lnSpc>
                <a:spcPct val="112000"/>
              </a:lnSpc>
              <a:spcAft>
                <a:spcPts val="500"/>
              </a:spcAft>
              <a:defRPr sz="950" b="0">
                <a:solidFill>
                  <a:srgbClr val="475569"/>
                </a:solidFill>
                <a:latin typeface="DejaVu Sans"/>
              </a:defRPr>
            </a:pPr>
            <a:r>
              <a:rPr lang="de-DE">
                <a:hlinkClick r:id="rId2"/>
              </a:rPr>
              <a:t>https:/​/​main.un.org/​securitycouncil/​en/​content/​resolutions-​0</a:t>
            </a:r>
          </a:p>
        </p:txBody>
      </p:sp>
      <p:sp>
        <p:nvSpPr>
          <p:cNvPr id="9" name="TextBox 8"/>
          <p:cNvSpPr txBox="1"/>
          <p:nvPr/>
        </p:nvSpPr>
        <p:spPr>
          <a:xfrm>
            <a:off x="731520" y="2724912"/>
            <a:ext cx="5166360" cy="265176"/>
          </a:xfrm>
          <a:prstGeom prst="rect">
            <a:avLst/>
          </a:prstGeom>
          <a:noFill/>
        </p:spPr>
        <p:txBody>
          <a:bodyPr wrap="square" lIns="0" rIns="0" tIns="0" bIns="0">
            <a:spAutoFit/>
          </a:bodyPr>
          <a:lstStyle/>
          <a:p>
            <a:pPr algn="l">
              <a:lnSpc>
                <a:spcPct val="112000"/>
              </a:lnSpc>
              <a:spcAft>
                <a:spcPts val="500"/>
              </a:spcAft>
              <a:defRPr sz="1200" b="1">
                <a:solidFill>
                  <a:srgbClr val="0F172A"/>
                </a:solidFill>
                <a:latin typeface="DejaVu Sans"/>
              </a:defRPr>
            </a:pPr>
            <a:r>
              <a:rPr lang="de-DE"/>
              <a:t>2728 (2024): Wortlaut</a:t>
            </a:r>
          </a:p>
        </p:txBody>
      </p:sp>
      <p:sp>
        <p:nvSpPr>
          <p:cNvPr id="10" name="TextBox 9"/>
          <p:cNvSpPr txBox="1"/>
          <p:nvPr/>
        </p:nvSpPr>
        <p:spPr>
          <a:xfrm>
            <a:off x="731520" y="3026664"/>
            <a:ext cx="5166360" cy="438912"/>
          </a:xfrm>
          <a:prstGeom prst="rect">
            <a:avLst/>
          </a:prstGeom>
          <a:noFill/>
        </p:spPr>
        <p:txBody>
          <a:bodyPr wrap="square" lIns="0" rIns="0" tIns="0" bIns="0">
            <a:spAutoFit/>
          </a:bodyPr>
          <a:lstStyle/>
          <a:p>
            <a:pPr algn="l">
              <a:lnSpc>
                <a:spcPct val="112000"/>
              </a:lnSpc>
              <a:spcAft>
                <a:spcPts val="500"/>
              </a:spcAft>
              <a:defRPr sz="950" b="0">
                <a:solidFill>
                  <a:srgbClr val="475569"/>
                </a:solidFill>
                <a:latin typeface="DejaVu Sans"/>
              </a:defRPr>
            </a:pPr>
            <a:r>
              <a:rPr lang="de-DE">
                <a:hlinkClick r:id="rId3"/>
              </a:rPr>
              <a:t>https:/​/​docs.un.org/​S/​RES/​2728(2024)</a:t>
            </a:r>
          </a:p>
        </p:txBody>
      </p:sp>
      <p:sp>
        <p:nvSpPr>
          <p:cNvPr id="11" name="TextBox 10"/>
          <p:cNvSpPr txBox="1"/>
          <p:nvPr/>
        </p:nvSpPr>
        <p:spPr>
          <a:xfrm>
            <a:off x="731520" y="3529584"/>
            <a:ext cx="5166360" cy="265176"/>
          </a:xfrm>
          <a:prstGeom prst="rect">
            <a:avLst/>
          </a:prstGeom>
          <a:noFill/>
        </p:spPr>
        <p:txBody>
          <a:bodyPr wrap="square" lIns="0" rIns="0" tIns="0" bIns="0">
            <a:spAutoFit/>
          </a:bodyPr>
          <a:lstStyle/>
          <a:p>
            <a:pPr algn="l">
              <a:lnSpc>
                <a:spcPct val="112000"/>
              </a:lnSpc>
              <a:spcAft>
                <a:spcPts val="500"/>
              </a:spcAft>
              <a:defRPr sz="1200" b="1">
                <a:solidFill>
                  <a:srgbClr val="0F172A"/>
                </a:solidFill>
                <a:latin typeface="DejaVu Sans"/>
              </a:defRPr>
            </a:pPr>
            <a:r>
              <a:rPr lang="de-DE"/>
              <a:t>2735 (2024): Wortlaut</a:t>
            </a:r>
          </a:p>
        </p:txBody>
      </p:sp>
      <p:sp>
        <p:nvSpPr>
          <p:cNvPr id="12" name="TextBox 11"/>
          <p:cNvSpPr txBox="1"/>
          <p:nvPr/>
        </p:nvSpPr>
        <p:spPr>
          <a:xfrm>
            <a:off x="731520" y="3831336"/>
            <a:ext cx="5166360" cy="438912"/>
          </a:xfrm>
          <a:prstGeom prst="rect">
            <a:avLst/>
          </a:prstGeom>
          <a:noFill/>
        </p:spPr>
        <p:txBody>
          <a:bodyPr wrap="square" lIns="0" rIns="0" tIns="0" bIns="0">
            <a:spAutoFit/>
          </a:bodyPr>
          <a:lstStyle/>
          <a:p>
            <a:pPr algn="l">
              <a:lnSpc>
                <a:spcPct val="112000"/>
              </a:lnSpc>
              <a:spcAft>
                <a:spcPts val="500"/>
              </a:spcAft>
              <a:defRPr sz="950" b="0">
                <a:solidFill>
                  <a:srgbClr val="475569"/>
                </a:solidFill>
                <a:latin typeface="DejaVu Sans"/>
              </a:defRPr>
            </a:pPr>
            <a:r>
              <a:rPr lang="de-DE">
                <a:hlinkClick r:id="rId4"/>
              </a:rPr>
              <a:t>https:/​/​docs.un.org/​S/​RES/​2735(2024)</a:t>
            </a:r>
          </a:p>
        </p:txBody>
      </p:sp>
      <p:sp>
        <p:nvSpPr>
          <p:cNvPr id="13" name="TextBox 12"/>
          <p:cNvSpPr txBox="1"/>
          <p:nvPr/>
        </p:nvSpPr>
        <p:spPr>
          <a:xfrm>
            <a:off x="731520" y="4334256"/>
            <a:ext cx="5166360" cy="265176"/>
          </a:xfrm>
          <a:prstGeom prst="rect">
            <a:avLst/>
          </a:prstGeom>
          <a:noFill/>
        </p:spPr>
        <p:txBody>
          <a:bodyPr wrap="square" lIns="0" rIns="0" tIns="0" bIns="0">
            <a:spAutoFit/>
          </a:bodyPr>
          <a:lstStyle/>
          <a:p>
            <a:pPr algn="l">
              <a:lnSpc>
                <a:spcPct val="112000"/>
              </a:lnSpc>
              <a:spcAft>
                <a:spcPts val="500"/>
              </a:spcAft>
              <a:defRPr sz="1200" b="1">
                <a:solidFill>
                  <a:srgbClr val="0F172A"/>
                </a:solidFill>
                <a:latin typeface="DejaVu Sans"/>
              </a:defRPr>
            </a:pPr>
            <a:r>
              <a:rPr lang="de-DE"/>
              <a:t>2803 (2025): Dokument und Abstimmung</a:t>
            </a:r>
          </a:p>
        </p:txBody>
      </p:sp>
      <p:sp>
        <p:nvSpPr>
          <p:cNvPr id="14" name="TextBox 13"/>
          <p:cNvSpPr txBox="1"/>
          <p:nvPr/>
        </p:nvSpPr>
        <p:spPr>
          <a:xfrm>
            <a:off x="731520" y="4636008"/>
            <a:ext cx="5166360" cy="438912"/>
          </a:xfrm>
          <a:prstGeom prst="rect">
            <a:avLst/>
          </a:prstGeom>
          <a:noFill/>
        </p:spPr>
        <p:txBody>
          <a:bodyPr wrap="square" lIns="0" rIns="0" tIns="0" bIns="0">
            <a:spAutoFit/>
          </a:bodyPr>
          <a:lstStyle/>
          <a:p>
            <a:pPr algn="l">
              <a:lnSpc>
                <a:spcPct val="112000"/>
              </a:lnSpc>
              <a:spcAft>
                <a:spcPts val="500"/>
              </a:spcAft>
              <a:defRPr sz="950" b="0">
                <a:solidFill>
                  <a:srgbClr val="475569"/>
                </a:solidFill>
                <a:latin typeface="DejaVu Sans"/>
              </a:defRPr>
            </a:pPr>
            <a:r>
              <a:rPr lang="de-DE">
                <a:hlinkClick r:id="rId5"/>
              </a:rPr>
              <a:t>https:/​/​digitallibrary.un.org/​record/​4093207</a:t>
            </a:r>
          </a:p>
        </p:txBody>
      </p:sp>
      <p:sp>
        <p:nvSpPr>
          <p:cNvPr id="15" name="TextBox 14"/>
          <p:cNvSpPr txBox="1"/>
          <p:nvPr/>
        </p:nvSpPr>
        <p:spPr>
          <a:xfrm>
            <a:off x="731520" y="5138928"/>
            <a:ext cx="5166360" cy="265176"/>
          </a:xfrm>
          <a:prstGeom prst="rect">
            <a:avLst/>
          </a:prstGeom>
          <a:noFill/>
        </p:spPr>
        <p:txBody>
          <a:bodyPr wrap="square" lIns="0" rIns="0" tIns="0" bIns="0">
            <a:spAutoFit/>
          </a:bodyPr>
          <a:lstStyle/>
          <a:p>
            <a:pPr algn="l">
              <a:lnSpc>
                <a:spcPct val="112000"/>
              </a:lnSpc>
              <a:spcAft>
                <a:spcPts val="500"/>
              </a:spcAft>
              <a:defRPr sz="1200" b="1">
                <a:solidFill>
                  <a:srgbClr val="0F172A"/>
                </a:solidFill>
                <a:latin typeface="DejaVu Sans"/>
              </a:defRPr>
            </a:pPr>
            <a:r>
              <a:rPr lang="de-DE"/>
              <a:t>UNOSAT: Schadensanalyse, 08.07.2025</a:t>
            </a:r>
          </a:p>
        </p:txBody>
      </p:sp>
      <p:sp>
        <p:nvSpPr>
          <p:cNvPr id="16" name="TextBox 15"/>
          <p:cNvSpPr txBox="1"/>
          <p:nvPr/>
        </p:nvSpPr>
        <p:spPr>
          <a:xfrm>
            <a:off x="731520" y="5440680"/>
            <a:ext cx="5166360" cy="438912"/>
          </a:xfrm>
          <a:prstGeom prst="rect">
            <a:avLst/>
          </a:prstGeom>
          <a:noFill/>
        </p:spPr>
        <p:txBody>
          <a:bodyPr wrap="square" lIns="0" rIns="0" tIns="0" bIns="0">
            <a:spAutoFit/>
          </a:bodyPr>
          <a:lstStyle/>
          <a:p>
            <a:pPr algn="l">
              <a:lnSpc>
                <a:spcPct val="112000"/>
              </a:lnSpc>
              <a:spcAft>
                <a:spcPts val="500"/>
              </a:spcAft>
              <a:defRPr sz="950" b="0">
                <a:solidFill>
                  <a:srgbClr val="475569"/>
                </a:solidFill>
                <a:latin typeface="DejaVu Sans"/>
              </a:defRPr>
            </a:pPr>
            <a:r>
              <a:rPr lang="de-DE">
                <a:hlinkClick r:id="rId6"/>
              </a:rPr>
              <a:t>https:/​/​unosat.org/​products/​4165</a:t>
            </a:r>
          </a:p>
        </p:txBody>
      </p:sp>
      <p:sp>
        <p:nvSpPr>
          <p:cNvPr id="17" name="TextBox 16"/>
          <p:cNvSpPr txBox="1"/>
          <p:nvPr/>
        </p:nvSpPr>
        <p:spPr>
          <a:xfrm>
            <a:off x="6263640" y="1920240"/>
            <a:ext cx="5166360" cy="265176"/>
          </a:xfrm>
          <a:prstGeom prst="rect">
            <a:avLst/>
          </a:prstGeom>
          <a:noFill/>
        </p:spPr>
        <p:txBody>
          <a:bodyPr wrap="square" lIns="0" rIns="0" tIns="0" bIns="0">
            <a:spAutoFit/>
          </a:bodyPr>
          <a:lstStyle/>
          <a:p>
            <a:pPr algn="l">
              <a:lnSpc>
                <a:spcPct val="112000"/>
              </a:lnSpc>
              <a:spcAft>
                <a:spcPts val="500"/>
              </a:spcAft>
              <a:defRPr sz="1200" b="1">
                <a:solidFill>
                  <a:srgbClr val="0F172A"/>
                </a:solidFill>
                <a:latin typeface="DejaVu Sans"/>
              </a:defRPr>
            </a:pPr>
            <a:r>
              <a:rPr lang="de-DE"/>
              <a:t>AKUF Universität Hamburg: Typologie</a:t>
            </a:r>
          </a:p>
        </p:txBody>
      </p:sp>
      <p:sp>
        <p:nvSpPr>
          <p:cNvPr id="18" name="TextBox 17"/>
          <p:cNvSpPr txBox="1"/>
          <p:nvPr/>
        </p:nvSpPr>
        <p:spPr>
          <a:xfrm>
            <a:off x="6263640" y="2221992"/>
            <a:ext cx="5166360" cy="438912"/>
          </a:xfrm>
          <a:prstGeom prst="rect">
            <a:avLst/>
          </a:prstGeom>
          <a:noFill/>
        </p:spPr>
        <p:txBody>
          <a:bodyPr wrap="square" lIns="0" rIns="0" tIns="0" bIns="0">
            <a:spAutoFit/>
          </a:bodyPr>
          <a:lstStyle/>
          <a:p>
            <a:pPr algn="l">
              <a:lnSpc>
                <a:spcPct val="112000"/>
              </a:lnSpc>
              <a:spcAft>
                <a:spcPts val="500"/>
              </a:spcAft>
              <a:defRPr sz="950" b="0">
                <a:solidFill>
                  <a:srgbClr val="475569"/>
                </a:solidFill>
                <a:latin typeface="DejaVu Sans"/>
              </a:defRPr>
            </a:pPr>
            <a:r>
              <a:rPr lang="de-DE">
                <a:hlinkClick r:id="rId7"/>
              </a:rPr>
              <a:t>https:/​/​www.wiso.uni-​hamburg.de/​fachbereich-​sowi/​ueber-​den-​fachbereich/​fachgebiete/​akuf/​kriegsdefinition.html</a:t>
            </a:r>
          </a:p>
        </p:txBody>
      </p:sp>
      <p:sp>
        <p:nvSpPr>
          <p:cNvPr id="19" name="TextBox 18"/>
          <p:cNvSpPr txBox="1"/>
          <p:nvPr/>
        </p:nvSpPr>
        <p:spPr>
          <a:xfrm>
            <a:off x="6263640" y="2724912"/>
            <a:ext cx="5166360" cy="265176"/>
          </a:xfrm>
          <a:prstGeom prst="rect">
            <a:avLst/>
          </a:prstGeom>
          <a:noFill/>
        </p:spPr>
        <p:txBody>
          <a:bodyPr wrap="square" lIns="0" rIns="0" tIns="0" bIns="0">
            <a:spAutoFit/>
          </a:bodyPr>
          <a:lstStyle/>
          <a:p>
            <a:pPr algn="l">
              <a:lnSpc>
                <a:spcPct val="112000"/>
              </a:lnSpc>
              <a:spcAft>
                <a:spcPts val="500"/>
              </a:spcAft>
              <a:defRPr sz="1200" b="1">
                <a:solidFill>
                  <a:srgbClr val="0F172A"/>
                </a:solidFill>
                <a:latin typeface="DejaVu Sans"/>
              </a:defRPr>
            </a:pPr>
            <a:r>
              <a:rPr lang="de-DE"/>
              <a:t>bpb: Der Gazastreifen im Nahostkonflikt</a:t>
            </a:r>
          </a:p>
        </p:txBody>
      </p:sp>
      <p:sp>
        <p:nvSpPr>
          <p:cNvPr id="20" name="TextBox 19"/>
          <p:cNvSpPr txBox="1"/>
          <p:nvPr/>
        </p:nvSpPr>
        <p:spPr>
          <a:xfrm>
            <a:off x="6263640" y="3026664"/>
            <a:ext cx="5166360" cy="438912"/>
          </a:xfrm>
          <a:prstGeom prst="rect">
            <a:avLst/>
          </a:prstGeom>
          <a:noFill/>
        </p:spPr>
        <p:txBody>
          <a:bodyPr wrap="square" lIns="0" rIns="0" tIns="0" bIns="0">
            <a:spAutoFit/>
          </a:bodyPr>
          <a:lstStyle/>
          <a:p>
            <a:pPr algn="l">
              <a:lnSpc>
                <a:spcPct val="112000"/>
              </a:lnSpc>
              <a:spcAft>
                <a:spcPts val="500"/>
              </a:spcAft>
              <a:defRPr sz="950" b="0">
                <a:solidFill>
                  <a:srgbClr val="475569"/>
                </a:solidFill>
                <a:latin typeface="DejaVu Sans"/>
              </a:defRPr>
            </a:pPr>
            <a:r>
              <a:rPr lang="de-DE">
                <a:hlinkClick r:id="rId8"/>
              </a:rPr>
              <a:t>https:/​/​www.bpb.de/​shop/​zeitschriften/​apuz/​naher-​osten-​2024/​546377/​der-​gazastreifen-​im-​nahostkonflikt/​</a:t>
            </a:r>
          </a:p>
        </p:txBody>
      </p:sp>
      <p:sp>
        <p:nvSpPr>
          <p:cNvPr id="21" name="TextBox 20"/>
          <p:cNvSpPr txBox="1"/>
          <p:nvPr/>
        </p:nvSpPr>
        <p:spPr>
          <a:xfrm>
            <a:off x="6263640" y="3529584"/>
            <a:ext cx="5166360" cy="265176"/>
          </a:xfrm>
          <a:prstGeom prst="rect">
            <a:avLst/>
          </a:prstGeom>
          <a:noFill/>
        </p:spPr>
        <p:txBody>
          <a:bodyPr wrap="square" lIns="0" rIns="0" tIns="0" bIns="0">
            <a:spAutoFit/>
          </a:bodyPr>
          <a:lstStyle/>
          <a:p>
            <a:pPr algn="l">
              <a:lnSpc>
                <a:spcPct val="112000"/>
              </a:lnSpc>
              <a:spcAft>
                <a:spcPts val="500"/>
              </a:spcAft>
              <a:defRPr sz="1200" b="1">
                <a:solidFill>
                  <a:srgbClr val="0F172A"/>
                </a:solidFill>
                <a:latin typeface="DejaVu Sans"/>
              </a:defRPr>
            </a:pPr>
            <a:r>
              <a:rPr lang="de-DE"/>
              <a:t>SWP: Krieg in Nahost</a:t>
            </a:r>
          </a:p>
        </p:txBody>
      </p:sp>
      <p:sp>
        <p:nvSpPr>
          <p:cNvPr id="22" name="TextBox 21"/>
          <p:cNvSpPr txBox="1"/>
          <p:nvPr/>
        </p:nvSpPr>
        <p:spPr>
          <a:xfrm>
            <a:off x="6263640" y="3831336"/>
            <a:ext cx="5166360" cy="438912"/>
          </a:xfrm>
          <a:prstGeom prst="rect">
            <a:avLst/>
          </a:prstGeom>
          <a:noFill/>
        </p:spPr>
        <p:txBody>
          <a:bodyPr wrap="square" lIns="0" rIns="0" tIns="0" bIns="0">
            <a:spAutoFit/>
          </a:bodyPr>
          <a:lstStyle/>
          <a:p>
            <a:pPr algn="l">
              <a:lnSpc>
                <a:spcPct val="112000"/>
              </a:lnSpc>
              <a:spcAft>
                <a:spcPts val="500"/>
              </a:spcAft>
              <a:defRPr sz="950" b="0">
                <a:solidFill>
                  <a:srgbClr val="475569"/>
                </a:solidFill>
                <a:latin typeface="DejaVu Sans"/>
              </a:defRPr>
            </a:pPr>
            <a:r>
              <a:rPr lang="de-DE">
                <a:hlinkClick r:id="rId9"/>
              </a:rPr>
              <a:t>https:/​/​www.swp-​berlin.org/​fokusthema/​krieg-​in-​nahost</a:t>
            </a:r>
          </a:p>
        </p:txBody>
      </p:sp>
      <p:sp>
        <p:nvSpPr>
          <p:cNvPr id="23" name="TextBox 22"/>
          <p:cNvSpPr txBox="1"/>
          <p:nvPr/>
        </p:nvSpPr>
        <p:spPr>
          <a:xfrm>
            <a:off x="6263640" y="4334256"/>
            <a:ext cx="5166360" cy="265176"/>
          </a:xfrm>
          <a:prstGeom prst="rect">
            <a:avLst/>
          </a:prstGeom>
          <a:noFill/>
        </p:spPr>
        <p:txBody>
          <a:bodyPr wrap="square" lIns="0" rIns="0" tIns="0" bIns="0">
            <a:spAutoFit/>
          </a:bodyPr>
          <a:lstStyle/>
          <a:p>
            <a:pPr algn="l">
              <a:lnSpc>
                <a:spcPct val="112000"/>
              </a:lnSpc>
              <a:spcAft>
                <a:spcPts val="500"/>
              </a:spcAft>
              <a:defRPr sz="1200" b="1">
                <a:solidFill>
                  <a:srgbClr val="0F172A"/>
                </a:solidFill>
                <a:latin typeface="DejaVu Sans"/>
              </a:defRPr>
            </a:pPr>
            <a:r>
              <a:rPr lang="de-DE"/>
              <a:t>OCHA: Karte, Juli 2024</a:t>
            </a:r>
          </a:p>
        </p:txBody>
      </p:sp>
      <p:sp>
        <p:nvSpPr>
          <p:cNvPr id="24" name="TextBox 23"/>
          <p:cNvSpPr txBox="1"/>
          <p:nvPr/>
        </p:nvSpPr>
        <p:spPr>
          <a:xfrm>
            <a:off x="6263640" y="4636008"/>
            <a:ext cx="5166360" cy="438912"/>
          </a:xfrm>
          <a:prstGeom prst="rect">
            <a:avLst/>
          </a:prstGeom>
          <a:noFill/>
        </p:spPr>
        <p:txBody>
          <a:bodyPr wrap="square" lIns="0" rIns="0" tIns="0" bIns="0">
            <a:spAutoFit/>
          </a:bodyPr>
          <a:lstStyle/>
          <a:p>
            <a:pPr algn="l">
              <a:lnSpc>
                <a:spcPct val="112000"/>
              </a:lnSpc>
              <a:spcAft>
                <a:spcPts val="500"/>
              </a:spcAft>
              <a:defRPr sz="950" b="0">
                <a:solidFill>
                  <a:srgbClr val="475569"/>
                </a:solidFill>
                <a:latin typeface="DejaVu Sans"/>
              </a:defRPr>
            </a:pPr>
            <a:r>
              <a:rPr lang="de-DE">
                <a:hlinkClick r:id="rId10"/>
              </a:rPr>
              <a:t>https:/​/​www.ochaopt.org/​content/​gaza-​strip-​access-​and-​movement-​july-​2024</a:t>
            </a:r>
          </a:p>
        </p:txBody>
      </p:sp>
      <p:sp>
        <p:nvSpPr>
          <p:cNvPr id="25" name="TextBox 24"/>
          <p:cNvSpPr txBox="1"/>
          <p:nvPr/>
        </p:nvSpPr>
        <p:spPr>
          <a:xfrm>
            <a:off x="6263640" y="5138928"/>
            <a:ext cx="5166360" cy="265176"/>
          </a:xfrm>
          <a:prstGeom prst="rect">
            <a:avLst/>
          </a:prstGeom>
          <a:noFill/>
        </p:spPr>
        <p:txBody>
          <a:bodyPr wrap="square" lIns="0" rIns="0" tIns="0" bIns="0">
            <a:spAutoFit/>
          </a:bodyPr>
          <a:lstStyle/>
          <a:p>
            <a:pPr algn="l">
              <a:lnSpc>
                <a:spcPct val="112000"/>
              </a:lnSpc>
              <a:spcAft>
                <a:spcPts val="500"/>
              </a:spcAft>
              <a:defRPr sz="1200" b="1">
                <a:solidFill>
                  <a:srgbClr val="0F172A"/>
                </a:solidFill>
                <a:latin typeface="DejaVu Sans"/>
              </a:defRPr>
            </a:pPr>
            <a:r>
              <a:rPr lang="de-DE"/>
              <a:t>bpb: Frieden und Senghaas</a:t>
            </a:r>
          </a:p>
        </p:txBody>
      </p:sp>
      <p:sp>
        <p:nvSpPr>
          <p:cNvPr id="26" name="TextBox 25"/>
          <p:cNvSpPr txBox="1"/>
          <p:nvPr/>
        </p:nvSpPr>
        <p:spPr>
          <a:xfrm>
            <a:off x="6263640" y="5440680"/>
            <a:ext cx="5166360" cy="438912"/>
          </a:xfrm>
          <a:prstGeom prst="rect">
            <a:avLst/>
          </a:prstGeom>
          <a:noFill/>
        </p:spPr>
        <p:txBody>
          <a:bodyPr wrap="square" lIns="0" rIns="0" tIns="0" bIns="0">
            <a:spAutoFit/>
          </a:bodyPr>
          <a:lstStyle/>
          <a:p>
            <a:pPr algn="l">
              <a:lnSpc>
                <a:spcPct val="112000"/>
              </a:lnSpc>
              <a:spcAft>
                <a:spcPts val="500"/>
              </a:spcAft>
              <a:defRPr sz="950" b="0">
                <a:solidFill>
                  <a:srgbClr val="475569"/>
                </a:solidFill>
                <a:latin typeface="DejaVu Sans"/>
              </a:defRPr>
            </a:pPr>
            <a:r>
              <a:rPr lang="de-DE">
                <a:hlinkClick r:id="rId11"/>
              </a:rPr>
              <a:t>https:/​/​www.bpb.de/​lernen/​politische-​bildung/​193093/​frieden/​?p=0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Konfliktanalyse: Der Krieg im Gazastreifen (AKUF-Schema)</dc:title>
  <dc:subject>Politik, Klasse 10: Konfliktforschung, UN-Sicherheitsrat und Friedensmodelle</dc:subject>
  <dc:creator>[Name 1], [Name 2], [Name 3]</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de-DE</dc:language>
</cp:coreProperties>
</file>